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97280"/>
            <a:ext cx="10332720" cy="4572000"/>
          </a:xfrm>
          <a:prstGeom prst="rect">
            <a:avLst/>
          </a:prstGeom>
          <a:noFill/>
        </p:spPr>
        <p:txBody>
          <a:bodyPr wrap="square">
            <a:spAutoFit/>
          </a:bodyPr>
          <a:lstStyle/>
          <a:p>
            <a:pPr>
              <a:spcAft>
                <a:spcPts val="2000"/>
              </a:spcAft>
              <a:defRPr sz="1400" b="1">
                <a:solidFill>
                  <a:srgbClr val="1E56A0"/>
                </a:solidFill>
              </a:defRPr>
            </a:pPr>
            <a:r>
              <a:t>UNIVERSIDAD DE GUADALAJARA</a:t>
            </a:r>
            <a:br/>
            <a:r>
              <a:t>CENTRO UNIVERSITARIO DE TONALÁ (CUTONALÁ)</a:t>
            </a:r>
          </a:p>
          <a:p>
            <a:pPr>
              <a:spcAft>
                <a:spcPts val="800"/>
              </a:spcAft>
              <a:defRPr sz="3200" b="1">
                <a:solidFill>
                  <a:srgbClr val="182B49"/>
                </a:solidFill>
              </a:defRPr>
            </a:pPr>
            <a:r>
              <a:t>Formulación de Objetivos en Proyectos de Inversión e Investigación</a:t>
            </a:r>
          </a:p>
          <a:p>
            <a:pPr>
              <a:spcAft>
                <a:spcPts val="3500"/>
              </a:spcAft>
              <a:defRPr sz="1800">
                <a:solidFill>
                  <a:srgbClr val="5A5A5A"/>
                </a:solidFill>
              </a:defRPr>
            </a:pPr>
            <a:r>
              <a:t>Criterios metodológicos, taxonomía y casos prácticos de formulación general y específica</a:t>
            </a:r>
          </a:p>
          <a:p>
            <a:pPr>
              <a:defRPr sz="1400">
                <a:solidFill>
                  <a:srgbClr val="282828"/>
                </a:solidFill>
              </a:defRPr>
            </a:pPr>
            <a:r>
              <a:t>Integrantes del Equipo 4:</a:t>
            </a:r>
            <a:br/>
            <a:r>
              <a:t>• Barragán Padilla Carlos Emiliano</a:t>
            </a:r>
            <a:br/>
            <a:r>
              <a:t>• Fierro Meléndez Ernesto Hatuey</a:t>
            </a:r>
            <a:br/>
            <a:r>
              <a:t>• Padilla Casillas Josue Wenceslao</a:t>
            </a:r>
            <a:br/>
            <a:br/>
            <a:r>
              <a:t>Materia: Formulación y Evaluación de Proyectos de Inversión</a:t>
            </a:r>
            <a:br/>
            <a:r>
              <a:t>Fecha de Exposición: 02 de octubre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¿Qué son los Objetivos Generales?</a:t>
            </a:r>
          </a:p>
        </p:txBody>
      </p:sp>
      <p:sp>
        <p:nvSpPr>
          <p:cNvPr id="3" name="TextBox 2"/>
          <p:cNvSpPr txBox="1"/>
          <p:nvPr/>
        </p:nvSpPr>
        <p:spPr>
          <a:xfrm>
            <a:off x="731520" y="1645920"/>
            <a:ext cx="10698480" cy="4754880"/>
          </a:xfrm>
          <a:prstGeom prst="rect">
            <a:avLst/>
          </a:prstGeom>
          <a:noFill/>
        </p:spPr>
        <p:txBody>
          <a:bodyPr wrap="square" lIns="0" tIns="0" rIns="0" bIns="0">
            <a:spAutoFit/>
          </a:bodyPr>
          <a:lstStyle/>
          <a:p>
            <a:pPr>
              <a:defRPr sz="1800" b="1">
                <a:solidFill>
                  <a:srgbClr val="1E56A0"/>
                </a:solidFill>
              </a:defRPr>
            </a:pPr>
            <a:r>
              <a:t>Definición Conceptual</a:t>
            </a:r>
          </a:p>
          <a:p>
            <a:pPr>
              <a:spcBef>
                <a:spcPts val="500"/>
              </a:spcBef>
              <a:defRPr sz="1500">
                <a:solidFill>
                  <a:srgbClr val="282828"/>
                </a:solidFill>
              </a:defRPr>
            </a:pPr>
            <a:r>
              <a:t>• Es el enunciado propositivo que establece el propósito primordial, global y de mayor alcance que pretende alcanzar un proyecto o investigación.</a:t>
            </a:r>
          </a:p>
          <a:p>
            <a:pPr>
              <a:spcBef>
                <a:spcPts val="500"/>
              </a:spcBef>
              <a:defRPr sz="1500">
                <a:solidFill>
                  <a:srgbClr val="282828"/>
                </a:solidFill>
              </a:defRPr>
            </a:pPr>
            <a:r>
              <a:t>• Representa la meta final de la propuesta: si el objetivo general se cumple cabalmente, el problema central identificado queda resuelto.</a:t>
            </a:r>
          </a:p>
          <a:p>
            <a:pPr>
              <a:spcBef>
                <a:spcPts val="1400"/>
              </a:spcBef>
              <a:defRPr sz="1800" b="1">
                <a:solidFill>
                  <a:srgbClr val="1E56A0"/>
                </a:solidFill>
              </a:defRPr>
            </a:pPr>
            <a:r>
              <a:t>Puntos Clave y Metodología</a:t>
            </a:r>
          </a:p>
          <a:p>
            <a:pPr>
              <a:spcBef>
                <a:spcPts val="500"/>
              </a:spcBef>
              <a:defRPr sz="1500">
                <a:solidFill>
                  <a:srgbClr val="282828"/>
                </a:solidFill>
              </a:defRPr>
            </a:pPr>
            <a:r>
              <a:t>• Responde directamente a tres interrogantes guía: ¿Qué se va a hacer?, ¿Para qué se va a hacer? y ¿En qué contexto o delimitación temporal/espacial?</a:t>
            </a:r>
          </a:p>
          <a:p>
            <a:pPr>
              <a:spcBef>
                <a:spcPts val="500"/>
              </a:spcBef>
              <a:defRPr sz="1500">
                <a:solidFill>
                  <a:srgbClr val="282828"/>
                </a:solidFill>
              </a:defRPr>
            </a:pPr>
            <a:r>
              <a:t>• Es único o central dentro del proyecto para evitar la dispersión de esfuerzos y recursos.</a:t>
            </a:r>
          </a:p>
          <a:p>
            <a:pPr>
              <a:spcBef>
                <a:spcPts val="500"/>
              </a:spcBef>
              <a:defRPr sz="1500">
                <a:solidFill>
                  <a:srgbClr val="282828"/>
                </a:solidFill>
              </a:defRPr>
            </a:pPr>
            <a:r>
              <a:t>• Se redacta obligatoriamente iniciando con un verbo en infinitivo de alto nivel taxonómico (ej. Desarrollar, Implementar, Evaluar, Diseñar).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¿Qué son los Objetivos Específicos?</a:t>
            </a:r>
          </a:p>
        </p:txBody>
      </p:sp>
      <p:sp>
        <p:nvSpPr>
          <p:cNvPr id="3" name="TextBox 2"/>
          <p:cNvSpPr txBox="1"/>
          <p:nvPr/>
        </p:nvSpPr>
        <p:spPr>
          <a:xfrm>
            <a:off x="731520" y="1645920"/>
            <a:ext cx="10698480" cy="4754880"/>
          </a:xfrm>
          <a:prstGeom prst="rect">
            <a:avLst/>
          </a:prstGeom>
          <a:noFill/>
        </p:spPr>
        <p:txBody>
          <a:bodyPr wrap="square" lIns="0" tIns="0" rIns="0" bIns="0">
            <a:spAutoFit/>
          </a:bodyPr>
          <a:lstStyle/>
          <a:p>
            <a:pPr>
              <a:defRPr sz="1800" b="1">
                <a:solidFill>
                  <a:srgbClr val="1E56A0"/>
                </a:solidFill>
              </a:defRPr>
            </a:pPr>
            <a:r>
              <a:t>Definición y Alcance Operativo</a:t>
            </a:r>
          </a:p>
          <a:p>
            <a:pPr>
              <a:spcBef>
                <a:spcPts val="500"/>
              </a:spcBef>
              <a:defRPr sz="1500">
                <a:solidFill>
                  <a:srgbClr val="282828"/>
                </a:solidFill>
              </a:defRPr>
            </a:pPr>
            <a:r>
              <a:t>• Son las metas intermedias, desagregadas y secuenciales necesarias para lograr de forma estructurada el cumplimiento del objetivo general.</a:t>
            </a:r>
          </a:p>
          <a:p>
            <a:pPr>
              <a:spcBef>
                <a:spcPts val="500"/>
              </a:spcBef>
              <a:defRPr sz="1500">
                <a:solidFill>
                  <a:srgbClr val="282828"/>
                </a:solidFill>
              </a:defRPr>
            </a:pPr>
            <a:r>
              <a:t>• Descomponen la complejidad del proyecto en etapas concretas, medibles y verificables.</a:t>
            </a:r>
          </a:p>
          <a:p>
            <a:pPr>
              <a:spcBef>
                <a:spcPts val="1400"/>
              </a:spcBef>
              <a:defRPr sz="1800" b="1">
                <a:solidFill>
                  <a:srgbClr val="1E56A0"/>
                </a:solidFill>
              </a:defRPr>
            </a:pPr>
            <a:r>
              <a:t>Características Metodológicas</a:t>
            </a:r>
          </a:p>
          <a:p>
            <a:pPr>
              <a:spcBef>
                <a:spcPts val="500"/>
              </a:spcBef>
              <a:defRPr sz="1500">
                <a:solidFill>
                  <a:srgbClr val="282828"/>
                </a:solidFill>
              </a:defRPr>
            </a:pPr>
            <a:r>
              <a:t>• Responden a la pregunta: ¿Cómo y a través de qué pasos ordenados se alcanzará la meta global?</a:t>
            </a:r>
          </a:p>
          <a:p>
            <a:pPr>
              <a:spcBef>
                <a:spcPts val="500"/>
              </a:spcBef>
              <a:defRPr sz="1500">
                <a:solidFill>
                  <a:srgbClr val="282828"/>
                </a:solidFill>
              </a:defRPr>
            </a:pPr>
            <a:r>
              <a:t>• Delimitan los alcances parciales en fases típicas: diagnóstico inicial, diseño o construcción de la solución, y validación o evaluación de impacto.</a:t>
            </a:r>
          </a:p>
          <a:p>
            <a:pPr>
              <a:spcBef>
                <a:spcPts val="500"/>
              </a:spcBef>
              <a:defRPr sz="1500">
                <a:solidFill>
                  <a:srgbClr val="282828"/>
                </a:solidFill>
              </a:defRPr>
            </a:pPr>
            <a:r>
              <a:t>• Emplean verbos en infinitivo de corte operativo y ejecutable (ej. Diagnosticar, Analizar, Clasificar, Determinar, Validar).</a:t>
            </a:r>
          </a:p>
          <a:p>
            <a:pPr>
              <a:spcBef>
                <a:spcPts val="500"/>
              </a:spcBef>
              <a:defRPr sz="1500">
                <a:solidFill>
                  <a:srgbClr val="282828"/>
                </a:solidFill>
              </a:defRPr>
            </a:pPr>
            <a:r>
              <a:t>• Mantienen un estricto orden lógico y cronológico entre sí.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¿Cuál es el Criterio para Formular los Objetivos?</a:t>
            </a:r>
          </a:p>
        </p:txBody>
      </p:sp>
      <p:sp>
        <p:nvSpPr>
          <p:cNvPr id="3" name="TextBox 2"/>
          <p:cNvSpPr txBox="1"/>
          <p:nvPr/>
        </p:nvSpPr>
        <p:spPr>
          <a:xfrm>
            <a:off x="731520" y="1645920"/>
            <a:ext cx="10698480" cy="4754880"/>
          </a:xfrm>
          <a:prstGeom prst="rect">
            <a:avLst/>
          </a:prstGeom>
          <a:noFill/>
        </p:spPr>
        <p:txBody>
          <a:bodyPr wrap="square" lIns="0" tIns="0" rIns="0" bIns="0">
            <a:spAutoFit/>
          </a:bodyPr>
          <a:lstStyle/>
          <a:p>
            <a:pPr>
              <a:defRPr sz="1800" b="1">
                <a:solidFill>
                  <a:srgbClr val="1E56A0"/>
                </a:solidFill>
              </a:defRPr>
            </a:pPr>
            <a:r>
              <a:t>1. Verbo en Infinitivo y Taxonomía de Bloom</a:t>
            </a:r>
          </a:p>
          <a:p>
            <a:pPr>
              <a:spcBef>
                <a:spcPts val="500"/>
              </a:spcBef>
              <a:defRPr sz="1500">
                <a:solidFill>
                  <a:srgbClr val="282828"/>
                </a:solidFill>
              </a:defRPr>
            </a:pPr>
            <a:r>
              <a:t>• Todo objetivo debe iniciar con una acción observable y evaluable (-ar, -er, -ir). Deben evitarse términos subjetivos o ambiguos como 'saber', 'aprender' o 'conocer'.</a:t>
            </a:r>
          </a:p>
          <a:p>
            <a:pPr>
              <a:spcBef>
                <a:spcPts val="1400"/>
              </a:spcBef>
              <a:defRPr sz="1800" b="1">
                <a:solidFill>
                  <a:srgbClr val="1E56A0"/>
                </a:solidFill>
              </a:defRPr>
            </a:pPr>
            <a:r>
              <a:t>2. El Criterio SMART</a:t>
            </a:r>
          </a:p>
          <a:p>
            <a:pPr>
              <a:spcBef>
                <a:spcPts val="500"/>
              </a:spcBef>
              <a:defRPr sz="1500">
                <a:solidFill>
                  <a:srgbClr val="282828"/>
                </a:solidFill>
              </a:defRPr>
            </a:pPr>
            <a:r>
              <a:t>• Specific (Específico): Delimitación clara y precisa sin ambigüedades respecto al entregable o meta.</a:t>
            </a:r>
          </a:p>
          <a:p>
            <a:pPr>
              <a:spcBef>
                <a:spcPts val="500"/>
              </a:spcBef>
              <a:defRPr sz="1500">
                <a:solidFill>
                  <a:srgbClr val="282828"/>
                </a:solidFill>
              </a:defRPr>
            </a:pPr>
            <a:r>
              <a:t>• Measurable (Medible): Capacidad de asociarse a indicadores de avance, éxito o métricas cuantitativas/cualitativas.</a:t>
            </a:r>
          </a:p>
          <a:p>
            <a:pPr>
              <a:spcBef>
                <a:spcPts val="500"/>
              </a:spcBef>
              <a:defRPr sz="1500">
                <a:solidFill>
                  <a:srgbClr val="282828"/>
                </a:solidFill>
              </a:defRPr>
            </a:pPr>
            <a:r>
              <a:t>• Achievable (Alcanzable): Realista en función de los recursos técnicos, financieros, temporales y humanos disponibles.</a:t>
            </a:r>
          </a:p>
          <a:p>
            <a:pPr>
              <a:spcBef>
                <a:spcPts val="500"/>
              </a:spcBef>
              <a:defRPr sz="1500">
                <a:solidFill>
                  <a:srgbClr val="282828"/>
                </a:solidFill>
              </a:defRPr>
            </a:pPr>
            <a:r>
              <a:t>• Relevant (Relevante): Congruente con la solución directa del problema central del proyecto.</a:t>
            </a:r>
          </a:p>
          <a:p>
            <a:pPr>
              <a:spcBef>
                <a:spcPts val="500"/>
              </a:spcBef>
              <a:defRPr sz="1500">
                <a:solidFill>
                  <a:srgbClr val="282828"/>
                </a:solidFill>
              </a:defRPr>
            </a:pPr>
            <a:r>
              <a:t>• Time-bound (Temporal): Acotado dentro de un marco temporal o cronograma de ejecución determinado.</a:t>
            </a:r>
          </a:p>
          <a:p>
            <a:pPr>
              <a:spcBef>
                <a:spcPts val="1400"/>
              </a:spcBef>
              <a:defRPr sz="1800" b="1">
                <a:solidFill>
                  <a:srgbClr val="1E56A0"/>
                </a:solidFill>
              </a:defRPr>
            </a:pPr>
            <a:r>
              <a:t>3. Coherencia y Jerarquía Metodológica</a:t>
            </a:r>
          </a:p>
          <a:p>
            <a:pPr>
              <a:spcBef>
                <a:spcPts val="500"/>
              </a:spcBef>
              <a:defRPr sz="1500">
                <a:solidFill>
                  <a:srgbClr val="282828"/>
                </a:solidFill>
              </a:defRPr>
            </a:pPr>
            <a:r>
              <a:t>• Subordinación: La consecución de todos los objetivos específicos debe ser necesaria y suficiente para satisfacer el objetivo 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Pasos para Formular los Objetivos Generales y Específicos</a:t>
            </a:r>
          </a:p>
        </p:txBody>
      </p:sp>
      <p:sp>
        <p:nvSpPr>
          <p:cNvPr id="3" name="TextBox 2"/>
          <p:cNvSpPr txBox="1"/>
          <p:nvPr/>
        </p:nvSpPr>
        <p:spPr>
          <a:xfrm>
            <a:off x="731520" y="1645920"/>
            <a:ext cx="10698480" cy="4754880"/>
          </a:xfrm>
          <a:prstGeom prst="rect">
            <a:avLst/>
          </a:prstGeom>
          <a:noFill/>
        </p:spPr>
        <p:txBody>
          <a:bodyPr wrap="square" lIns="0" tIns="0" rIns="0" bIns="0">
            <a:spAutoFit/>
          </a:bodyPr>
          <a:lstStyle/>
          <a:p>
            <a:pPr>
              <a:defRPr sz="1800" b="1">
                <a:solidFill>
                  <a:srgbClr val="1E56A0"/>
                </a:solidFill>
              </a:defRPr>
            </a:pPr>
            <a:r>
              <a:t>Fase de Estructuración y Redacción Paso a Paso</a:t>
            </a:r>
          </a:p>
          <a:p>
            <a:pPr>
              <a:spcBef>
                <a:spcPts val="500"/>
              </a:spcBef>
              <a:defRPr sz="1500">
                <a:solidFill>
                  <a:srgbClr val="282828"/>
                </a:solidFill>
              </a:defRPr>
            </a:pPr>
            <a:r>
              <a:t>• Paso 1: Delimitar el problema central y la población objetivo: Realizar el diagnóstico de la necesidad no satisfecha o brecha a resolver mediante árbol de problemas.</a:t>
            </a:r>
          </a:p>
          <a:p>
            <a:pPr>
              <a:spcBef>
                <a:spcPts val="500"/>
              </a:spcBef>
              <a:defRPr sz="1500">
                <a:solidFill>
                  <a:srgbClr val="282828"/>
                </a:solidFill>
              </a:defRPr>
            </a:pPr>
            <a:r>
              <a:t>• Paso 2: Transformar el problema en positivo (Objetivo General): Convertir la problemática central en una meta afirmativa aplicando la fórmula [Verbo infinitivo] + [Objeto/Solución] + [Finalidad/Para qué] + [Contexto/Delimitación].</a:t>
            </a:r>
          </a:p>
          <a:p>
            <a:pPr>
              <a:spcBef>
                <a:spcPts val="500"/>
              </a:spcBef>
              <a:defRPr sz="1500">
                <a:solidFill>
                  <a:srgbClr val="282828"/>
                </a:solidFill>
              </a:defRPr>
            </a:pPr>
            <a:r>
              <a:t>• Paso 3: Identificar las etapas indispensables del proyecto: Desglosar el ciclo en diagnóstico de requerimientos, diseño/construcción técnica y validación/evaluación.</a:t>
            </a:r>
          </a:p>
          <a:p>
            <a:pPr>
              <a:spcBef>
                <a:spcPts val="500"/>
              </a:spcBef>
              <a:defRPr sz="1500">
                <a:solidFill>
                  <a:srgbClr val="282828"/>
                </a:solidFill>
              </a:defRPr>
            </a:pPr>
            <a:r>
              <a:t>• Paso 4: Redactar los Objetivos Específicos por etapa: Formular enunciados operativos con verbos jerárquicamente subordinados al objetivo general.</a:t>
            </a:r>
          </a:p>
          <a:p>
            <a:pPr>
              <a:spcBef>
                <a:spcPts val="500"/>
              </a:spcBef>
              <a:defRPr sz="1500">
                <a:solidFill>
                  <a:srgbClr val="282828"/>
                </a:solidFill>
              </a:defRPr>
            </a:pPr>
            <a:r>
              <a:t>• Paso 5: Validación metodológica de no duplicidad y mensurabilidad: Asegurar que no se confundan actividades operativas simples (ej. 'hacer encuestas') con verdaderos objetivos de proyecto (ej. 'determinar la demanda potencial').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Ejemplo de Formulación: Caso Práctico Proyecto SIGRE (CUTonalá)</a:t>
            </a:r>
          </a:p>
        </p:txBody>
      </p:sp>
      <p:sp>
        <p:nvSpPr>
          <p:cNvPr id="3" name="TextBox 2"/>
          <p:cNvSpPr txBox="1"/>
          <p:nvPr/>
        </p:nvSpPr>
        <p:spPr>
          <a:xfrm>
            <a:off x="731520" y="1645920"/>
            <a:ext cx="10698480" cy="4754880"/>
          </a:xfrm>
          <a:prstGeom prst="rect">
            <a:avLst/>
          </a:prstGeom>
          <a:noFill/>
        </p:spPr>
        <p:txBody>
          <a:bodyPr wrap="square" lIns="0" tIns="0" rIns="0" bIns="0">
            <a:spAutoFit/>
          </a:bodyPr>
          <a:lstStyle/>
          <a:p>
            <a:pPr>
              <a:defRPr sz="1800" b="1">
                <a:solidFill>
                  <a:srgbClr val="1E56A0"/>
                </a:solidFill>
              </a:defRPr>
            </a:pPr>
            <a:r>
              <a:t>Contexto y Problemática</a:t>
            </a:r>
          </a:p>
          <a:p>
            <a:pPr>
              <a:spcBef>
                <a:spcPts val="500"/>
              </a:spcBef>
              <a:defRPr sz="1500">
                <a:solidFill>
                  <a:srgbClr val="282828"/>
                </a:solidFill>
              </a:defRPr>
            </a:pPr>
            <a:r>
              <a:t>• Falta de trazabilidad, pérdida de tiempo y descontrol administrativo en la asignación de espacios físicos y préstamo de equipo/material en el campus universitario.</a:t>
            </a:r>
          </a:p>
          <a:p>
            <a:pPr>
              <a:spcBef>
                <a:spcPts val="1400"/>
              </a:spcBef>
              <a:defRPr sz="1800" b="1">
                <a:solidFill>
                  <a:srgbClr val="1E56A0"/>
                </a:solidFill>
              </a:defRPr>
            </a:pPr>
            <a:r>
              <a:t>Objetivo General Formulado</a:t>
            </a:r>
          </a:p>
          <a:p>
            <a:pPr>
              <a:spcBef>
                <a:spcPts val="500"/>
              </a:spcBef>
              <a:defRPr sz="1500">
                <a:solidFill>
                  <a:srgbClr val="282828"/>
                </a:solidFill>
              </a:defRPr>
            </a:pPr>
            <a:r>
              <a:t>• "Desarrollar e implementar un sistema web centralizado (SIGRE) para la gestión y reserva transparente de recursos, equipos y espacios físicos, con el fin de optimizar el aprovechamiento patrimonial y reducir los tiempos de respuesta en la comunidad universitaria de CUTonalá durante el ciclo 2026."</a:t>
            </a:r>
          </a:p>
          <a:p>
            <a:pPr>
              <a:spcBef>
                <a:spcPts val="1400"/>
              </a:spcBef>
              <a:defRPr sz="1800" b="1">
                <a:solidFill>
                  <a:srgbClr val="1E56A0"/>
                </a:solidFill>
              </a:defRPr>
            </a:pPr>
            <a:r>
              <a:t>Objetivos Específicos Secuenciales</a:t>
            </a:r>
          </a:p>
          <a:p>
            <a:pPr>
              <a:spcBef>
                <a:spcPts val="500"/>
              </a:spcBef>
              <a:defRPr sz="1500">
                <a:solidFill>
                  <a:srgbClr val="282828"/>
                </a:solidFill>
              </a:defRPr>
            </a:pPr>
            <a:r>
              <a:t>• 1. Diagnosticar el flujo actual y los cuellos de botella en la entrega y recepción de materiales y espacios dentro de las áreas operativas del campus.</a:t>
            </a:r>
          </a:p>
          <a:p>
            <a:pPr>
              <a:spcBef>
                <a:spcPts val="500"/>
              </a:spcBef>
              <a:defRPr sz="1500">
                <a:solidFill>
                  <a:srgbClr val="282828"/>
                </a:solidFill>
              </a:defRPr>
            </a:pPr>
            <a:r>
              <a:t>• 2. Diseñar una arquitectura modular con autenticación institucional y módulo de checklist digital con responsivas y firmas electrónicas.</a:t>
            </a:r>
          </a:p>
          <a:p>
            <a:pPr>
              <a:spcBef>
                <a:spcPts val="500"/>
              </a:spcBef>
              <a:defRPr sz="1500">
                <a:solidFill>
                  <a:srgbClr val="282828"/>
                </a:solidFill>
              </a:defRPr>
            </a:pPr>
            <a:r>
              <a:t>• 3. Construir los módulos funcionales de reserva flexible, gestión de eventos con código QR dinámico y expediente formal de seguimiento a incidencias.</a:t>
            </a:r>
          </a:p>
          <a:p>
            <a:pPr>
              <a:spcBef>
                <a:spcPts val="500"/>
              </a:spcBef>
              <a:defRPr sz="1500">
                <a:solidFill>
                  <a:srgbClr val="282828"/>
                </a:solidFill>
              </a:defRPr>
            </a:pPr>
            <a:r>
              <a:t>• 4. Evaluar la viabilidad operativa y el nivel de satisfacción mediante un piloto de pruebas con estudiantes y profesores del centro universitario.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Conclusiones Personales del Equipo</a:t>
            </a:r>
          </a:p>
        </p:txBody>
      </p:sp>
      <p:sp>
        <p:nvSpPr>
          <p:cNvPr id="3" name="TextBox 2"/>
          <p:cNvSpPr txBox="1"/>
          <p:nvPr/>
        </p:nvSpPr>
        <p:spPr>
          <a:xfrm>
            <a:off x="731520" y="1645920"/>
            <a:ext cx="3328416" cy="4754880"/>
          </a:xfrm>
          <a:prstGeom prst="rect">
            <a:avLst/>
          </a:prstGeom>
          <a:noFill/>
        </p:spPr>
        <p:txBody>
          <a:bodyPr wrap="square" lIns="0" tIns="0" rIns="0" bIns="0">
            <a:spAutoFit/>
          </a:bodyPr>
          <a:lstStyle/>
          <a:p>
            <a:pPr>
              <a:defRPr sz="1500" b="1">
                <a:solidFill>
                  <a:srgbClr val="1E56A0"/>
                </a:solidFill>
              </a:defRPr>
            </a:pPr>
            <a:r>
              <a:t>Carlos Emiliano Barragán Padilla</a:t>
            </a:r>
          </a:p>
          <a:p>
            <a:pPr>
              <a:spcAft>
                <a:spcPts val="800"/>
              </a:spcAft>
              <a:defRPr sz="1100" b="1">
                <a:solidFill>
                  <a:srgbClr val="5A5A5A"/>
                </a:solidFill>
              </a:defRPr>
            </a:pPr>
            <a:r>
              <a:t>Conclusión (116 palabras)</a:t>
            </a:r>
          </a:p>
          <a:p>
            <a:pPr>
              <a:spcBef>
                <a:spcPts val="400"/>
              </a:spcBef>
              <a:defRPr sz="1300">
                <a:solidFill>
                  <a:srgbClr val="282828"/>
                </a:solidFill>
              </a:defRPr>
            </a:pPr>
            <a:r>
              <a:t>La correcta definición de los objetivos es el pilar metodológico más determinante para cualquier proyecto de inversión. Durante esta investigación comprendí que un objetivo general mal estructurado o difuso genera desvíos presupuestales y operativos que pueden comprometer la viabilidad de la propuesta. Por su parte, los objetivos específicos funcionan como un mapa secuencial que permite desglosar un desafío complejo en metas cuantificables y alcanzables. Aplicar criterios formales como el estándar SMART evita la confusión habitual entre metas estratégicas y meras actividades cotidianas. En conclusión, dominar la formulación de objetivos no solo clarifica la ruta de trabajo del equipo, sino que establece los indicadores esenciales para medir objetivamente el éxito del proyecto.</a:t>
            </a:r>
          </a:p>
        </p:txBody>
      </p:sp>
      <p:sp>
        <p:nvSpPr>
          <p:cNvPr id="4" name="TextBox 3"/>
          <p:cNvSpPr txBox="1"/>
          <p:nvPr/>
        </p:nvSpPr>
        <p:spPr>
          <a:xfrm>
            <a:off x="4407408" y="1645920"/>
            <a:ext cx="3328416" cy="4754880"/>
          </a:xfrm>
          <a:prstGeom prst="rect">
            <a:avLst/>
          </a:prstGeom>
          <a:noFill/>
        </p:spPr>
        <p:txBody>
          <a:bodyPr wrap="square" lIns="0" tIns="0" rIns="0" bIns="0">
            <a:spAutoFit/>
          </a:bodyPr>
          <a:lstStyle/>
          <a:p>
            <a:pPr>
              <a:defRPr sz="1500" b="1">
                <a:solidFill>
                  <a:srgbClr val="1E56A0"/>
                </a:solidFill>
              </a:defRPr>
            </a:pPr>
            <a:r>
              <a:t>Ernesto Hatuey Fierro Meléndez</a:t>
            </a:r>
          </a:p>
          <a:p>
            <a:pPr>
              <a:spcAft>
                <a:spcPts val="800"/>
              </a:spcAft>
              <a:defRPr sz="1100" b="1">
                <a:solidFill>
                  <a:srgbClr val="5A5A5A"/>
                </a:solidFill>
              </a:defRPr>
            </a:pPr>
            <a:r>
              <a:t>Conclusión (124 palabras)</a:t>
            </a:r>
          </a:p>
          <a:p>
            <a:pPr>
              <a:spcBef>
                <a:spcPts val="400"/>
              </a:spcBef>
              <a:defRPr sz="1300">
                <a:solidFill>
                  <a:srgbClr val="282828"/>
                </a:solidFill>
              </a:defRPr>
            </a:pPr>
            <a:r>
              <a:t>En el desarrollo de soluciones tecnológicas y de inversión, formular objetivos precisos representa la frontera entre la improvisación y el éxito del proyecto. Esta actividad me permitió constatar que el objetivo general condensa la propuesta de valor y el impacto final esperado, mientras que los objetivos específicos marcan la pauta arquitectónica y operativa indispensable para llegar a dicha meta. Comprender la taxonomía adecuada y los criterios de mensurabilidad garantiza que cada recurso invertido responda a un requerimiento real y verificable. Para proyectos institucionales como SIGRE, la coherencia entre el propósito general y los objetivos específicos asegura que el software resuelva problemas estructurales del campus de manera sostenible y medible.</a:t>
            </a:r>
          </a:p>
        </p:txBody>
      </p:sp>
      <p:sp>
        <p:nvSpPr>
          <p:cNvPr id="5" name="TextBox 4"/>
          <p:cNvSpPr txBox="1"/>
          <p:nvPr/>
        </p:nvSpPr>
        <p:spPr>
          <a:xfrm>
            <a:off x="8083296" y="1645920"/>
            <a:ext cx="3328416" cy="4754880"/>
          </a:xfrm>
          <a:prstGeom prst="rect">
            <a:avLst/>
          </a:prstGeom>
          <a:noFill/>
        </p:spPr>
        <p:txBody>
          <a:bodyPr wrap="square" lIns="0" tIns="0" rIns="0" bIns="0">
            <a:spAutoFit/>
          </a:bodyPr>
          <a:lstStyle/>
          <a:p>
            <a:pPr>
              <a:defRPr sz="1500" b="1">
                <a:solidFill>
                  <a:srgbClr val="1E56A0"/>
                </a:solidFill>
              </a:defRPr>
            </a:pPr>
            <a:r>
              <a:t>Josue Wenceslao Padilla Casillas</a:t>
            </a:r>
          </a:p>
          <a:p>
            <a:pPr>
              <a:spcAft>
                <a:spcPts val="800"/>
              </a:spcAft>
              <a:defRPr sz="1100" b="1">
                <a:solidFill>
                  <a:srgbClr val="5A5A5A"/>
                </a:solidFill>
              </a:defRPr>
            </a:pPr>
            <a:r>
              <a:t>Conclusión (112 palabras)</a:t>
            </a:r>
          </a:p>
          <a:p>
            <a:pPr>
              <a:spcBef>
                <a:spcPts val="400"/>
              </a:spcBef>
              <a:defRPr sz="1300">
                <a:solidFill>
                  <a:srgbClr val="282828"/>
                </a:solidFill>
              </a:defRPr>
            </a:pPr>
            <a:r>
              <a:t>La formulación de objetivos demanda un riguroso ejercicio de síntesis y pensamiento analítico. Identificar con claridad el objetivo general evita perder el rumbo ante los múltiples retos que surgen durante la ejecución de un proyecto de inversión. A su vez, los objetivos específicos permiten estructurar cronológicamente las fases diagnósticas, de implementación y de evaluación, facilitando la asignación equitativa de responsabilidades y recursos en el equipo. Me resultó fundamental distinguir entre una tarea operativa y un objetivo, ya que este último siempre debe generar un resultado medible. En síntesis, definir objetivos claros garantiza trazabilidad, facilita el seguimiento y permite evaluar con transparencia los resultados obtenidos.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188720"/>
          </a:xfrm>
          <a:prstGeom prst="rect">
            <a:avLst/>
          </a:prstGeom>
          <a:noFill/>
        </p:spPr>
        <p:txBody>
          <a:bodyPr wrap="square" lIns="0" tIns="0" rIns="0" bIns="0">
            <a:spAutoFit/>
          </a:bodyPr>
          <a:lstStyle/>
          <a:p>
            <a:pPr>
              <a:defRPr sz="1100" b="1">
                <a:solidFill>
                  <a:srgbClr val="1E56A0"/>
                </a:solidFill>
              </a:defRPr>
            </a:pPr>
            <a:r>
              <a:t>EQUIPO 4 • FORMULACIÓN Y EVALUACIÓN DE PROYECTOS</a:t>
            </a:r>
          </a:p>
          <a:p>
            <a:pPr>
              <a:spcBef>
                <a:spcPts val="400"/>
              </a:spcBef>
              <a:defRPr sz="2600" b="1">
                <a:solidFill>
                  <a:srgbClr val="182B49"/>
                </a:solidFill>
              </a:defRPr>
            </a:pPr>
            <a:r>
              <a:t>Fuentes de Consulta (Normas APA 7.ª Edición)</a:t>
            </a:r>
          </a:p>
        </p:txBody>
      </p:sp>
      <p:sp>
        <p:nvSpPr>
          <p:cNvPr id="3" name="TextBox 2"/>
          <p:cNvSpPr txBox="1"/>
          <p:nvPr/>
        </p:nvSpPr>
        <p:spPr>
          <a:xfrm>
            <a:off x="731520" y="1645920"/>
            <a:ext cx="10698480" cy="4754880"/>
          </a:xfrm>
          <a:prstGeom prst="rect">
            <a:avLst/>
          </a:prstGeom>
          <a:noFill/>
        </p:spPr>
        <p:txBody>
          <a:bodyPr wrap="square" lIns="0" tIns="0" rIns="0" bIns="0">
            <a:spAutoFit/>
          </a:bodyPr>
          <a:lstStyle/>
          <a:p>
            <a:pPr>
              <a:defRPr sz="1800" b="1">
                <a:solidFill>
                  <a:srgbClr val="1E56A0"/>
                </a:solidFill>
              </a:defRPr>
            </a:pPr>
            <a:r>
              <a:t>Bibliografía y Referencias Metodológicas</a:t>
            </a:r>
          </a:p>
          <a:p>
            <a:pPr>
              <a:spcBef>
                <a:spcPts val="500"/>
              </a:spcBef>
              <a:defRPr sz="1500">
                <a:solidFill>
                  <a:srgbClr val="282828"/>
                </a:solidFill>
              </a:defRPr>
            </a:pPr>
            <a:r>
              <a:t>• Bernal, C. A. (2016). Metodología de la investigación: administración, economía, humanidades y ciencias sociales (4.ª ed.). Pearson Educación.</a:t>
            </a:r>
          </a:p>
          <a:p>
            <a:pPr>
              <a:spcBef>
                <a:spcPts val="500"/>
              </a:spcBef>
              <a:defRPr sz="1500">
                <a:solidFill>
                  <a:srgbClr val="282828"/>
                </a:solidFill>
              </a:defRPr>
            </a:pPr>
            <a:r>
              <a:t>• Córdoba Padilla, M. (2011). Formulación y evaluación de proyectos (1.ª ed.). Ecoe Ediciones.</a:t>
            </a:r>
          </a:p>
          <a:p>
            <a:pPr>
              <a:spcBef>
                <a:spcPts val="500"/>
              </a:spcBef>
              <a:defRPr sz="1500">
                <a:solidFill>
                  <a:srgbClr val="282828"/>
                </a:solidFill>
              </a:defRPr>
            </a:pPr>
            <a:r>
              <a:t>• Hernández-Sampieri, R., &amp; Mendoza Torres, C. P. (2018). Metodología de la investigación: las rutas cuantitativa, cualitativa y mixta. McGraw-Hill Education.</a:t>
            </a:r>
          </a:p>
          <a:p>
            <a:pPr>
              <a:spcBef>
                <a:spcPts val="500"/>
              </a:spcBef>
              <a:defRPr sz="1500">
                <a:solidFill>
                  <a:srgbClr val="282828"/>
                </a:solidFill>
              </a:defRPr>
            </a:pPr>
            <a:r>
              <a:t>• Miranda Miranda, J. J. (2012). Gestión de proyectos: Identificación, formulación, evaluación financiera, económica, social, ambiental (7.ª ed.). MMEditores.</a:t>
            </a:r>
          </a:p>
          <a:p>
            <a:pPr>
              <a:spcBef>
                <a:spcPts val="500"/>
              </a:spcBef>
              <a:defRPr sz="1500">
                <a:solidFill>
                  <a:srgbClr val="282828"/>
                </a:solidFill>
              </a:defRPr>
            </a:pPr>
            <a:r>
              <a:t>• Sapag Chain, N., Sapag Chain, R., &amp; Sapag Puelma, J. M. (2014). Preparación y evaluación de proyectos (6.ª ed.). McGraw-Hill Interamericana.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