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0:00 - 0:45 (45 segundos)</a:t>
            </a:r>
          </a:p>
          <a:p>
            <a:r>
              <a:t>GUIÓN: Buen día profesora Abril Angulo y compañeros. Mi nombre es Ernesto Hatuey Fierro Meléndez y presento la segunda etapa de mi proyecto de inversión SIGRE: Sistema Integrado de Gestión de Recursos y Espacios. En esta exposición demostraré la viabilidad financiera integral del proyecto, desglosando la inversión inicial requerida, la evaluación competitiva de proveedores, las proyecciones de ingresos y el cálculo matemático riguroso del Valor Presente Neto (VPN), el Periodo de Recuperación de Inversión (Payback) y la Tasa Interna de Retorno (TIR).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0:45 - 1:45 (60 segundos)</a:t>
            </a:r>
          </a:p>
          <a:p>
            <a:r>
              <a:t>GUIÓN: Mi investigación en planteles de la Red Universitaria demuestra que la problemática de mermas y empalmes no es un accidente, sino el resultado de tres causas estructurales: en primer lugar, la falta de trazabilidad en tiempo real en los almacenes; en segundo lugar, la fragilidad jurídica de seguir firmando en libretas de papel que carecen de validez ante auditorías; y en tercer lugar, la falta de un sistema de incentivos y responsabilidad para los usuarios.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1:45 - 2:30 (45 segundos)</a:t>
            </a:r>
          </a:p>
          <a:p>
            <a:r>
              <a:t>GUIÓN: Para resolver esta problemática formulé SIGRE, una plataforma cloud que automatiza el préstamo con QR, firma actas digitales y asigna un puntaje de confiabilidad al usuario. Mi hipótesis sostiene que al implementar SIGRE, lograré reducir al menos en un 80% la pérdida de equipo técnico y eliminar al 100% los empalmes de espacio, garantizando que el ahorro generado pague con creces la inversión.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2:30 - 3:30 (60 segundos)</a:t>
            </a:r>
          </a:p>
          <a:p>
            <a:r>
              <a:t>GUIÓN: Reconozco con total honestidad la realidad política y burocrática de la Universidad de Guadalajara: venderle a 193 dependencias de golpe es una fantasía irreal; conseguir que un solo centro adopte una plataforma ya es un reto mayúsculo. Por eso, mi estrategia es de escalamiento medido en tres fases: en el Año 1 me enfoco exclusivamente en hacer pruebas piloto en casa, en CUTonalá, en sus 3 almacenes clave, validando que el sistema no falle. En el Año 2, con la retroalimentación de los usuarios, despliego una versión mucho más pulida con un costo operativo menor, formalizando el contrato anual de CUTonalá y sumando a nuestro centro hermano CUCEI. Para el Año 3, consolido el servicio en 3 centros universitarios y 1 preparatoria. Conquistar solo 4 planteles en tres años representa apenas el 2% del mercado, pero genera los $500,000 pesos anuales necesarios para hacer a SIGRE plenamente autosustentable y altamente rentable.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3:30 - 4:15 (45 segundos)</a:t>
            </a:r>
          </a:p>
          <a:p>
            <a:r>
              <a:t>GUIÓN: Frente a las alternativas actuales —como las libretas de papel, la rigidez del SIIAU o los software extranjeros cotizados en dólares— SIGRE ofrece un valor agregado único: despachos en menos de 30 segundos con QR, actas en PDF firmadas digitalmente, puntaje de reputación para los alumnos y una tarifa diseñada para contratarse mediante adjudicación directa sin burocracia.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4:15 - 5:00 (45 segundos)</a:t>
            </a:r>
          </a:p>
          <a:p>
            <a:r>
              <a:t>GUIÓN: El plan de servicio se estructura en un flujo de 5 pasos automatizados: desde la pre-reserva en línea sin empalmes, pasando por el escaneo QR en mostrador con doble checklist de salida, hasta la emisión instantánea del acta responsiva en PDF y la actualización automática del puntaje de confiabilidad del alumno al devolver el bien.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5:00 - 5:45 (45 segundos)</a:t>
            </a:r>
          </a:p>
          <a:p>
            <a:r>
              <a:t>GUIÓN: El plan de ejecución de 12 meses prioriza la validación real antes de cualquier trámite formal innecesario. Primero desarrollamos el prototipo MVP y formalizamos los términos de privacidad requeridos por la ley de datos. Con eso en orden, gestionamos la anuencia de la Secretaría Administrativa de CUTonalá para desplegar el piloto en ventanilla durante los meses 4 a 6. Una vez que el sistema fue probado y afinado con retroalimentación real, formalizamos el contrato anual de CUTonalá en el Mes 8 y procedemos al depósito de derechos de autor ante el INDAUTOR del código ya estable. La Ruta Crítica enlaza A1 -&gt; A3 -&gt; A4 -&gt; A5 -&gt; A6 -&gt; A8.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5:45 - 6:45 (60 segundos)</a:t>
            </a:r>
          </a:p>
          <a:p>
            <a:r>
              <a:t>GUIÓN: En cumplimiento estricto con la rúbrica, investigué al menos tres opciones para cada insumo. Elegí Google Cloud por su SLA del 99.9% y costo flexible serverless; asesoría especializada para el Aviso de Privacidad y trámite directo ante INDAUTOR para garantizar titularidad sin intermediarios; y lectores industriales Dell para soportar el uso rudo en las ventanillas de almacén de CUTonalá. Criterios basados en confiabilidad, disponibilidad y durabilidad.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6:45 - 7:45 (60 segundos)</a:t>
            </a:r>
          </a:p>
          <a:p>
            <a:r>
              <a:t>GUIÓN: Solicito una inversión semilla de $140,000 pesos, presupuestada con estricto sentido de austeridad. El monto desglosa $60,000 en desarrollo y pruebas del MVP, $16,000 en servidores para el primer año, $20,000 en lectores ópticos de uso rudo para los mostradores de CUTonalá, $12,000 en marco de privacidad y normatividad, $12,000 en señalética y viáticos locales, y un fondo de contingencia de $20,000 pesos para respaldar el arranque.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7:45 - 8:45 (60 segundos)</a:t>
            </a:r>
          </a:p>
          <a:p>
            <a:r>
              <a:t>GUIÓN: En el Estado de Resultados Proforma observamos claramente las tres fases del proyecto: un Año 1 de pruebas piloto en CUTonalá con una pérdida operativa calculada de $22,000 pesos absorbida por el capital semilla; un Año 2 donde la versión pulida optimiza los costos de nube y formaliza CUTonalá y CUCEI, generando $68,000 pesos de utilidad neta; y un Año 3 de consolidación regional con $200,000 pesos netos. El punto de equilibrio operativo se alcanza en el mes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8:45 - 9:30 (45 segundos)</a:t>
            </a:r>
          </a:p>
          <a:p>
            <a:r>
              <a:t>GUIÓN: Aquí presento la evaluación financiera formal con los números ajustados. Descontando los flujos a una TMAR del 15% anual (Cetes 10.5% + 4.5% prima de riesgo), el Valor Presente Neto es positivo con +$23,790.58 pesos y la TIR alcanza el 21.34% anual, superando ampliamente la tasa exigida. El Payback simple se alcanza en el Mes 29.6 —a mediados del tercer año, recuperando los $94,000 pesos faltantes en 5.6 meses— y el Payback descontado en el Mes 34. La relación Beneficio/Costo es de 1.15x. El proyecto es financieramente viable bajo supuestos reales y alcanzables.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9:30 - 10:00 (30 segundos)</a:t>
            </a:r>
          </a:p>
          <a:p>
            <a:r>
              <a:t>GUIÓN: En conclusión, SIGRE es una propuesta de inversión de bajo riesgo, alta viabilidad técnica y un impacto social directo en la Universidad de Guadalajara. No dependo de proyecciones fantasiosas: con solo 4 planteles en tres años logro el retorno completo del capital en el mes 30 y un flujo atractivo y sostenido de utilidades. Agradezco su atención y quedo abierto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2E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igre_logo_header.png"/>
          <p:cNvPicPr>
            <a:picLocks noChangeAspect="1"/>
          </p:cNvPicPr>
          <p:nvPr/>
        </p:nvPicPr>
        <p:blipFill>
          <a:blip r:embed="rId2"/>
          <a:stretch>
            <a:fillRect/>
          </a:stretch>
        </p:blipFill>
        <p:spPr>
          <a:xfrm>
            <a:off x="822960" y="640080"/>
            <a:ext cx="2194560" cy="707996"/>
          </a:xfrm>
          <a:prstGeom prst="rect">
            <a:avLst/>
          </a:prstGeom>
        </p:spPr>
      </p:pic>
      <p:sp>
        <p:nvSpPr>
          <p:cNvPr id="4" name="TextBox 3"/>
          <p:cNvSpPr txBox="1"/>
          <p:nvPr/>
        </p:nvSpPr>
        <p:spPr>
          <a:xfrm>
            <a:off x="822960" y="1691640"/>
            <a:ext cx="9144000" cy="320040"/>
          </a:xfrm>
          <a:prstGeom prst="rect">
            <a:avLst/>
          </a:prstGeom>
          <a:noFill/>
        </p:spPr>
        <p:txBody>
          <a:bodyPr wrap="none">
            <a:spAutoFit/>
          </a:bodyPr>
          <a:lstStyle/>
          <a:p>
            <a:pPr>
              <a:defRPr sz="1050" b="1">
                <a:solidFill>
                  <a:srgbClr val="96CDFF"/>
                </a:solidFill>
                <a:latin typeface="Arial"/>
              </a:defRPr>
            </a:pPr>
            <a:r>
              <a:t>UNIVERSIDAD DE GUADALAJARA  ·  CENTRO UNIVERSITARIO DE TONALÁ (CUTONALÁ)</a:t>
            </a:r>
          </a:p>
        </p:txBody>
      </p:sp>
      <p:sp>
        <p:nvSpPr>
          <p:cNvPr id="5" name="TextBox 4"/>
          <p:cNvSpPr txBox="1"/>
          <p:nvPr/>
        </p:nvSpPr>
        <p:spPr>
          <a:xfrm>
            <a:off x="822960" y="2011680"/>
            <a:ext cx="9601200" cy="1097280"/>
          </a:xfrm>
          <a:prstGeom prst="rect">
            <a:avLst/>
          </a:prstGeom>
          <a:noFill/>
        </p:spPr>
        <p:txBody>
          <a:bodyPr wrap="square">
            <a:spAutoFit/>
          </a:bodyPr>
          <a:lstStyle/>
          <a:p>
            <a:pPr>
              <a:defRPr sz="2600" b="1">
                <a:solidFill>
                  <a:srgbClr val="FFFFFF"/>
                </a:solidFill>
                <a:latin typeface="Arial"/>
              </a:defRPr>
            </a:pPr>
            <a:r>
              <a:t>SIGRE: Sistema Integrado de Gestión de Recursos y Espacios</a:t>
            </a:r>
          </a:p>
        </p:txBody>
      </p:sp>
      <p:sp>
        <p:nvSpPr>
          <p:cNvPr id="6" name="TextBox 5"/>
          <p:cNvSpPr txBox="1"/>
          <p:nvPr/>
        </p:nvSpPr>
        <p:spPr>
          <a:xfrm>
            <a:off x="822960" y="3154680"/>
            <a:ext cx="9601200" cy="548640"/>
          </a:xfrm>
          <a:prstGeom prst="rect">
            <a:avLst/>
          </a:prstGeom>
          <a:noFill/>
        </p:spPr>
        <p:txBody>
          <a:bodyPr wrap="square">
            <a:spAutoFit/>
          </a:bodyPr>
          <a:lstStyle/>
          <a:p>
            <a:pPr>
              <a:defRPr sz="1200">
                <a:solidFill>
                  <a:srgbClr val="D2E1F0"/>
                </a:solidFill>
                <a:latin typeface="Arial"/>
              </a:defRPr>
            </a:pPr>
            <a:r>
              <a:t>Estimación de la Inversión Inicial, Selección de Proveedores, Estado de Resultados y Determinación de la TIR y Payback</a:t>
            </a:r>
          </a:p>
        </p:txBody>
      </p:sp>
      <p:sp>
        <p:nvSpPr>
          <p:cNvPr id="7" name="Rectangle 6"/>
          <p:cNvSpPr/>
          <p:nvPr/>
        </p:nvSpPr>
        <p:spPr>
          <a:xfrm>
            <a:off x="822960" y="3931920"/>
            <a:ext cx="9601200" cy="18288"/>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160520"/>
            <a:ext cx="5486400" cy="256032"/>
          </a:xfrm>
          <a:prstGeom prst="rect">
            <a:avLst/>
          </a:prstGeom>
          <a:noFill/>
        </p:spPr>
        <p:txBody>
          <a:bodyPr wrap="none">
            <a:spAutoFit/>
          </a:bodyPr>
          <a:lstStyle/>
          <a:p>
            <a:pPr>
              <a:defRPr sz="1000" b="1">
                <a:solidFill>
                  <a:srgbClr val="96CDFF"/>
                </a:solidFill>
                <a:latin typeface="Arial"/>
              </a:defRPr>
            </a:pPr>
            <a:r>
              <a:t>PRESENTADO POR</a:t>
            </a:r>
          </a:p>
        </p:txBody>
      </p:sp>
      <p:sp>
        <p:nvSpPr>
          <p:cNvPr id="9" name="Oval 8"/>
          <p:cNvSpPr/>
          <p:nvPr/>
        </p:nvSpPr>
        <p:spPr>
          <a:xfrm>
            <a:off x="822960" y="4480560"/>
            <a:ext cx="347472" cy="347472"/>
          </a:xfrm>
          <a:prstGeom prst="ellipse">
            <a:avLst/>
          </a:prstGeom>
          <a:solidFill>
            <a:srgbClr val="2E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lide_1_img_14.png"/>
          <p:cNvPicPr>
            <a:picLocks noChangeAspect="1"/>
          </p:cNvPicPr>
          <p:nvPr/>
        </p:nvPicPr>
        <p:blipFill>
          <a:blip r:embed="rId3"/>
          <a:stretch>
            <a:fillRect/>
          </a:stretch>
        </p:blipFill>
        <p:spPr>
          <a:xfrm>
            <a:off x="868680" y="4526280"/>
            <a:ext cx="256032" cy="256032"/>
          </a:xfrm>
          <a:prstGeom prst="rect">
            <a:avLst/>
          </a:prstGeom>
        </p:spPr>
      </p:pic>
      <p:sp>
        <p:nvSpPr>
          <p:cNvPr id="11" name="TextBox 10"/>
          <p:cNvSpPr txBox="1"/>
          <p:nvPr/>
        </p:nvSpPr>
        <p:spPr>
          <a:xfrm>
            <a:off x="1261872" y="4480560"/>
            <a:ext cx="5029200" cy="347472"/>
          </a:xfrm>
          <a:prstGeom prst="rect">
            <a:avLst/>
          </a:prstGeom>
          <a:noFill/>
        </p:spPr>
        <p:txBody>
          <a:bodyPr wrap="square">
            <a:spAutoFit/>
          </a:bodyPr>
          <a:lstStyle/>
          <a:p>
            <a:pPr>
              <a:defRPr sz="1200" b="1">
                <a:solidFill>
                  <a:srgbClr val="FFFFFF"/>
                </a:solidFill>
                <a:latin typeface="Arial"/>
              </a:defRPr>
            </a:pPr>
            <a:r>
              <a:t>Fierro Meléndez Ernesto Hatuey</a:t>
            </a:r>
          </a:p>
        </p:txBody>
      </p:sp>
      <p:sp>
        <p:nvSpPr>
          <p:cNvPr id="12" name="TextBox 11"/>
          <p:cNvSpPr txBox="1"/>
          <p:nvPr/>
        </p:nvSpPr>
        <p:spPr>
          <a:xfrm>
            <a:off x="822960" y="5166360"/>
            <a:ext cx="8412480" cy="1097280"/>
          </a:xfrm>
          <a:prstGeom prst="rect">
            <a:avLst/>
          </a:prstGeom>
          <a:noFill/>
        </p:spPr>
        <p:txBody>
          <a:bodyPr wrap="square">
            <a:spAutoFit/>
          </a:bodyPr>
          <a:lstStyle/>
          <a:p>
            <a:r>
              <a:rPr b="1" sz="1000">
                <a:solidFill>
                  <a:srgbClr val="4ADE80"/>
                </a:solidFill>
              </a:rPr>
              <a:t>MATERIA: </a:t>
            </a:r>
            <a:r>
              <a:rPr sz="1000">
                <a:solidFill>
                  <a:srgbClr val="FFFFFF"/>
                </a:solidFill>
              </a:rPr>
              <a:t>Formulación y Evaluación de Proyectos de Inversión      </a:t>
            </a:r>
            <a:r>
              <a:rPr b="1" sz="1000">
                <a:solidFill>
                  <a:srgbClr val="4ADE80"/>
                </a:solidFill>
              </a:rPr>
              <a:t>DOCENTE: </a:t>
            </a:r>
            <a:r>
              <a:rPr sz="1000">
                <a:solidFill>
                  <a:srgbClr val="FFFFFF"/>
                </a:solidFill>
              </a:rPr>
              <a:t>Mtra. Abril Adriana Angulo Sherman
</a:t>
            </a:r>
            <a:r>
              <a:rPr b="1" sz="1000">
                <a:solidFill>
                  <a:srgbClr val="4ADE80"/>
                </a:solidFill>
              </a:rPr>
              <a:t>CARRERA: </a:t>
            </a:r>
            <a:r>
              <a:rPr sz="1000">
                <a:solidFill>
                  <a:srgbClr val="FFFFFF"/>
                </a:solidFill>
              </a:rPr>
              <a:t>Ingeniería en Ciencias Computacionales / Lic. en Tecnologías de la Información      </a:t>
            </a:r>
            <a:r>
              <a:rPr b="1" sz="1000">
                <a:solidFill>
                  <a:srgbClr val="4ADE80"/>
                </a:solidFill>
              </a:rPr>
              <a:t>FECHA: </a:t>
            </a:r>
            <a:r>
              <a:rPr sz="1000">
                <a:solidFill>
                  <a:srgbClr val="FFFFFF"/>
                </a:solidFill>
              </a:rPr>
              <a:t>Octubre de 2026 — CUTonalá</a:t>
            </a:r>
          </a:p>
        </p:txBody>
      </p:sp>
      <p:pic>
        <p:nvPicPr>
          <p:cNvPr id="13" name="Picture 12" descr="udeg_logo.png"/>
          <p:cNvPicPr>
            <a:picLocks noChangeAspect="1"/>
          </p:cNvPicPr>
          <p:nvPr/>
        </p:nvPicPr>
        <p:blipFill>
          <a:blip r:embed="rId4"/>
          <a:stretch>
            <a:fillRect/>
          </a:stretch>
        </p:blipFill>
        <p:spPr>
          <a:xfrm>
            <a:off x="9692640" y="4434840"/>
            <a:ext cx="1828800" cy="18288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Diagnóstico Causal de la Problemática Patrimonial</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2 / 12</a:t>
            </a:r>
          </a:p>
        </p:txBody>
      </p:sp>
      <p:sp>
        <p:nvSpPr>
          <p:cNvPr id="7" name="Rounded Rectangle 6"/>
          <p:cNvSpPr/>
          <p:nvPr/>
        </p:nvSpPr>
        <p:spPr>
          <a:xfrm>
            <a:off x="548640" y="1371600"/>
            <a:ext cx="3520440"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a:pPr>
          </a:p>
          <a:p>
            <a:pPr>
              <a:spcAft>
                <a:spcPts val="400"/>
              </a:spcAft>
              <a:defRPr sz="950" b="1">
                <a:solidFill>
                  <a:srgbClr val="006699"/>
                </a:solidFill>
                <a:latin typeface="Arial"/>
              </a:defRPr>
            </a:pPr>
            <a:r>
              <a:t>DIAGNÓSTICO ESTRUCTURAL:</a:t>
            </a:r>
          </a:p>
          <a:p>
            <a:pPr>
              <a:spcAft>
                <a:spcPts val="1400"/>
              </a:spcAft>
              <a:defRPr sz="1000">
                <a:solidFill>
                  <a:srgbClr val="212529"/>
                </a:solidFill>
                <a:latin typeface="Arial"/>
              </a:defRPr>
            </a:pPr>
            <a:r>
              <a:t>Desconexión directa entre el inventario físico del almacén y el estatus real del bien (prestado, dañado o disponible). Inexistencia de conciliación automatizada en tiempo real.</a:t>
            </a:r>
          </a:p>
          <a:p>
            <a:pPr>
              <a:spcAft>
                <a:spcPts val="400"/>
              </a:spcAft>
              <a:defRPr sz="950" b="1">
                <a:solidFill>
                  <a:srgbClr val="B42828"/>
                </a:solidFill>
                <a:latin typeface="Arial"/>
              </a:defRPr>
            </a:pPr>
            <a:r>
              <a:t>IMPACTO PATRIMONIAL:</a:t>
            </a:r>
          </a:p>
          <a:p>
            <a:pPr>
              <a:defRPr sz="1000">
                <a:solidFill>
                  <a:srgbClr val="212529"/>
                </a:solidFill>
                <a:latin typeface="Arial"/>
              </a:defRPr>
            </a:pPr>
            <a:r>
              <a:t>Mermas superiores al 12% del inventario técnico y tiempos muertos en mostrador de 15 a 20 min en horas pico.</a:t>
            </a:r>
          </a:p>
        </p:txBody>
      </p:sp>
      <p:sp>
        <p:nvSpPr>
          <p:cNvPr id="8" name="Rectangle 7"/>
          <p:cNvSpPr/>
          <p:nvPr/>
        </p:nvSpPr>
        <p:spPr>
          <a:xfrm>
            <a:off x="548640" y="1371600"/>
            <a:ext cx="3520440" cy="50292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1. Causa Operativa: Falta de Trazabilidad</a:t>
            </a:r>
          </a:p>
        </p:txBody>
      </p:sp>
      <p:sp>
        <p:nvSpPr>
          <p:cNvPr id="9" name="Rounded Rectangle 8"/>
          <p:cNvSpPr/>
          <p:nvPr/>
        </p:nvSpPr>
        <p:spPr>
          <a:xfrm>
            <a:off x="4325112" y="1371600"/>
            <a:ext cx="3520440"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a:pPr>
          </a:p>
          <a:p>
            <a:pPr>
              <a:spcAft>
                <a:spcPts val="400"/>
              </a:spcAft>
              <a:defRPr sz="950" b="1">
                <a:solidFill>
                  <a:srgbClr val="006699"/>
                </a:solidFill>
                <a:latin typeface="Arial"/>
              </a:defRPr>
            </a:pPr>
            <a:r>
              <a:t>DIAGNÓSTICO ESTRUCTURAL:</a:t>
            </a:r>
          </a:p>
          <a:p>
            <a:pPr>
              <a:spcAft>
                <a:spcPts val="1400"/>
              </a:spcAft>
              <a:defRPr sz="1000">
                <a:solidFill>
                  <a:srgbClr val="212529"/>
                </a:solidFill>
                <a:latin typeface="Arial"/>
              </a:defRPr>
            </a:pPr>
            <a:r>
              <a:t>Uso de libretas de mostrador y hojas sueltas firmadas en tinta sin validez probatoria ante Contraloría, careciendo de cadena de custodia formal o sellado criptográfico.</a:t>
            </a:r>
          </a:p>
          <a:p>
            <a:pPr>
              <a:spcAft>
                <a:spcPts val="400"/>
              </a:spcAft>
              <a:defRPr sz="950" b="1">
                <a:solidFill>
                  <a:srgbClr val="B42828"/>
                </a:solidFill>
                <a:latin typeface="Arial"/>
              </a:defRPr>
            </a:pPr>
            <a:r>
              <a:t>IMPACTO PATRIMONIAL:</a:t>
            </a:r>
          </a:p>
          <a:p>
            <a:pPr>
              <a:defRPr sz="1000">
                <a:solidFill>
                  <a:srgbClr val="212529"/>
                </a:solidFill>
                <a:latin typeface="Arial"/>
              </a:defRPr>
            </a:pPr>
            <a:r>
              <a:t>Imposibilidad jurídica para fincar responsabilidades administrativas o económicas; costos absorbidos por la partida de gastos del plantel.</a:t>
            </a:r>
          </a:p>
        </p:txBody>
      </p:sp>
      <p:sp>
        <p:nvSpPr>
          <p:cNvPr id="10" name="Rectangle 9"/>
          <p:cNvSpPr/>
          <p:nvPr/>
        </p:nvSpPr>
        <p:spPr>
          <a:xfrm>
            <a:off x="4325112" y="1371600"/>
            <a:ext cx="3520440" cy="50292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2. Causa Jurídica: Validez Nula en Auditoría</a:t>
            </a:r>
          </a:p>
        </p:txBody>
      </p:sp>
      <p:sp>
        <p:nvSpPr>
          <p:cNvPr id="11" name="Rounded Rectangle 10"/>
          <p:cNvSpPr/>
          <p:nvPr/>
        </p:nvSpPr>
        <p:spPr>
          <a:xfrm>
            <a:off x="8101584" y="1371600"/>
            <a:ext cx="3520440"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a:pPr>
          </a:p>
          <a:p>
            <a:pPr>
              <a:spcAft>
                <a:spcPts val="400"/>
              </a:spcAft>
              <a:defRPr sz="950" b="1">
                <a:solidFill>
                  <a:srgbClr val="006699"/>
                </a:solidFill>
                <a:latin typeface="Arial"/>
              </a:defRPr>
            </a:pPr>
            <a:r>
              <a:t>DIAGNÓSTICO ESTRUCTURAL:</a:t>
            </a:r>
          </a:p>
          <a:p>
            <a:pPr>
              <a:spcAft>
                <a:spcPts val="1400"/>
              </a:spcAft>
              <a:defRPr sz="1000">
                <a:solidFill>
                  <a:srgbClr val="212529"/>
                </a:solidFill>
                <a:latin typeface="Arial"/>
              </a:defRPr>
            </a:pPr>
            <a:r>
              <a:t>Falta de consecuencias institucionales por entrega tardía o daño accidental. Los usuarios no cuentan con un historial o índice de cumplimiento verificable.</a:t>
            </a:r>
          </a:p>
          <a:p>
            <a:pPr>
              <a:spcAft>
                <a:spcPts val="400"/>
              </a:spcAft>
              <a:defRPr sz="950" b="1">
                <a:solidFill>
                  <a:srgbClr val="B42828"/>
                </a:solidFill>
                <a:latin typeface="Arial"/>
              </a:defRPr>
            </a:pPr>
            <a:r>
              <a:t>IMPACTO PATRIMONIAL:</a:t>
            </a:r>
          </a:p>
          <a:p>
            <a:pPr>
              <a:defRPr sz="1000">
                <a:solidFill>
                  <a:srgbClr val="212529"/>
                </a:solidFill>
                <a:latin typeface="Arial"/>
              </a:defRPr>
            </a:pPr>
            <a:r>
              <a:t>Equipos retenidos por semanas sin sanción efectiva; colisiones en reservas de auditorios por traslape de solicitudes manuales.</a:t>
            </a:r>
          </a:p>
        </p:txBody>
      </p:sp>
      <p:sp>
        <p:nvSpPr>
          <p:cNvPr id="12" name="Rectangle 11"/>
          <p:cNvSpPr/>
          <p:nvPr/>
        </p:nvSpPr>
        <p:spPr>
          <a:xfrm>
            <a:off x="8101584" y="1371600"/>
            <a:ext cx="3520440" cy="502920"/>
          </a:xfrm>
          <a:prstGeom prst="rect">
            <a:avLst/>
          </a:prstGeom>
          <a:solidFill>
            <a:srgbClr val="2E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3. Causa Cultural: Ausencia de Incentivos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Hipótesis Central de Solución y Métricas de Validación</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3 / 12</a:t>
            </a:r>
          </a:p>
        </p:txBody>
      </p:sp>
      <p:sp>
        <p:nvSpPr>
          <p:cNvPr id="7" name="Rounded Rectangle 6"/>
          <p:cNvSpPr/>
          <p:nvPr/>
        </p:nvSpPr>
        <p:spPr>
          <a:xfrm>
            <a:off x="548640" y="1371600"/>
            <a:ext cx="11064240" cy="1463040"/>
          </a:xfrm>
          <a:prstGeom prst="roundRect">
            <a:avLst/>
          </a:prstGeom>
          <a:solidFill>
            <a:srgbClr val="FFFFFF"/>
          </a:solidFill>
          <a:ln w="25400">
            <a:solidFill>
              <a:srgbClr val="2E7D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100" b="1">
                <a:solidFill>
                  <a:srgbClr val="2E7D57"/>
                </a:solidFill>
                <a:latin typeface="Arial"/>
              </a:defRPr>
            </a:pPr>
            <a:r>
              <a:t>HIPÓTESIS DE IMPACTO INSTITUCIONAL:</a:t>
            </a:r>
          </a:p>
          <a:p>
            <a:pPr>
              <a:defRPr sz="1150" i="1">
                <a:solidFill>
                  <a:srgbClr val="002B49"/>
                </a:solidFill>
                <a:latin typeface="Arial"/>
              </a:defRPr>
            </a:pPr>
            <a:r>
              <a:t>"La implementación de una plataforma cloud con validación de préstamos vía QR, emisión instantánea de actas digitales y cálculo de reputación del usuario reducirá en más del 80% las mermas no justificadas de equipo técnico en los planteles de la Red UdeG, erradicará el 100% de los empalmes en espacios compartidos y generará ahorros operativos superiores al costo de suscripción institucional."</a:t>
            </a:r>
          </a:p>
        </p:txBody>
      </p:sp>
      <p:sp>
        <p:nvSpPr>
          <p:cNvPr id="8" name="Rounded Rectangle 7"/>
          <p:cNvSpPr/>
          <p:nvPr/>
        </p:nvSpPr>
        <p:spPr>
          <a:xfrm>
            <a:off x="548640" y="3063240"/>
            <a:ext cx="2560320" cy="2423160"/>
          </a:xfrm>
          <a:prstGeom prst="roundRect">
            <a:avLst/>
          </a:prstGeom>
          <a:solidFill>
            <a:srgbClr val="FFFFFF"/>
          </a:solidFill>
          <a:ln>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2E7D57"/>
                </a:solidFill>
                <a:latin typeface="Arial"/>
              </a:defRPr>
            </a:pPr>
            <a:r>
              <a:t>-80%</a:t>
            </a:r>
          </a:p>
          <a:p>
            <a:pPr algn="ctr">
              <a:spcAft>
                <a:spcPts val="600"/>
              </a:spcAft>
              <a:defRPr sz="1100" b="1">
                <a:solidFill>
                  <a:srgbClr val="002B49"/>
                </a:solidFill>
                <a:latin typeface="Arial"/>
              </a:defRPr>
            </a:pPr>
            <a:r>
              <a:t>Reducción de Mermas</a:t>
            </a:r>
          </a:p>
          <a:p>
            <a:pPr algn="ctr">
              <a:defRPr sz="950">
                <a:solidFill>
                  <a:srgbClr val="212529"/>
                </a:solidFill>
                <a:latin typeface="Arial"/>
              </a:defRPr>
            </a:pPr>
            <a:r>
              <a:t>Disminución comprobada en pérdidas de proyectores, cables HDMI, cámaras y laptops.</a:t>
            </a:r>
          </a:p>
        </p:txBody>
      </p:sp>
      <p:sp>
        <p:nvSpPr>
          <p:cNvPr id="9" name="Rounded Rectangle 8"/>
          <p:cNvSpPr/>
          <p:nvPr/>
        </p:nvSpPr>
        <p:spPr>
          <a:xfrm>
            <a:off x="3383280" y="3063240"/>
            <a:ext cx="2560320" cy="2423160"/>
          </a:xfrm>
          <a:prstGeom prst="roundRect">
            <a:avLst/>
          </a:prstGeom>
          <a:solidFill>
            <a:srgbClr val="FFFFFF"/>
          </a:solidFill>
          <a:ln>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2E7D57"/>
                </a:solidFill>
                <a:latin typeface="Arial"/>
              </a:defRPr>
            </a:pPr>
            <a:r>
              <a:t>100%</a:t>
            </a:r>
          </a:p>
          <a:p>
            <a:pPr algn="ctr">
              <a:spcAft>
                <a:spcPts val="600"/>
              </a:spcAft>
              <a:defRPr sz="1100" b="1">
                <a:solidFill>
                  <a:srgbClr val="002B49"/>
                </a:solidFill>
                <a:latin typeface="Arial"/>
              </a:defRPr>
            </a:pPr>
            <a:r>
              <a:t>Eliminación de Empalmes</a:t>
            </a:r>
          </a:p>
          <a:p>
            <a:pPr algn="ctr">
              <a:defRPr sz="950">
                <a:solidFill>
                  <a:srgbClr val="212529"/>
                </a:solidFill>
                <a:latin typeface="Arial"/>
              </a:defRPr>
            </a:pPr>
            <a:r>
              <a:t>Detección atómica en base de datos que bloquea dobles reservas en auditorios.</a:t>
            </a:r>
          </a:p>
        </p:txBody>
      </p:sp>
      <p:sp>
        <p:nvSpPr>
          <p:cNvPr id="10" name="Rounded Rectangle 9"/>
          <p:cNvSpPr/>
          <p:nvPr/>
        </p:nvSpPr>
        <p:spPr>
          <a:xfrm>
            <a:off x="6217920" y="3063240"/>
            <a:ext cx="2560320" cy="2423160"/>
          </a:xfrm>
          <a:prstGeom prst="roundRect">
            <a:avLst/>
          </a:prstGeom>
          <a:solidFill>
            <a:srgbClr val="FFFFFF"/>
          </a:solidFill>
          <a:ln>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06699"/>
                </a:solidFill>
                <a:latin typeface="Arial"/>
              </a:defRPr>
            </a:pPr>
            <a:r>
              <a:t>&lt;30s</a:t>
            </a:r>
          </a:p>
          <a:p>
            <a:pPr algn="ctr">
              <a:spcAft>
                <a:spcPts val="600"/>
              </a:spcAft>
              <a:defRPr sz="1100" b="1">
                <a:solidFill>
                  <a:srgbClr val="002B49"/>
                </a:solidFill>
                <a:latin typeface="Arial"/>
              </a:defRPr>
            </a:pPr>
            <a:r>
              <a:t>Velocidad en Ventanilla</a:t>
            </a:r>
          </a:p>
          <a:p>
            <a:pPr algn="ctr">
              <a:defRPr sz="950">
                <a:solidFill>
                  <a:srgbClr val="212529"/>
                </a:solidFill>
                <a:latin typeface="Arial"/>
              </a:defRPr>
            </a:pPr>
            <a:r>
              <a:t>Despacho automatizado escaneando el código QR personal de la credencial digital.</a:t>
            </a:r>
          </a:p>
        </p:txBody>
      </p:sp>
      <p:sp>
        <p:nvSpPr>
          <p:cNvPr id="11" name="Rounded Rectangle 10"/>
          <p:cNvSpPr/>
          <p:nvPr/>
        </p:nvSpPr>
        <p:spPr>
          <a:xfrm>
            <a:off x="9052560" y="3063240"/>
            <a:ext cx="2560320" cy="2423160"/>
          </a:xfrm>
          <a:prstGeom prst="roundRect">
            <a:avLst/>
          </a:prstGeom>
          <a:solidFill>
            <a:srgbClr val="FFFFFF"/>
          </a:solidFill>
          <a:ln>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006699"/>
                </a:solidFill>
                <a:latin typeface="Arial"/>
              </a:defRPr>
            </a:pPr>
            <a:r>
              <a:t>1.2x+</a:t>
            </a:r>
          </a:p>
          <a:p>
            <a:pPr algn="ctr">
              <a:spcAft>
                <a:spcPts val="600"/>
              </a:spcAft>
              <a:defRPr sz="1100" b="1">
                <a:solidFill>
                  <a:srgbClr val="002B49"/>
                </a:solidFill>
                <a:latin typeface="Arial"/>
              </a:defRPr>
            </a:pPr>
            <a:r>
              <a:t>Retorno de Inversión (ROI)</a:t>
            </a:r>
          </a:p>
          <a:p>
            <a:pPr algn="ctr">
              <a:defRPr sz="950">
                <a:solidFill>
                  <a:srgbClr val="212529"/>
                </a:solidFill>
                <a:latin typeface="Arial"/>
              </a:defRPr>
            </a:pPr>
            <a:r>
              <a:t>El valor del equipo salvado supera con creces la inversión en la suscripción.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Estrategia Pragmática de Mercado: Escalamiento en Tres Fases</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4 / 12</a:t>
            </a:r>
          </a:p>
        </p:txBody>
      </p:sp>
      <p:graphicFrame>
        <p:nvGraphicFramePr>
          <p:cNvPr id="7" name="Table 6"/>
          <p:cNvGraphicFramePr>
            <a:graphicFrameLocks noGrp="1"/>
          </p:cNvGraphicFramePr>
          <p:nvPr/>
        </p:nvGraphicFramePr>
        <p:xfrm>
          <a:off x="548640" y="1371600"/>
          <a:ext cx="11064240" cy="393192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786384">
                <a:tc>
                  <a:txBody>
                    <a:bodyPr/>
                    <a:lstStyle/>
                    <a:p>
                      <a:pPr algn="ctr">
                        <a:defRPr sz="1000" b="1">
                          <a:solidFill>
                            <a:srgbClr val="FFFFFF"/>
                          </a:solidFill>
                          <a:latin typeface="Arial"/>
                        </a:defRPr>
                      </a:pPr>
                      <a:r>
                        <a:t>Fase de Escalamiento</a:t>
                      </a:r>
                    </a:p>
                  </a:txBody>
                  <a:tcPr>
                    <a:solidFill>
                      <a:srgbClr val="002B49"/>
                    </a:solidFill>
                  </a:tcPr>
                </a:tc>
                <a:tc>
                  <a:txBody>
                    <a:bodyPr/>
                    <a:lstStyle/>
                    <a:p>
                      <a:pPr algn="ctr">
                        <a:defRPr sz="1000" b="1">
                          <a:solidFill>
                            <a:srgbClr val="FFFFFF"/>
                          </a:solidFill>
                          <a:latin typeface="Arial"/>
                        </a:defRPr>
                      </a:pPr>
                      <a:r>
                        <a:t>Plantel Objetivo y Dependencias</a:t>
                      </a:r>
                    </a:p>
                  </a:txBody>
                  <a:tcPr>
                    <a:solidFill>
                      <a:srgbClr val="002B49"/>
                    </a:solidFill>
                  </a:tcPr>
                </a:tc>
                <a:tc>
                  <a:txBody>
                    <a:bodyPr/>
                    <a:lstStyle/>
                    <a:p>
                      <a:pPr algn="ctr">
                        <a:defRPr sz="1000" b="1">
                          <a:solidFill>
                            <a:srgbClr val="FFFFFF"/>
                          </a:solidFill>
                          <a:latin typeface="Arial"/>
                        </a:defRPr>
                      </a:pPr>
                      <a:r>
                        <a:t>Objetivo Técnico y Operativo</a:t>
                      </a:r>
                    </a:p>
                  </a:txBody>
                  <a:tcPr>
                    <a:solidFill>
                      <a:srgbClr val="002B49"/>
                    </a:solidFill>
                  </a:tcPr>
                </a:tc>
                <a:tc>
                  <a:txBody>
                    <a:bodyPr/>
                    <a:lstStyle/>
                    <a:p>
                      <a:pPr algn="ctr">
                        <a:defRPr sz="1000" b="1">
                          <a:solidFill>
                            <a:srgbClr val="FFFFFF"/>
                          </a:solidFill>
                          <a:latin typeface="Arial"/>
                        </a:defRPr>
                      </a:pPr>
                      <a:r>
                        <a:t>Modelo de Contratación</a:t>
                      </a:r>
                    </a:p>
                  </a:txBody>
                  <a:tcPr>
                    <a:solidFill>
                      <a:srgbClr val="002B49"/>
                    </a:solidFill>
                  </a:tcPr>
                </a:tc>
                <a:tc>
                  <a:txBody>
                    <a:bodyPr/>
                    <a:lstStyle/>
                    <a:p>
                      <a:pPr algn="ctr">
                        <a:defRPr sz="1000" b="1">
                          <a:solidFill>
                            <a:srgbClr val="FFFFFF"/>
                          </a:solidFill>
                          <a:latin typeface="Arial"/>
                        </a:defRPr>
                      </a:pPr>
                      <a:r>
                        <a:t>Ingreso Anual Proyectado</a:t>
                      </a:r>
                    </a:p>
                  </a:txBody>
                  <a:tcPr>
                    <a:solidFill>
                      <a:srgbClr val="002B49"/>
                    </a:solidFill>
                  </a:tcPr>
                </a:tc>
              </a:tr>
              <a:tr h="786384">
                <a:tc>
                  <a:txBody>
                    <a:bodyPr/>
                    <a:lstStyle/>
                    <a:p>
                      <a:pPr algn="l">
                        <a:defRPr sz="950" b="1">
                          <a:latin typeface="Arial"/>
                        </a:defRPr>
                      </a:pPr>
                      <a:r>
                        <a:t>Fase 1: Piloto Local (Año 1)</a:t>
                      </a:r>
                    </a:p>
                  </a:txBody>
                  <a:tcPr>
                    <a:solidFill>
                      <a:srgbClr val="FFFFFF"/>
                    </a:solidFill>
                  </a:tcPr>
                </a:tc>
                <a:tc>
                  <a:txBody>
                    <a:bodyPr/>
                    <a:lstStyle/>
                    <a:p>
                      <a:pPr algn="l">
                        <a:defRPr sz="950">
                          <a:latin typeface="Arial"/>
                        </a:defRPr>
                      </a:pPr>
                      <a:r>
                        <a:t>CUTonalá (3 almacenes: CTA, Labs Cómputo e Ingenierías)</a:t>
                      </a:r>
                    </a:p>
                  </a:txBody>
                  <a:tcPr>
                    <a:solidFill>
                      <a:srgbClr val="FFFFFF"/>
                    </a:solidFill>
                  </a:tcPr>
                </a:tc>
                <a:tc>
                  <a:txBody>
                    <a:bodyPr/>
                    <a:lstStyle/>
                    <a:p>
                      <a:pPr algn="l">
                        <a:defRPr sz="950">
                          <a:latin typeface="Arial"/>
                        </a:defRPr>
                      </a:pPr>
                      <a:r>
                        <a:t>Validación técnica en campo con usuarios y almacenistas reales</a:t>
                      </a:r>
                    </a:p>
                  </a:txBody>
                  <a:tcPr>
                    <a:solidFill>
                      <a:srgbClr val="FFFFFF"/>
                    </a:solidFill>
                  </a:tcPr>
                </a:tc>
                <a:tc>
                  <a:txBody>
                    <a:bodyPr/>
                    <a:lstStyle/>
                    <a:p>
                      <a:pPr algn="ctr">
                        <a:defRPr sz="950">
                          <a:latin typeface="Arial"/>
                        </a:defRPr>
                      </a:pPr>
                      <a:r>
                        <a:t>Convenio de prueba piloto y soporte</a:t>
                      </a:r>
                    </a:p>
                  </a:txBody>
                  <a:tcPr>
                    <a:solidFill>
                      <a:srgbClr val="FFFFFF"/>
                    </a:solidFill>
                  </a:tcPr>
                </a:tc>
                <a:tc>
                  <a:txBody>
                    <a:bodyPr/>
                    <a:lstStyle/>
                    <a:p>
                      <a:pPr algn="ctr">
                        <a:defRPr sz="950">
                          <a:latin typeface="Arial"/>
                        </a:defRPr>
                      </a:pPr>
                      <a:r>
                        <a:t>$48,000 MXN</a:t>
                      </a:r>
                    </a:p>
                  </a:txBody>
                  <a:tcPr>
                    <a:solidFill>
                      <a:srgbClr val="FFFFFF"/>
                    </a:solidFill>
                  </a:tcPr>
                </a:tc>
              </a:tr>
              <a:tr h="786384">
                <a:tc>
                  <a:txBody>
                    <a:bodyPr/>
                    <a:lstStyle/>
                    <a:p>
                      <a:pPr algn="l">
                        <a:defRPr sz="950" b="1">
                          <a:latin typeface="Arial"/>
                        </a:defRPr>
                      </a:pPr>
                      <a:r>
                        <a:t>Fase 2: Versión Pulida (Año 2)</a:t>
                      </a:r>
                    </a:p>
                  </a:txBody>
                  <a:tcPr>
                    <a:solidFill>
                      <a:srgbClr val="FFFFFF"/>
                    </a:solidFill>
                  </a:tcPr>
                </a:tc>
                <a:tc>
                  <a:txBody>
                    <a:bodyPr/>
                    <a:lstStyle/>
                    <a:p>
                      <a:pPr algn="l">
                        <a:defRPr sz="950">
                          <a:latin typeface="Arial"/>
                        </a:defRPr>
                      </a:pPr>
                      <a:r>
                        <a:t>CUTonalá (Campus Completo) + CUCEI (Fase inicial)</a:t>
                      </a:r>
                    </a:p>
                  </a:txBody>
                  <a:tcPr>
                    <a:solidFill>
                      <a:srgbClr val="FFFFFF"/>
                    </a:solidFill>
                  </a:tcPr>
                </a:tc>
                <a:tc>
                  <a:txBody>
                    <a:bodyPr/>
                    <a:lstStyle/>
                    <a:p>
                      <a:pPr algn="l">
                        <a:defRPr sz="950">
                          <a:latin typeface="Arial"/>
                        </a:defRPr>
                      </a:pPr>
                      <a:r>
                        <a:t>Optimización de arquitectura cloud y menor costo marginal por transacción</a:t>
                      </a:r>
                    </a:p>
                  </a:txBody>
                  <a:tcPr>
                    <a:solidFill>
                      <a:srgbClr val="FFFFFF"/>
                    </a:solidFill>
                  </a:tcPr>
                </a:tc>
                <a:tc>
                  <a:txBody>
                    <a:bodyPr/>
                    <a:lstStyle/>
                    <a:p>
                      <a:pPr algn="ctr">
                        <a:defRPr sz="950">
                          <a:latin typeface="Arial"/>
                        </a:defRPr>
                      </a:pPr>
                      <a:r>
                        <a:t>Licencia anual CUT ($12k/m) + CUCEI semestral</a:t>
                      </a:r>
                    </a:p>
                  </a:txBody>
                  <a:tcPr>
                    <a:solidFill>
                      <a:srgbClr val="FFFFFF"/>
                    </a:solidFill>
                  </a:tcPr>
                </a:tc>
                <a:tc>
                  <a:txBody>
                    <a:bodyPr/>
                    <a:lstStyle/>
                    <a:p>
                      <a:pPr algn="ctr">
                        <a:defRPr sz="950">
                          <a:latin typeface="Arial"/>
                        </a:defRPr>
                      </a:pPr>
                      <a:r>
                        <a:t>$216,000 MXN</a:t>
                      </a:r>
                    </a:p>
                  </a:txBody>
                  <a:tcPr>
                    <a:solidFill>
                      <a:srgbClr val="FFFFFF"/>
                    </a:solidFill>
                  </a:tcPr>
                </a:tc>
              </a:tr>
              <a:tr h="786384">
                <a:tc>
                  <a:txBody>
                    <a:bodyPr/>
                    <a:lstStyle/>
                    <a:p>
                      <a:pPr algn="l">
                        <a:defRPr sz="950" b="1">
                          <a:latin typeface="Arial"/>
                        </a:defRPr>
                      </a:pPr>
                      <a:r>
                        <a:t>Fase 3: Consolidación (Año 3)</a:t>
                      </a:r>
                    </a:p>
                  </a:txBody>
                  <a:tcPr>
                    <a:solidFill>
                      <a:srgbClr val="FFFFFF"/>
                    </a:solidFill>
                  </a:tcPr>
                </a:tc>
                <a:tc>
                  <a:txBody>
                    <a:bodyPr/>
                    <a:lstStyle/>
                    <a:p>
                      <a:pPr algn="l">
                        <a:defRPr sz="950">
                          <a:latin typeface="Arial"/>
                        </a:defRPr>
                      </a:pPr>
                      <a:r>
                        <a:t>CUTonalá + CUCEI + CUCEA + Prepa Tonalá (4 planteles)</a:t>
                      </a:r>
                    </a:p>
                  </a:txBody>
                  <a:tcPr>
                    <a:solidFill>
                      <a:srgbClr val="FFFFFF"/>
                    </a:solidFill>
                  </a:tcPr>
                </a:tc>
                <a:tc>
                  <a:txBody>
                    <a:bodyPr/>
                    <a:lstStyle/>
                    <a:p>
                      <a:pPr algn="l">
                        <a:defRPr sz="950">
                          <a:latin typeface="Arial"/>
                        </a:defRPr>
                      </a:pPr>
                      <a:r>
                        <a:t>Consolidación regional del estándar de gestión en la ZMG</a:t>
                      </a:r>
                    </a:p>
                  </a:txBody>
                  <a:tcPr>
                    <a:solidFill>
                      <a:srgbClr val="FFFFFF"/>
                    </a:solidFill>
                  </a:tcPr>
                </a:tc>
                <a:tc>
                  <a:txBody>
                    <a:bodyPr/>
                    <a:lstStyle/>
                    <a:p>
                      <a:pPr algn="ctr">
                        <a:defRPr sz="950">
                          <a:latin typeface="Arial"/>
                        </a:defRPr>
                      </a:pPr>
                      <a:r>
                        <a:t>Licencias de Campus completas</a:t>
                      </a:r>
                    </a:p>
                  </a:txBody>
                  <a:tcPr>
                    <a:solidFill>
                      <a:srgbClr val="FFFFFF"/>
                    </a:solidFill>
                  </a:tcPr>
                </a:tc>
                <a:tc>
                  <a:txBody>
                    <a:bodyPr/>
                    <a:lstStyle/>
                    <a:p>
                      <a:pPr algn="ctr">
                        <a:defRPr sz="950">
                          <a:latin typeface="Arial"/>
                        </a:defRPr>
                      </a:pPr>
                      <a:r>
                        <a:t>$500,000 MXN</a:t>
                      </a:r>
                    </a:p>
                  </a:txBody>
                  <a:tcPr>
                    <a:solidFill>
                      <a:srgbClr val="FFFFFF"/>
                    </a:solidFill>
                  </a:tcPr>
                </a:tc>
              </a:tr>
              <a:tr h="786384">
                <a:tc>
                  <a:txBody>
                    <a:bodyPr/>
                    <a:lstStyle/>
                    <a:p>
                      <a:pPr algn="l">
                        <a:defRPr sz="950" b="1">
                          <a:latin typeface="Arial"/>
                        </a:defRPr>
                      </a:pPr>
                      <a:r>
                        <a:t>TOTALES Y METAS (AÑO 3)</a:t>
                      </a:r>
                    </a:p>
                  </a:txBody>
                  <a:tcPr>
                    <a:solidFill>
                      <a:srgbClr val="E6F5EB"/>
                    </a:solidFill>
                  </a:tcPr>
                </a:tc>
                <a:tc>
                  <a:txBody>
                    <a:bodyPr/>
                    <a:lstStyle/>
                    <a:p>
                      <a:pPr algn="l">
                        <a:defRPr sz="950" b="1">
                          <a:latin typeface="Arial"/>
                        </a:defRPr>
                      </a:pPr>
                      <a:r>
                        <a:t>Apenas 4 planteles de 193 dependencias de la Red UdeG (2.0%)</a:t>
                      </a:r>
                    </a:p>
                  </a:txBody>
                  <a:tcPr>
                    <a:solidFill>
                      <a:srgbClr val="E6F5EB"/>
                    </a:solidFill>
                  </a:tcPr>
                </a:tc>
                <a:tc>
                  <a:txBody>
                    <a:bodyPr/>
                    <a:lstStyle/>
                    <a:p>
                      <a:pPr algn="l">
                        <a:defRPr sz="950" b="1">
                          <a:latin typeface="Arial"/>
                        </a:defRPr>
                      </a:pPr>
                      <a:r>
                        <a:t>Estrategia de penetración realista y disciplinada sin depender de adopción masiva</a:t>
                      </a:r>
                    </a:p>
                  </a:txBody>
                  <a:tcPr>
                    <a:solidFill>
                      <a:srgbClr val="E6F5EB"/>
                    </a:solidFill>
                  </a:tcPr>
                </a:tc>
                <a:tc>
                  <a:txBody>
                    <a:bodyPr/>
                    <a:lstStyle/>
                    <a:p>
                      <a:pPr algn="ctr">
                        <a:defRPr sz="950" b="1">
                          <a:latin typeface="Arial"/>
                        </a:defRPr>
                      </a:pPr>
                      <a:r>
                        <a:t>Contratos por Adjudicación Directa</a:t>
                      </a:r>
                    </a:p>
                  </a:txBody>
                  <a:tcPr>
                    <a:solidFill>
                      <a:srgbClr val="E6F5EB"/>
                    </a:solidFill>
                  </a:tcPr>
                </a:tc>
                <a:tc>
                  <a:txBody>
                    <a:bodyPr/>
                    <a:lstStyle/>
                    <a:p>
                      <a:pPr algn="ctr">
                        <a:defRPr sz="950" b="1">
                          <a:latin typeface="Arial"/>
                        </a:defRPr>
                      </a:pPr>
                      <a:r>
                        <a:t>$500,000 MXN / año</a:t>
                      </a:r>
                    </a:p>
                  </a:txBody>
                  <a:tcPr>
                    <a:solidFill>
                      <a:srgbClr val="E6F5EB"/>
                    </a:solidFill>
                  </a:tcPr>
                </a:tc>
              </a:tr>
            </a:tbl>
          </a:graphicData>
        </a:graphic>
      </p:graphicFrame>
      <p:sp>
        <p:nvSpPr>
          <p:cNvPr id="8" name="TextBox 7"/>
          <p:cNvSpPr txBox="1"/>
          <p:nvPr/>
        </p:nvSpPr>
        <p:spPr>
          <a:xfrm>
            <a:off x="548640" y="5486400"/>
            <a:ext cx="11064240" cy="640080"/>
          </a:xfrm>
          <a:prstGeom prst="rect">
            <a:avLst/>
          </a:prstGeom>
          <a:noFill/>
        </p:spPr>
        <p:txBody>
          <a:bodyPr wrap="none">
            <a:spAutoFit/>
          </a:bodyPr>
          <a:lstStyle/>
          <a:p>
            <a:pPr>
              <a:defRPr sz="950" i="1">
                <a:solidFill>
                  <a:srgbClr val="6C757D"/>
                </a:solidFill>
                <a:latin typeface="Arial"/>
              </a:defRPr>
            </a:pPr>
            <a:r>
              <a:t>Estrategia Pragmática en 3 Fases: Reconociendo la dificultad burocrática de la UdeG, el modelo inicia con pruebas piloto en casa (CUTonalá), avanza a una versión pulida de menor costo en el Año 2, y consolida solo 4 planteles en el Año 3 (el 2.0% de la red de 193 dependencias).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Análisis de Competidores y Propuesta de Valor Agregado</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5 / 12</a:t>
            </a:r>
          </a:p>
        </p:txBody>
      </p:sp>
      <p:graphicFrame>
        <p:nvGraphicFramePr>
          <p:cNvPr id="7" name="Table 6"/>
          <p:cNvGraphicFramePr>
            <a:graphicFrameLocks noGrp="1"/>
          </p:cNvGraphicFramePr>
          <p:nvPr/>
        </p:nvGraphicFramePr>
        <p:xfrm>
          <a:off x="548640" y="1371600"/>
          <a:ext cx="11064240" cy="4114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822960">
                <a:tc>
                  <a:txBody>
                    <a:bodyPr/>
                    <a:lstStyle/>
                    <a:p>
                      <a:pPr algn="ctr">
                        <a:defRPr sz="1000" b="1">
                          <a:solidFill>
                            <a:srgbClr val="FFFFFF"/>
                          </a:solidFill>
                          <a:latin typeface="Arial"/>
                        </a:defRPr>
                      </a:pPr>
                      <a:r>
                        <a:t>Criterio de Evaluación</a:t>
                      </a:r>
                    </a:p>
                  </a:txBody>
                  <a:tcPr>
                    <a:solidFill>
                      <a:srgbClr val="002B49"/>
                    </a:solidFill>
                  </a:tcPr>
                </a:tc>
                <a:tc>
                  <a:txBody>
                    <a:bodyPr/>
                    <a:lstStyle/>
                    <a:p>
                      <a:pPr algn="ctr">
                        <a:defRPr sz="1000" b="1">
                          <a:solidFill>
                            <a:srgbClr val="FFFFFF"/>
                          </a:solidFill>
                          <a:latin typeface="Arial"/>
                        </a:defRPr>
                      </a:pPr>
                      <a:r>
                        <a:t>Libretas y Vales de Papel</a:t>
                      </a:r>
                    </a:p>
                  </a:txBody>
                  <a:tcPr>
                    <a:solidFill>
                      <a:srgbClr val="002B49"/>
                    </a:solidFill>
                  </a:tcPr>
                </a:tc>
                <a:tc>
                  <a:txBody>
                    <a:bodyPr/>
                    <a:lstStyle/>
                    <a:p>
                      <a:pPr algn="ctr">
                        <a:defRPr sz="1000" b="1">
                          <a:solidFill>
                            <a:srgbClr val="FFFFFF"/>
                          </a:solidFill>
                          <a:latin typeface="Arial"/>
                        </a:defRPr>
                      </a:pPr>
                      <a:r>
                        <a:t>Módulos de SIIAU / UdeG</a:t>
                      </a:r>
                    </a:p>
                  </a:txBody>
                  <a:tcPr>
                    <a:solidFill>
                      <a:srgbClr val="002B49"/>
                    </a:solidFill>
                  </a:tcPr>
                </a:tc>
                <a:tc>
                  <a:txBody>
                    <a:bodyPr/>
                    <a:lstStyle/>
                    <a:p>
                      <a:pPr algn="ctr">
                        <a:defRPr sz="1000" b="1">
                          <a:solidFill>
                            <a:srgbClr val="FFFFFF"/>
                          </a:solidFill>
                          <a:latin typeface="Arial"/>
                        </a:defRPr>
                      </a:pPr>
                      <a:r>
                        <a:t>Software Extranjero (SaaS)</a:t>
                      </a:r>
                    </a:p>
                  </a:txBody>
                  <a:tcPr>
                    <a:solidFill>
                      <a:srgbClr val="002B49"/>
                    </a:solidFill>
                  </a:tcPr>
                </a:tc>
                <a:tc>
                  <a:txBody>
                    <a:bodyPr/>
                    <a:lstStyle/>
                    <a:p>
                      <a:pPr algn="ctr">
                        <a:defRPr sz="1000" b="1">
                          <a:solidFill>
                            <a:srgbClr val="FFFFFF"/>
                          </a:solidFill>
                          <a:latin typeface="Arial"/>
                        </a:defRPr>
                      </a:pPr>
                      <a:r>
                        <a:t>Propuesta de Valor: SIGRE</a:t>
                      </a:r>
                    </a:p>
                  </a:txBody>
                  <a:tcPr>
                    <a:solidFill>
                      <a:srgbClr val="002B49"/>
                    </a:solidFill>
                  </a:tcPr>
                </a:tc>
              </a:tr>
              <a:tr h="822960">
                <a:tc>
                  <a:txBody>
                    <a:bodyPr/>
                    <a:lstStyle/>
                    <a:p>
                      <a:pPr algn="l">
                        <a:defRPr sz="950" b="1">
                          <a:latin typeface="Arial"/>
                        </a:defRPr>
                      </a:pPr>
                      <a:r>
                        <a:t>Velocidad de Despacho</a:t>
                      </a:r>
                    </a:p>
                  </a:txBody>
                  <a:tcPr>
                    <a:solidFill>
                      <a:srgbClr val="FFFFFF"/>
                    </a:solidFill>
                  </a:tcPr>
                </a:tc>
                <a:tc>
                  <a:txBody>
                    <a:bodyPr/>
                    <a:lstStyle/>
                    <a:p>
                      <a:pPr algn="ctr">
                        <a:defRPr sz="950">
                          <a:latin typeface="Arial"/>
                        </a:defRPr>
                      </a:pPr>
                      <a:r>
                        <a:t>10 a 15 min en mostrador</a:t>
                      </a:r>
                    </a:p>
                  </a:txBody>
                  <a:tcPr>
                    <a:solidFill>
                      <a:srgbClr val="FFFFFF"/>
                    </a:solidFill>
                  </a:tcPr>
                </a:tc>
                <a:tc>
                  <a:txBody>
                    <a:bodyPr/>
                    <a:lstStyle/>
                    <a:p>
                      <a:pPr algn="ctr">
                        <a:defRPr sz="950">
                          <a:latin typeface="Arial"/>
                        </a:defRPr>
                      </a:pPr>
                      <a:r>
                        <a:t>5 a 8 min (sistemas lentos)</a:t>
                      </a:r>
                    </a:p>
                  </a:txBody>
                  <a:tcPr>
                    <a:solidFill>
                      <a:srgbClr val="FFFFFF"/>
                    </a:solidFill>
                  </a:tcPr>
                </a:tc>
                <a:tc>
                  <a:txBody>
                    <a:bodyPr/>
                    <a:lstStyle/>
                    <a:p>
                      <a:pPr algn="ctr">
                        <a:defRPr sz="950">
                          <a:latin typeface="Arial"/>
                        </a:defRPr>
                      </a:pPr>
                      <a:r>
                        <a:t>1 a 2 min (requiere escáner)</a:t>
                      </a:r>
                    </a:p>
                  </a:txBody>
                  <a:tcPr>
                    <a:solidFill>
                      <a:srgbClr val="FFFFFF"/>
                    </a:solidFill>
                  </a:tcPr>
                </a:tc>
                <a:tc>
                  <a:txBody>
                    <a:bodyPr/>
                    <a:lstStyle/>
                    <a:p>
                      <a:pPr algn="ctr">
                        <a:defRPr sz="950" b="1">
                          <a:solidFill>
                            <a:srgbClr val="2E7D57"/>
                          </a:solidFill>
                          <a:latin typeface="Arial"/>
                        </a:defRPr>
                      </a:pPr>
                      <a:r>
                        <a:t>&lt; 30 segundos (Escaneo QR)</a:t>
                      </a:r>
                    </a:p>
                  </a:txBody>
                  <a:tcPr>
                    <a:solidFill>
                      <a:srgbClr val="E6F5EB"/>
                    </a:solidFill>
                  </a:tcPr>
                </a:tc>
              </a:tr>
              <a:tr h="822960">
                <a:tc>
                  <a:txBody>
                    <a:bodyPr/>
                    <a:lstStyle/>
                    <a:p>
                      <a:pPr algn="l">
                        <a:defRPr sz="950" b="1">
                          <a:latin typeface="Arial"/>
                        </a:defRPr>
                      </a:pPr>
                      <a:r>
                        <a:t>Validez Jurídica de Firma</a:t>
                      </a:r>
                    </a:p>
                  </a:txBody>
                  <a:tcPr>
                    <a:solidFill>
                      <a:srgbClr val="FFFFFF"/>
                    </a:solidFill>
                  </a:tcPr>
                </a:tc>
                <a:tc>
                  <a:txBody>
                    <a:bodyPr/>
                    <a:lstStyle/>
                    <a:p>
                      <a:pPr algn="ctr">
                        <a:defRPr sz="950">
                          <a:latin typeface="Arial"/>
                        </a:defRPr>
                      </a:pPr>
                      <a:r>
                        <a:t>Nula ante auditorías</a:t>
                      </a:r>
                    </a:p>
                  </a:txBody>
                  <a:tcPr>
                    <a:solidFill>
                      <a:srgbClr val="FFFFFF"/>
                    </a:solidFill>
                  </a:tcPr>
                </a:tc>
                <a:tc>
                  <a:txBody>
                    <a:bodyPr/>
                    <a:lstStyle/>
                    <a:p>
                      <a:pPr algn="ctr">
                        <a:defRPr sz="950">
                          <a:latin typeface="Arial"/>
                        </a:defRPr>
                      </a:pPr>
                      <a:r>
                        <a:t>Básica (solo registro web)</a:t>
                      </a:r>
                    </a:p>
                  </a:txBody>
                  <a:tcPr>
                    <a:solidFill>
                      <a:srgbClr val="FFFFFF"/>
                    </a:solidFill>
                  </a:tcPr>
                </a:tc>
                <a:tc>
                  <a:txBody>
                    <a:bodyPr/>
                    <a:lstStyle/>
                    <a:p>
                      <a:pPr algn="ctr">
                        <a:defRPr sz="950">
                          <a:latin typeface="Arial"/>
                        </a:defRPr>
                      </a:pPr>
                      <a:r>
                        <a:t>Válida (cotizada en dólares)</a:t>
                      </a:r>
                    </a:p>
                  </a:txBody>
                  <a:tcPr>
                    <a:solidFill>
                      <a:srgbClr val="FFFFFF"/>
                    </a:solidFill>
                  </a:tcPr>
                </a:tc>
                <a:tc>
                  <a:txBody>
                    <a:bodyPr/>
                    <a:lstStyle/>
                    <a:p>
                      <a:pPr algn="ctr">
                        <a:defRPr sz="950" b="1">
                          <a:solidFill>
                            <a:srgbClr val="2E7D57"/>
                          </a:solidFill>
                          <a:latin typeface="Arial"/>
                        </a:defRPr>
                      </a:pPr>
                      <a:r>
                        <a:t>Acta digital PDF con hash criptográfico</a:t>
                      </a:r>
                    </a:p>
                  </a:txBody>
                  <a:tcPr>
                    <a:solidFill>
                      <a:srgbClr val="E6F5EB"/>
                    </a:solidFill>
                  </a:tcPr>
                </a:tc>
              </a:tr>
              <a:tr h="822960">
                <a:tc>
                  <a:txBody>
                    <a:bodyPr/>
                    <a:lstStyle/>
                    <a:p>
                      <a:pPr algn="l">
                        <a:defRPr sz="950" b="1">
                          <a:latin typeface="Arial"/>
                        </a:defRPr>
                      </a:pPr>
                      <a:r>
                        <a:t>Incentivos y Reputación</a:t>
                      </a:r>
                    </a:p>
                  </a:txBody>
                  <a:tcPr>
                    <a:solidFill>
                      <a:srgbClr val="FFFFFF"/>
                    </a:solidFill>
                  </a:tcPr>
                </a:tc>
                <a:tc>
                  <a:txBody>
                    <a:bodyPr/>
                    <a:lstStyle/>
                    <a:p>
                      <a:pPr algn="ctr">
                        <a:defRPr sz="950">
                          <a:latin typeface="Arial"/>
                        </a:defRPr>
                      </a:pPr>
                      <a:r>
                        <a:t>Inexistente</a:t>
                      </a:r>
                    </a:p>
                  </a:txBody>
                  <a:tcPr>
                    <a:solidFill>
                      <a:srgbClr val="FFFFFF"/>
                    </a:solidFill>
                  </a:tcPr>
                </a:tc>
                <a:tc>
                  <a:txBody>
                    <a:bodyPr/>
                    <a:lstStyle/>
                    <a:p>
                      <a:pPr algn="ctr">
                        <a:defRPr sz="950">
                          <a:latin typeface="Arial"/>
                        </a:defRPr>
                      </a:pPr>
                      <a:r>
                        <a:t>Solo sanciones manuales</a:t>
                      </a:r>
                    </a:p>
                  </a:txBody>
                  <a:tcPr>
                    <a:solidFill>
                      <a:srgbClr val="FFFFFF"/>
                    </a:solidFill>
                  </a:tcPr>
                </a:tc>
                <a:tc>
                  <a:txBody>
                    <a:bodyPr/>
                    <a:lstStyle/>
                    <a:p>
                      <a:pPr algn="ctr">
                        <a:defRPr sz="950">
                          <a:latin typeface="Arial"/>
                        </a:defRPr>
                      </a:pPr>
                      <a:r>
                        <a:t>Incentivos no aplicables a UdeG</a:t>
                      </a:r>
                    </a:p>
                  </a:txBody>
                  <a:tcPr>
                    <a:solidFill>
                      <a:srgbClr val="FFFFFF"/>
                    </a:solidFill>
                  </a:tcPr>
                </a:tc>
                <a:tc>
                  <a:txBody>
                    <a:bodyPr/>
                    <a:lstStyle/>
                    <a:p>
                      <a:pPr algn="ctr">
                        <a:defRPr sz="950" b="1">
                          <a:solidFill>
                            <a:srgbClr val="2E7D57"/>
                          </a:solidFill>
                          <a:latin typeface="Arial"/>
                        </a:defRPr>
                      </a:pPr>
                      <a:r>
                        <a:t>Scoring algorítmico por usuario</a:t>
                      </a:r>
                    </a:p>
                  </a:txBody>
                  <a:tcPr>
                    <a:solidFill>
                      <a:srgbClr val="E6F5EB"/>
                    </a:solidFill>
                  </a:tcPr>
                </a:tc>
              </a:tr>
              <a:tr h="822960">
                <a:tc>
                  <a:txBody>
                    <a:bodyPr/>
                    <a:lstStyle/>
                    <a:p>
                      <a:pPr algn="l">
                        <a:defRPr sz="950" b="1">
                          <a:latin typeface="Arial"/>
                        </a:defRPr>
                      </a:pPr>
                      <a:r>
                        <a:t>Esquema de Contratación</a:t>
                      </a:r>
                    </a:p>
                  </a:txBody>
                  <a:tcPr>
                    <a:solidFill>
                      <a:srgbClr val="FFFFFF"/>
                    </a:solidFill>
                  </a:tcPr>
                </a:tc>
                <a:tc>
                  <a:txBody>
                    <a:bodyPr/>
                    <a:lstStyle/>
                    <a:p>
                      <a:pPr algn="ctr">
                        <a:defRPr sz="950">
                          <a:latin typeface="Arial"/>
                        </a:defRPr>
                      </a:pPr>
                      <a:r>
                        <a:t>Gasto corriente en papel</a:t>
                      </a:r>
                    </a:p>
                  </a:txBody>
                  <a:tcPr>
                    <a:solidFill>
                      <a:srgbClr val="FFFFFF"/>
                    </a:solidFill>
                  </a:tcPr>
                </a:tc>
                <a:tc>
                  <a:txBody>
                    <a:bodyPr/>
                    <a:lstStyle/>
                    <a:p>
                      <a:pPr algn="ctr">
                        <a:defRPr sz="950">
                          <a:latin typeface="Arial"/>
                        </a:defRPr>
                      </a:pPr>
                      <a:r>
                        <a:t>Desarrollo interno congelado</a:t>
                      </a:r>
                    </a:p>
                  </a:txBody>
                  <a:tcPr>
                    <a:solidFill>
                      <a:srgbClr val="FFFFFF"/>
                    </a:solidFill>
                  </a:tcPr>
                </a:tc>
                <a:tc>
                  <a:txBody>
                    <a:bodyPr/>
                    <a:lstStyle/>
                    <a:p>
                      <a:pPr algn="ctr">
                        <a:defRPr sz="950">
                          <a:latin typeface="Arial"/>
                        </a:defRPr>
                      </a:pPr>
                      <a:r>
                        <a:t>Licitación compleja y cara</a:t>
                      </a:r>
                    </a:p>
                  </a:txBody>
                  <a:tcPr>
                    <a:solidFill>
                      <a:srgbClr val="FFFFFF"/>
                    </a:solidFill>
                  </a:tcPr>
                </a:tc>
                <a:tc>
                  <a:txBody>
                    <a:bodyPr/>
                    <a:lstStyle/>
                    <a:p>
                      <a:pPr algn="ctr">
                        <a:defRPr sz="950" b="1">
                          <a:solidFill>
                            <a:srgbClr val="2E7D57"/>
                          </a:solidFill>
                          <a:latin typeface="Arial"/>
                        </a:defRPr>
                      </a:pPr>
                      <a:r>
                        <a:t>Adjudicación directa sin burocracia</a:t>
                      </a:r>
                    </a:p>
                  </a:txBody>
                  <a:tcPr>
                    <a:solidFill>
                      <a:srgbClr val="E6F5E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Plan de Servicio Operativo: Flujo de 5 Pasos en Ventanilla</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6 / 12</a:t>
            </a:r>
          </a:p>
        </p:txBody>
      </p:sp>
      <p:sp>
        <p:nvSpPr>
          <p:cNvPr id="7" name="Rounded Rectangle 6"/>
          <p:cNvSpPr/>
          <p:nvPr/>
        </p:nvSpPr>
        <p:spPr>
          <a:xfrm>
            <a:off x="548640" y="1371600"/>
            <a:ext cx="2066543"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p>
          <a:p>
            <a:pPr>
              <a:spcAft>
                <a:spcPts val="800"/>
              </a:spcAft>
              <a:defRPr sz="1000" b="1">
                <a:solidFill>
                  <a:srgbClr val="2E7D57"/>
                </a:solidFill>
                <a:latin typeface="Arial"/>
              </a:defRPr>
            </a:pPr>
            <a:r>
              <a:t>Pre-reserva y Módulo Anti-empalmes</a:t>
            </a:r>
          </a:p>
          <a:p>
            <a:pPr>
              <a:defRPr sz="950">
                <a:solidFill>
                  <a:srgbClr val="212529"/>
                </a:solidFill>
                <a:latin typeface="Arial"/>
              </a:defRPr>
            </a:pPr>
            <a:r>
              <a:t>El alumno solicita el bien o aula desde la web. El motor verifica automáticamente que no haya empalmes de horario.</a:t>
            </a:r>
          </a:p>
        </p:txBody>
      </p:sp>
      <p:sp>
        <p:nvSpPr>
          <p:cNvPr id="8" name="Rectangle 7"/>
          <p:cNvSpPr/>
          <p:nvPr/>
        </p:nvSpPr>
        <p:spPr>
          <a:xfrm>
            <a:off x="548640" y="1371600"/>
            <a:ext cx="2066543" cy="54864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Paso 1: Solicitud Web</a:t>
            </a:r>
          </a:p>
        </p:txBody>
      </p:sp>
      <p:sp>
        <p:nvSpPr>
          <p:cNvPr id="9" name="Rounded Rectangle 8"/>
          <p:cNvSpPr/>
          <p:nvPr/>
        </p:nvSpPr>
        <p:spPr>
          <a:xfrm>
            <a:off x="2798063" y="1371600"/>
            <a:ext cx="2066543"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p>
          <a:p>
            <a:pPr>
              <a:spcAft>
                <a:spcPts val="800"/>
              </a:spcAft>
              <a:defRPr sz="1000" b="1">
                <a:solidFill>
                  <a:srgbClr val="2E7D57"/>
                </a:solidFill>
                <a:latin typeface="Arial"/>
              </a:defRPr>
            </a:pPr>
            <a:r>
              <a:t>Emisión de Código Cifrado Dinámico</a:t>
            </a:r>
          </a:p>
          <a:p>
            <a:pPr>
              <a:defRPr sz="950">
                <a:solidFill>
                  <a:srgbClr val="212529"/>
                </a:solidFill>
                <a:latin typeface="Arial"/>
              </a:defRPr>
            </a:pPr>
            <a:r>
              <a:t>Se genera un ticket digital con token QR temporal de 15 min, blindado contra capturas de pantalla apócrifas.</a:t>
            </a:r>
          </a:p>
        </p:txBody>
      </p:sp>
      <p:sp>
        <p:nvSpPr>
          <p:cNvPr id="10" name="Rectangle 9"/>
          <p:cNvSpPr/>
          <p:nvPr/>
        </p:nvSpPr>
        <p:spPr>
          <a:xfrm>
            <a:off x="2798063" y="1371600"/>
            <a:ext cx="2066543" cy="54864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Paso 2: Token QR</a:t>
            </a:r>
          </a:p>
        </p:txBody>
      </p:sp>
      <p:sp>
        <p:nvSpPr>
          <p:cNvPr id="11" name="Rounded Rectangle 10"/>
          <p:cNvSpPr/>
          <p:nvPr/>
        </p:nvSpPr>
        <p:spPr>
          <a:xfrm>
            <a:off x="5047486" y="1371600"/>
            <a:ext cx="2066543"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p>
          <a:p>
            <a:pPr>
              <a:spcAft>
                <a:spcPts val="800"/>
              </a:spcAft>
              <a:defRPr sz="1000" b="1">
                <a:solidFill>
                  <a:srgbClr val="2E7D57"/>
                </a:solidFill>
                <a:latin typeface="Arial"/>
              </a:defRPr>
            </a:pPr>
            <a:r>
              <a:t>Despacho y Doble Checklist Físico</a:t>
            </a:r>
          </a:p>
          <a:p>
            <a:pPr>
              <a:defRPr sz="950">
                <a:solidFill>
                  <a:srgbClr val="212529"/>
                </a:solidFill>
                <a:latin typeface="Arial"/>
              </a:defRPr>
            </a:pPr>
            <a:r>
              <a:t>El operador escanea el QR en ventanilla en menos de 30 s, cotejando accesorios físicos en pantalla.</a:t>
            </a:r>
          </a:p>
        </p:txBody>
      </p:sp>
      <p:sp>
        <p:nvSpPr>
          <p:cNvPr id="12" name="Rectangle 11"/>
          <p:cNvSpPr/>
          <p:nvPr/>
        </p:nvSpPr>
        <p:spPr>
          <a:xfrm>
            <a:off x="5047486" y="1371600"/>
            <a:ext cx="2066543" cy="54864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Paso 3: Ventanilla</a:t>
            </a:r>
          </a:p>
        </p:txBody>
      </p:sp>
      <p:sp>
        <p:nvSpPr>
          <p:cNvPr id="13" name="Rounded Rectangle 12"/>
          <p:cNvSpPr/>
          <p:nvPr/>
        </p:nvSpPr>
        <p:spPr>
          <a:xfrm>
            <a:off x="7296909" y="1371600"/>
            <a:ext cx="2066543"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p>
          <a:p>
            <a:pPr>
              <a:spcAft>
                <a:spcPts val="800"/>
              </a:spcAft>
              <a:defRPr sz="1000" b="1">
                <a:solidFill>
                  <a:srgbClr val="2E7D57"/>
                </a:solidFill>
                <a:latin typeface="Arial"/>
              </a:defRPr>
            </a:pPr>
            <a:r>
              <a:t>Generación de PDF con Validez Legal</a:t>
            </a:r>
          </a:p>
          <a:p>
            <a:pPr>
              <a:defRPr sz="950">
                <a:solidFill>
                  <a:srgbClr val="212529"/>
                </a:solidFill>
                <a:latin typeface="Arial"/>
              </a:defRPr>
            </a:pPr>
            <a:r>
              <a:t>Se compila y sella el acta responsiva en PDF con hash criptográfico y firma digitalizada en la nube.</a:t>
            </a:r>
          </a:p>
        </p:txBody>
      </p:sp>
      <p:sp>
        <p:nvSpPr>
          <p:cNvPr id="14" name="Rectangle 13"/>
          <p:cNvSpPr/>
          <p:nvPr/>
        </p:nvSpPr>
        <p:spPr>
          <a:xfrm>
            <a:off x="7296909" y="1371600"/>
            <a:ext cx="2066543" cy="548640"/>
          </a:xfrm>
          <a:prstGeom prst="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Paso 4: Acta Digital</a:t>
            </a:r>
          </a:p>
        </p:txBody>
      </p:sp>
      <p:sp>
        <p:nvSpPr>
          <p:cNvPr id="15" name="Rounded Rectangle 14"/>
          <p:cNvSpPr/>
          <p:nvPr/>
        </p:nvSpPr>
        <p:spPr>
          <a:xfrm>
            <a:off x="9546332" y="1371600"/>
            <a:ext cx="2066543" cy="4114800"/>
          </a:xfrm>
          <a:prstGeom prst="roundRect">
            <a:avLst/>
          </a:prstGeom>
          <a:solidFill>
            <a:srgbClr val="FFFFFF"/>
          </a:solidFill>
          <a:ln w="19050">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a:pPr>
          </a:p>
          <a:p>
            <a:pPr>
              <a:spcAft>
                <a:spcPts val="800"/>
              </a:spcAft>
              <a:defRPr sz="1000" b="1">
                <a:solidFill>
                  <a:srgbClr val="2E7D57"/>
                </a:solidFill>
                <a:latin typeface="Arial"/>
              </a:defRPr>
            </a:pPr>
            <a:r>
              <a:t>Cierre de Folio y Scoring de Alumno</a:t>
            </a:r>
          </a:p>
          <a:p>
            <a:pPr>
              <a:defRPr sz="950">
                <a:solidFill>
                  <a:srgbClr val="212529"/>
                </a:solidFill>
                <a:latin typeface="Arial"/>
              </a:defRPr>
            </a:pPr>
            <a:r>
              <a:t>Al retornar el bien, el folio se cierra sin libretas y el sistema actualiza la reputación del solicitante.</a:t>
            </a:r>
          </a:p>
        </p:txBody>
      </p:sp>
      <p:sp>
        <p:nvSpPr>
          <p:cNvPr id="16" name="Rectangle 15"/>
          <p:cNvSpPr/>
          <p:nvPr/>
        </p:nvSpPr>
        <p:spPr>
          <a:xfrm>
            <a:off x="9546332" y="1371600"/>
            <a:ext cx="2066543" cy="54864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Paso 5: Devolución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Cronograma de Actividades (Gantt) y Ruta Crítica [RC]</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7 / 12</a:t>
            </a:r>
          </a:p>
        </p:txBody>
      </p:sp>
      <p:graphicFrame>
        <p:nvGraphicFramePr>
          <p:cNvPr id="7" name="Table 6"/>
          <p:cNvGraphicFramePr>
            <a:graphicFrameLocks noGrp="1"/>
          </p:cNvGraphicFramePr>
          <p:nvPr/>
        </p:nvGraphicFramePr>
        <p:xfrm>
          <a:off x="548640" y="1371600"/>
          <a:ext cx="11064240" cy="4114800"/>
        </p:xfrm>
        <a:graphic>
          <a:graphicData uri="http://schemas.openxmlformats.org/drawingml/2006/table">
            <a:tbl>
              <a:tblPr firstRow="1" bandRow="1">
                <a:tableStyleId>{5C22544A-7EE6-4342-B048-85BDC9FD1C3A}</a:tableStyleId>
              </a:tblPr>
              <a:tblGrid>
                <a:gridCol w="1844040"/>
                <a:gridCol w="1844040"/>
                <a:gridCol w="1844040"/>
                <a:gridCol w="1844040"/>
                <a:gridCol w="1844040"/>
                <a:gridCol w="1844040"/>
              </a:tblGrid>
              <a:tr h="457200">
                <a:tc>
                  <a:txBody>
                    <a:bodyPr/>
                    <a:lstStyle/>
                    <a:p>
                      <a:pPr algn="ctr">
                        <a:defRPr sz="1000" b="1">
                          <a:solidFill>
                            <a:srgbClr val="FFFFFF"/>
                          </a:solidFill>
                          <a:latin typeface="Arial"/>
                        </a:defRPr>
                      </a:pPr>
                      <a:r>
                        <a:t>Cód.</a:t>
                      </a:r>
                    </a:p>
                  </a:txBody>
                  <a:tcPr>
                    <a:solidFill>
                      <a:srgbClr val="002B49"/>
                    </a:solidFill>
                  </a:tcPr>
                </a:tc>
                <a:tc>
                  <a:txBody>
                    <a:bodyPr/>
                    <a:lstStyle/>
                    <a:p>
                      <a:pPr algn="ctr">
                        <a:defRPr sz="1000" b="1">
                          <a:solidFill>
                            <a:srgbClr val="FFFFFF"/>
                          </a:solidFill>
                          <a:latin typeface="Arial"/>
                        </a:defRPr>
                      </a:pPr>
                      <a:r>
                        <a:t>Actividad del Proyecto</a:t>
                      </a:r>
                    </a:p>
                  </a:txBody>
                  <a:tcPr>
                    <a:solidFill>
                      <a:srgbClr val="002B49"/>
                    </a:solidFill>
                  </a:tcPr>
                </a:tc>
                <a:tc>
                  <a:txBody>
                    <a:bodyPr/>
                    <a:lstStyle/>
                    <a:p>
                      <a:pPr algn="ctr">
                        <a:defRPr sz="1000" b="1">
                          <a:solidFill>
                            <a:srgbClr val="FFFFFF"/>
                          </a:solidFill>
                          <a:latin typeface="Arial"/>
                        </a:defRPr>
                      </a:pPr>
                      <a:r>
                        <a:t>Duración</a:t>
                      </a:r>
                    </a:p>
                  </a:txBody>
                  <a:tcPr>
                    <a:solidFill>
                      <a:srgbClr val="002B49"/>
                    </a:solidFill>
                  </a:tcPr>
                </a:tc>
                <a:tc>
                  <a:txBody>
                    <a:bodyPr/>
                    <a:lstStyle/>
                    <a:p>
                      <a:pPr algn="ctr">
                        <a:defRPr sz="1000" b="1">
                          <a:solidFill>
                            <a:srgbClr val="FFFFFF"/>
                          </a:solidFill>
                          <a:latin typeface="Arial"/>
                        </a:defRPr>
                      </a:pPr>
                      <a:r>
                        <a:t>Predecesora</a:t>
                      </a:r>
                    </a:p>
                  </a:txBody>
                  <a:tcPr>
                    <a:solidFill>
                      <a:srgbClr val="002B49"/>
                    </a:solidFill>
                  </a:tcPr>
                </a:tc>
                <a:tc>
                  <a:txBody>
                    <a:bodyPr/>
                    <a:lstStyle/>
                    <a:p>
                      <a:pPr algn="ctr">
                        <a:defRPr sz="1000" b="1">
                          <a:solidFill>
                            <a:srgbClr val="FFFFFF"/>
                          </a:solidFill>
                          <a:latin typeface="Arial"/>
                        </a:defRPr>
                      </a:pPr>
                      <a:r>
                        <a:t>Meses de Ejecución</a:t>
                      </a:r>
                    </a:p>
                  </a:txBody>
                  <a:tcPr>
                    <a:solidFill>
                      <a:srgbClr val="002B49"/>
                    </a:solidFill>
                  </a:tcPr>
                </a:tc>
                <a:tc>
                  <a:txBody>
                    <a:bodyPr/>
                    <a:lstStyle/>
                    <a:p>
                      <a:pPr algn="ctr">
                        <a:defRPr sz="1000" b="1">
                          <a:solidFill>
                            <a:srgbClr val="FFFFFF"/>
                          </a:solidFill>
                          <a:latin typeface="Arial"/>
                        </a:defRPr>
                      </a:pPr>
                      <a:r>
                        <a:t>Ruta Crítica [RC]</a:t>
                      </a:r>
                    </a:p>
                  </a:txBody>
                  <a:tcPr>
                    <a:solidFill>
                      <a:srgbClr val="002B49"/>
                    </a:solidFill>
                  </a:tcPr>
                </a:tc>
              </a:tr>
              <a:tr h="457200">
                <a:tc>
                  <a:txBody>
                    <a:bodyPr/>
                    <a:lstStyle/>
                    <a:p>
                      <a:pPr algn="ctr">
                        <a:defRPr sz="950">
                          <a:latin typeface="Arial"/>
                        </a:defRPr>
                      </a:pPr>
                      <a:r>
                        <a:t>A1</a:t>
                      </a:r>
                    </a:p>
                  </a:txBody>
                  <a:tcPr>
                    <a:solidFill>
                      <a:srgbClr val="FFEBEB"/>
                    </a:solidFill>
                  </a:tcPr>
                </a:tc>
                <a:tc>
                  <a:txBody>
                    <a:bodyPr/>
                    <a:lstStyle/>
                    <a:p>
                      <a:pPr algn="l">
                        <a:defRPr sz="950">
                          <a:latin typeface="Arial"/>
                        </a:defRPr>
                      </a:pPr>
                      <a:r>
                        <a:t>Desarrollo del núcleo MVP y arquitectura cloud</a:t>
                      </a:r>
                    </a:p>
                  </a:txBody>
                  <a:tcPr>
                    <a:solidFill>
                      <a:srgbClr val="FFEBEB"/>
                    </a:solidFill>
                  </a:tcPr>
                </a:tc>
                <a:tc>
                  <a:txBody>
                    <a:bodyPr/>
                    <a:lstStyle/>
                    <a:p>
                      <a:pPr algn="ctr">
                        <a:defRPr sz="950">
                          <a:latin typeface="Arial"/>
                        </a:defRPr>
                      </a:pPr>
                      <a:r>
                        <a:t>3 meses</a:t>
                      </a:r>
                    </a:p>
                  </a:txBody>
                  <a:tcPr>
                    <a:solidFill>
                      <a:srgbClr val="FFEBEB"/>
                    </a:solidFill>
                  </a:tcPr>
                </a:tc>
                <a:tc>
                  <a:txBody>
                    <a:bodyPr/>
                    <a:lstStyle/>
                    <a:p>
                      <a:pPr algn="ctr">
                        <a:defRPr sz="950">
                          <a:latin typeface="Arial"/>
                        </a:defRPr>
                      </a:pPr>
                      <a:r>
                        <a:t>Ninguna</a:t>
                      </a:r>
                    </a:p>
                  </a:txBody>
                  <a:tcPr>
                    <a:solidFill>
                      <a:srgbClr val="FFEBEB"/>
                    </a:solidFill>
                  </a:tcPr>
                </a:tc>
                <a:tc>
                  <a:txBody>
                    <a:bodyPr/>
                    <a:lstStyle/>
                    <a:p>
                      <a:pPr algn="ctr">
                        <a:defRPr sz="950">
                          <a:latin typeface="Arial"/>
                        </a:defRPr>
                      </a:pPr>
                      <a:r>
                        <a:t>Mes 1 a Mes 3</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r h="457200">
                <a:tc>
                  <a:txBody>
                    <a:bodyPr/>
                    <a:lstStyle/>
                    <a:p>
                      <a:pPr algn="ctr">
                        <a:defRPr sz="950">
                          <a:latin typeface="Arial"/>
                        </a:defRPr>
                      </a:pPr>
                      <a:r>
                        <a:t>A2</a:t>
                      </a:r>
                    </a:p>
                  </a:txBody>
                  <a:tcPr>
                    <a:solidFill>
                      <a:srgbClr val="FFFFFF"/>
                    </a:solidFill>
                  </a:tcPr>
                </a:tc>
                <a:tc>
                  <a:txBody>
                    <a:bodyPr/>
                    <a:lstStyle/>
                    <a:p>
                      <a:pPr algn="l">
                        <a:defRPr sz="950">
                          <a:latin typeface="Arial"/>
                        </a:defRPr>
                      </a:pPr>
                      <a:r>
                        <a:t>Aviso de Privacidad y Términos de Servicio (LGPDPPSO)</a:t>
                      </a:r>
                    </a:p>
                  </a:txBody>
                  <a:tcPr>
                    <a:solidFill>
                      <a:srgbClr val="FFFFFF"/>
                    </a:solidFill>
                  </a:tcPr>
                </a:tc>
                <a:tc>
                  <a:txBody>
                    <a:bodyPr/>
                    <a:lstStyle/>
                    <a:p>
                      <a:pPr algn="ctr">
                        <a:defRPr sz="950">
                          <a:latin typeface="Arial"/>
                        </a:defRPr>
                      </a:pPr>
                      <a:r>
                        <a:t>2 meses</a:t>
                      </a:r>
                    </a:p>
                  </a:txBody>
                  <a:tcPr>
                    <a:solidFill>
                      <a:srgbClr val="FFFFFF"/>
                    </a:solidFill>
                  </a:tcPr>
                </a:tc>
                <a:tc>
                  <a:txBody>
                    <a:bodyPr/>
                    <a:lstStyle/>
                    <a:p>
                      <a:pPr algn="ctr">
                        <a:defRPr sz="950">
                          <a:latin typeface="Arial"/>
                        </a:defRPr>
                      </a:pPr>
                      <a:r>
                        <a:t>Ninguna</a:t>
                      </a:r>
                    </a:p>
                  </a:txBody>
                  <a:tcPr>
                    <a:solidFill>
                      <a:srgbClr val="FFFFFF"/>
                    </a:solidFill>
                  </a:tcPr>
                </a:tc>
                <a:tc>
                  <a:txBody>
                    <a:bodyPr/>
                    <a:lstStyle/>
                    <a:p>
                      <a:pPr algn="ctr">
                        <a:defRPr sz="950">
                          <a:latin typeface="Arial"/>
                        </a:defRPr>
                      </a:pPr>
                      <a:r>
                        <a:t>Mes 2 y Mes 3</a:t>
                      </a:r>
                    </a:p>
                  </a:txBody>
                  <a:tcPr>
                    <a:solidFill>
                      <a:srgbClr val="FFFFFF"/>
                    </a:solidFill>
                  </a:tcPr>
                </a:tc>
                <a:tc>
                  <a:txBody>
                    <a:bodyPr/>
                    <a:lstStyle/>
                    <a:p>
                      <a:pPr algn="ctr">
                        <a:defRPr sz="950">
                          <a:latin typeface="Arial"/>
                        </a:defRPr>
                      </a:pPr>
                      <a:r>
                        <a:t>NO (Holgura: 1m)</a:t>
                      </a:r>
                    </a:p>
                  </a:txBody>
                  <a:tcPr>
                    <a:solidFill>
                      <a:srgbClr val="FFFFFF"/>
                    </a:solidFill>
                  </a:tcPr>
                </a:tc>
              </a:tr>
              <a:tr h="457200">
                <a:tc>
                  <a:txBody>
                    <a:bodyPr/>
                    <a:lstStyle/>
                    <a:p>
                      <a:pPr algn="ctr">
                        <a:defRPr sz="950">
                          <a:latin typeface="Arial"/>
                        </a:defRPr>
                      </a:pPr>
                      <a:r>
                        <a:t>A3</a:t>
                      </a:r>
                    </a:p>
                  </a:txBody>
                  <a:tcPr>
                    <a:solidFill>
                      <a:srgbClr val="FFEBEB"/>
                    </a:solidFill>
                  </a:tcPr>
                </a:tc>
                <a:tc>
                  <a:txBody>
                    <a:bodyPr/>
                    <a:lstStyle/>
                    <a:p>
                      <a:pPr algn="l">
                        <a:defRPr sz="950">
                          <a:latin typeface="Arial"/>
                        </a:defRPr>
                      </a:pPr>
                      <a:r>
                        <a:t>Gestión de anuencia y acuerdo de prueba piloto CUTonalá</a:t>
                      </a:r>
                    </a:p>
                  </a:txBody>
                  <a:tcPr>
                    <a:solidFill>
                      <a:srgbClr val="FFEBEB"/>
                    </a:solidFill>
                  </a:tcPr>
                </a:tc>
                <a:tc>
                  <a:txBody>
                    <a:bodyPr/>
                    <a:lstStyle/>
                    <a:p>
                      <a:pPr algn="ctr">
                        <a:defRPr sz="950">
                          <a:latin typeface="Arial"/>
                        </a:defRPr>
                      </a:pPr>
                      <a:r>
                        <a:t>2 meses</a:t>
                      </a:r>
                    </a:p>
                  </a:txBody>
                  <a:tcPr>
                    <a:solidFill>
                      <a:srgbClr val="FFEBEB"/>
                    </a:solidFill>
                  </a:tcPr>
                </a:tc>
                <a:tc>
                  <a:txBody>
                    <a:bodyPr/>
                    <a:lstStyle/>
                    <a:p>
                      <a:pPr algn="ctr">
                        <a:defRPr sz="950">
                          <a:latin typeface="Arial"/>
                        </a:defRPr>
                      </a:pPr>
                      <a:r>
                        <a:t>A1, A2</a:t>
                      </a:r>
                    </a:p>
                  </a:txBody>
                  <a:tcPr>
                    <a:solidFill>
                      <a:srgbClr val="FFEBEB"/>
                    </a:solidFill>
                  </a:tcPr>
                </a:tc>
                <a:tc>
                  <a:txBody>
                    <a:bodyPr/>
                    <a:lstStyle/>
                    <a:p>
                      <a:pPr algn="ctr">
                        <a:defRPr sz="950">
                          <a:latin typeface="Arial"/>
                        </a:defRPr>
                      </a:pPr>
                      <a:r>
                        <a:t>Mes 3 y Mes 4</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r h="457200">
                <a:tc>
                  <a:txBody>
                    <a:bodyPr/>
                    <a:lstStyle/>
                    <a:p>
                      <a:pPr algn="ctr">
                        <a:defRPr sz="950">
                          <a:latin typeface="Arial"/>
                        </a:defRPr>
                      </a:pPr>
                      <a:r>
                        <a:t>A4</a:t>
                      </a:r>
                    </a:p>
                  </a:txBody>
                  <a:tcPr>
                    <a:solidFill>
                      <a:srgbClr val="FFEBEB"/>
                    </a:solidFill>
                  </a:tcPr>
                </a:tc>
                <a:tc>
                  <a:txBody>
                    <a:bodyPr/>
                    <a:lstStyle/>
                    <a:p>
                      <a:pPr algn="l">
                        <a:defRPr sz="950">
                          <a:latin typeface="Arial"/>
                        </a:defRPr>
                      </a:pPr>
                      <a:r>
                        <a:t>Despliegue y pruebas de campo en ventanillas CUTonalá</a:t>
                      </a:r>
                    </a:p>
                  </a:txBody>
                  <a:tcPr>
                    <a:solidFill>
                      <a:srgbClr val="FFEBEB"/>
                    </a:solidFill>
                  </a:tcPr>
                </a:tc>
                <a:tc>
                  <a:txBody>
                    <a:bodyPr/>
                    <a:lstStyle/>
                    <a:p>
                      <a:pPr algn="ctr">
                        <a:defRPr sz="950">
                          <a:latin typeface="Arial"/>
                        </a:defRPr>
                      </a:pPr>
                      <a:r>
                        <a:t>3 meses</a:t>
                      </a:r>
                    </a:p>
                  </a:txBody>
                  <a:tcPr>
                    <a:solidFill>
                      <a:srgbClr val="FFEBEB"/>
                    </a:solidFill>
                  </a:tcPr>
                </a:tc>
                <a:tc>
                  <a:txBody>
                    <a:bodyPr/>
                    <a:lstStyle/>
                    <a:p>
                      <a:pPr algn="ctr">
                        <a:defRPr sz="950">
                          <a:latin typeface="Arial"/>
                        </a:defRPr>
                      </a:pPr>
                      <a:r>
                        <a:t>A3</a:t>
                      </a:r>
                    </a:p>
                  </a:txBody>
                  <a:tcPr>
                    <a:solidFill>
                      <a:srgbClr val="FFEBEB"/>
                    </a:solidFill>
                  </a:tcPr>
                </a:tc>
                <a:tc>
                  <a:txBody>
                    <a:bodyPr/>
                    <a:lstStyle/>
                    <a:p>
                      <a:pPr algn="ctr">
                        <a:defRPr sz="950">
                          <a:latin typeface="Arial"/>
                        </a:defRPr>
                      </a:pPr>
                      <a:r>
                        <a:t>Mes 4 a Mes 6</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r h="457200">
                <a:tc>
                  <a:txBody>
                    <a:bodyPr/>
                    <a:lstStyle/>
                    <a:p>
                      <a:pPr algn="ctr">
                        <a:defRPr sz="950">
                          <a:latin typeface="Arial"/>
                        </a:defRPr>
                      </a:pPr>
                      <a:r>
                        <a:t>A5</a:t>
                      </a:r>
                    </a:p>
                  </a:txBody>
                  <a:tcPr>
                    <a:solidFill>
                      <a:srgbClr val="FFEBEB"/>
                    </a:solidFill>
                  </a:tcPr>
                </a:tc>
                <a:tc>
                  <a:txBody>
                    <a:bodyPr/>
                    <a:lstStyle/>
                    <a:p>
                      <a:pPr algn="l">
                        <a:defRPr sz="950">
                          <a:latin typeface="Arial"/>
                        </a:defRPr>
                      </a:pPr>
                      <a:r>
                        <a:t>Depuración, optimización de nube y pulido de software</a:t>
                      </a:r>
                    </a:p>
                  </a:txBody>
                  <a:tcPr>
                    <a:solidFill>
                      <a:srgbClr val="FFEBEB"/>
                    </a:solidFill>
                  </a:tcPr>
                </a:tc>
                <a:tc>
                  <a:txBody>
                    <a:bodyPr/>
                    <a:lstStyle/>
                    <a:p>
                      <a:pPr algn="ctr">
                        <a:defRPr sz="950">
                          <a:latin typeface="Arial"/>
                        </a:defRPr>
                      </a:pPr>
                      <a:r>
                        <a:t>2 meses</a:t>
                      </a:r>
                    </a:p>
                  </a:txBody>
                  <a:tcPr>
                    <a:solidFill>
                      <a:srgbClr val="FFEBEB"/>
                    </a:solidFill>
                  </a:tcPr>
                </a:tc>
                <a:tc>
                  <a:txBody>
                    <a:bodyPr/>
                    <a:lstStyle/>
                    <a:p>
                      <a:pPr algn="ctr">
                        <a:defRPr sz="950">
                          <a:latin typeface="Arial"/>
                        </a:defRPr>
                      </a:pPr>
                      <a:r>
                        <a:t>A4</a:t>
                      </a:r>
                    </a:p>
                  </a:txBody>
                  <a:tcPr>
                    <a:solidFill>
                      <a:srgbClr val="FFEBEB"/>
                    </a:solidFill>
                  </a:tcPr>
                </a:tc>
                <a:tc>
                  <a:txBody>
                    <a:bodyPr/>
                    <a:lstStyle/>
                    <a:p>
                      <a:pPr algn="ctr">
                        <a:defRPr sz="950">
                          <a:latin typeface="Arial"/>
                        </a:defRPr>
                      </a:pPr>
                      <a:r>
                        <a:t>Mes 6 y Mes 7</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r h="457200">
                <a:tc>
                  <a:txBody>
                    <a:bodyPr/>
                    <a:lstStyle/>
                    <a:p>
                      <a:pPr algn="ctr">
                        <a:defRPr sz="950">
                          <a:latin typeface="Arial"/>
                        </a:defRPr>
                      </a:pPr>
                      <a:r>
                        <a:t>A6</a:t>
                      </a:r>
                    </a:p>
                  </a:txBody>
                  <a:tcPr>
                    <a:solidFill>
                      <a:srgbClr val="FFEBEB"/>
                    </a:solidFill>
                  </a:tcPr>
                </a:tc>
                <a:tc>
                  <a:txBody>
                    <a:bodyPr/>
                    <a:lstStyle/>
                    <a:p>
                      <a:pPr algn="l">
                        <a:defRPr sz="950">
                          <a:latin typeface="Arial"/>
                        </a:defRPr>
                      </a:pPr>
                      <a:r>
                        <a:t>Formalización del contrato anual de servicio en CUTonalá</a:t>
                      </a:r>
                    </a:p>
                  </a:txBody>
                  <a:tcPr>
                    <a:solidFill>
                      <a:srgbClr val="FFEBEB"/>
                    </a:solidFill>
                  </a:tcPr>
                </a:tc>
                <a:tc>
                  <a:txBody>
                    <a:bodyPr/>
                    <a:lstStyle/>
                    <a:p>
                      <a:pPr algn="ctr">
                        <a:defRPr sz="950">
                          <a:latin typeface="Arial"/>
                        </a:defRPr>
                      </a:pPr>
                      <a:r>
                        <a:t>2 meses</a:t>
                      </a:r>
                    </a:p>
                  </a:txBody>
                  <a:tcPr>
                    <a:solidFill>
                      <a:srgbClr val="FFEBEB"/>
                    </a:solidFill>
                  </a:tcPr>
                </a:tc>
                <a:tc>
                  <a:txBody>
                    <a:bodyPr/>
                    <a:lstStyle/>
                    <a:p>
                      <a:pPr algn="ctr">
                        <a:defRPr sz="950">
                          <a:latin typeface="Arial"/>
                        </a:defRPr>
                      </a:pPr>
                      <a:r>
                        <a:t>A5</a:t>
                      </a:r>
                    </a:p>
                  </a:txBody>
                  <a:tcPr>
                    <a:solidFill>
                      <a:srgbClr val="FFEBEB"/>
                    </a:solidFill>
                  </a:tcPr>
                </a:tc>
                <a:tc>
                  <a:txBody>
                    <a:bodyPr/>
                    <a:lstStyle/>
                    <a:p>
                      <a:pPr algn="ctr">
                        <a:defRPr sz="950">
                          <a:latin typeface="Arial"/>
                        </a:defRPr>
                      </a:pPr>
                      <a:r>
                        <a:t>Mes 7 y Mes 8</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r h="457200">
                <a:tc>
                  <a:txBody>
                    <a:bodyPr/>
                    <a:lstStyle/>
                    <a:p>
                      <a:pPr algn="ctr">
                        <a:defRPr sz="950">
                          <a:latin typeface="Arial"/>
                        </a:defRPr>
                      </a:pPr>
                      <a:r>
                        <a:t>A7</a:t>
                      </a:r>
                    </a:p>
                  </a:txBody>
                  <a:tcPr>
                    <a:solidFill>
                      <a:srgbClr val="FFFFFF"/>
                    </a:solidFill>
                  </a:tcPr>
                </a:tc>
                <a:tc>
                  <a:txBody>
                    <a:bodyPr/>
                    <a:lstStyle/>
                    <a:p>
                      <a:pPr algn="l">
                        <a:defRPr sz="950">
                          <a:latin typeface="Arial"/>
                        </a:defRPr>
                      </a:pPr>
                      <a:r>
                        <a:t>Depósito formal de derechos de autor (INDAUTOR)</a:t>
                      </a:r>
                    </a:p>
                  </a:txBody>
                  <a:tcPr>
                    <a:solidFill>
                      <a:srgbClr val="FFFFFF"/>
                    </a:solidFill>
                  </a:tcPr>
                </a:tc>
                <a:tc>
                  <a:txBody>
                    <a:bodyPr/>
                    <a:lstStyle/>
                    <a:p>
                      <a:pPr algn="ctr">
                        <a:defRPr sz="950">
                          <a:latin typeface="Arial"/>
                        </a:defRPr>
                      </a:pPr>
                      <a:r>
                        <a:t>3 meses</a:t>
                      </a:r>
                    </a:p>
                  </a:txBody>
                  <a:tcPr>
                    <a:solidFill>
                      <a:srgbClr val="FFFFFF"/>
                    </a:solidFill>
                  </a:tcPr>
                </a:tc>
                <a:tc>
                  <a:txBody>
                    <a:bodyPr/>
                    <a:lstStyle/>
                    <a:p>
                      <a:pPr algn="ctr">
                        <a:defRPr sz="950">
                          <a:latin typeface="Arial"/>
                        </a:defRPr>
                      </a:pPr>
                      <a:r>
                        <a:t>A5</a:t>
                      </a:r>
                    </a:p>
                  </a:txBody>
                  <a:tcPr>
                    <a:solidFill>
                      <a:srgbClr val="FFFFFF"/>
                    </a:solidFill>
                  </a:tcPr>
                </a:tc>
                <a:tc>
                  <a:txBody>
                    <a:bodyPr/>
                    <a:lstStyle/>
                    <a:p>
                      <a:pPr algn="ctr">
                        <a:defRPr sz="950">
                          <a:latin typeface="Arial"/>
                        </a:defRPr>
                      </a:pPr>
                      <a:r>
                        <a:t>Mes 8 a Mes 10</a:t>
                      </a:r>
                    </a:p>
                  </a:txBody>
                  <a:tcPr>
                    <a:solidFill>
                      <a:srgbClr val="FFFFFF"/>
                    </a:solidFill>
                  </a:tcPr>
                </a:tc>
                <a:tc>
                  <a:txBody>
                    <a:bodyPr/>
                    <a:lstStyle/>
                    <a:p>
                      <a:pPr algn="ctr">
                        <a:defRPr sz="950">
                          <a:latin typeface="Arial"/>
                        </a:defRPr>
                      </a:pPr>
                      <a:r>
                        <a:t>NO (Holgura: 2m)</a:t>
                      </a:r>
                    </a:p>
                  </a:txBody>
                  <a:tcPr>
                    <a:solidFill>
                      <a:srgbClr val="FFFFFF"/>
                    </a:solidFill>
                  </a:tcPr>
                </a:tc>
              </a:tr>
              <a:tr h="457200">
                <a:tc>
                  <a:txBody>
                    <a:bodyPr/>
                    <a:lstStyle/>
                    <a:p>
                      <a:pPr algn="ctr">
                        <a:defRPr sz="950">
                          <a:latin typeface="Arial"/>
                        </a:defRPr>
                      </a:pPr>
                      <a:r>
                        <a:t>A8</a:t>
                      </a:r>
                    </a:p>
                  </a:txBody>
                  <a:tcPr>
                    <a:solidFill>
                      <a:srgbClr val="FFEBEB"/>
                    </a:solidFill>
                  </a:tcPr>
                </a:tc>
                <a:tc>
                  <a:txBody>
                    <a:bodyPr/>
                    <a:lstStyle/>
                    <a:p>
                      <a:pPr algn="l">
                        <a:defRPr sz="950">
                          <a:latin typeface="Arial"/>
                        </a:defRPr>
                      </a:pPr>
                      <a:r>
                        <a:t>Soporte continuo y preparación de réplica a CUCEI</a:t>
                      </a:r>
                    </a:p>
                  </a:txBody>
                  <a:tcPr>
                    <a:solidFill>
                      <a:srgbClr val="FFEBEB"/>
                    </a:solidFill>
                  </a:tcPr>
                </a:tc>
                <a:tc>
                  <a:txBody>
                    <a:bodyPr/>
                    <a:lstStyle/>
                    <a:p>
                      <a:pPr algn="ctr">
                        <a:defRPr sz="950">
                          <a:latin typeface="Arial"/>
                        </a:defRPr>
                      </a:pPr>
                      <a:r>
                        <a:t>4 meses</a:t>
                      </a:r>
                    </a:p>
                  </a:txBody>
                  <a:tcPr>
                    <a:solidFill>
                      <a:srgbClr val="FFEBEB"/>
                    </a:solidFill>
                  </a:tcPr>
                </a:tc>
                <a:tc>
                  <a:txBody>
                    <a:bodyPr/>
                    <a:lstStyle/>
                    <a:p>
                      <a:pPr algn="ctr">
                        <a:defRPr sz="950">
                          <a:latin typeface="Arial"/>
                        </a:defRPr>
                      </a:pPr>
                      <a:r>
                        <a:t>A6</a:t>
                      </a:r>
                    </a:p>
                  </a:txBody>
                  <a:tcPr>
                    <a:solidFill>
                      <a:srgbClr val="FFEBEB"/>
                    </a:solidFill>
                  </a:tcPr>
                </a:tc>
                <a:tc>
                  <a:txBody>
                    <a:bodyPr/>
                    <a:lstStyle/>
                    <a:p>
                      <a:pPr algn="ctr">
                        <a:defRPr sz="950">
                          <a:latin typeface="Arial"/>
                        </a:defRPr>
                      </a:pPr>
                      <a:r>
                        <a:t>Mes 9 a Mes 12</a:t>
                      </a:r>
                    </a:p>
                  </a:txBody>
                  <a:tcPr>
                    <a:solidFill>
                      <a:srgbClr val="FFEBEB"/>
                    </a:solidFill>
                  </a:tcPr>
                </a:tc>
                <a:tc>
                  <a:txBody>
                    <a:bodyPr/>
                    <a:lstStyle/>
                    <a:p>
                      <a:pPr algn="ctr">
                        <a:defRPr sz="950" b="1">
                          <a:solidFill>
                            <a:srgbClr val="C80000"/>
                          </a:solidFill>
                          <a:latin typeface="Arial"/>
                        </a:defRPr>
                      </a:pPr>
                      <a:r>
                        <a:t>SÍ [RC]</a:t>
                      </a:r>
                    </a:p>
                  </a:txBody>
                  <a:tcPr>
                    <a:solidFill>
                      <a:srgbClr val="FFEBEB"/>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Investigación y Selección de Proveedores de Insumos Clave</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8 / 12</a:t>
            </a:r>
          </a:p>
        </p:txBody>
      </p:sp>
      <p:graphicFrame>
        <p:nvGraphicFramePr>
          <p:cNvPr id="7" name="Table 6"/>
          <p:cNvGraphicFramePr>
            <a:graphicFrameLocks noGrp="1"/>
          </p:cNvGraphicFramePr>
          <p:nvPr/>
        </p:nvGraphicFramePr>
        <p:xfrm>
          <a:off x="548640" y="1371600"/>
          <a:ext cx="11064240" cy="4114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1028700">
                <a:tc>
                  <a:txBody>
                    <a:bodyPr/>
                    <a:lstStyle/>
                    <a:p>
                      <a:pPr algn="ctr">
                        <a:defRPr sz="1000" b="1">
                          <a:solidFill>
                            <a:srgbClr val="FFFFFF"/>
                          </a:solidFill>
                          <a:latin typeface="Arial"/>
                        </a:defRPr>
                      </a:pPr>
                      <a:r>
                        <a:t>Insumo Requerido</a:t>
                      </a:r>
                    </a:p>
                  </a:txBody>
                  <a:tcPr>
                    <a:solidFill>
                      <a:srgbClr val="002B49"/>
                    </a:solidFill>
                  </a:tcPr>
                </a:tc>
                <a:tc>
                  <a:txBody>
                    <a:bodyPr/>
                    <a:lstStyle/>
                    <a:p>
                      <a:pPr algn="ctr">
                        <a:defRPr sz="1000" b="1">
                          <a:solidFill>
                            <a:srgbClr val="FFFFFF"/>
                          </a:solidFill>
                          <a:latin typeface="Arial"/>
                        </a:defRPr>
                      </a:pPr>
                      <a:r>
                        <a:t>Proveedores Evaluados (Mínimo 3)</a:t>
                      </a:r>
                    </a:p>
                  </a:txBody>
                  <a:tcPr>
                    <a:solidFill>
                      <a:srgbClr val="002B49"/>
                    </a:solidFill>
                  </a:tcPr>
                </a:tc>
                <a:tc>
                  <a:txBody>
                    <a:bodyPr/>
                    <a:lstStyle/>
                    <a:p>
                      <a:pPr algn="ctr">
                        <a:defRPr sz="1000" b="1">
                          <a:solidFill>
                            <a:srgbClr val="FFFFFF"/>
                          </a:solidFill>
                          <a:latin typeface="Arial"/>
                        </a:defRPr>
                      </a:pPr>
                      <a:r>
                        <a:t>Selección</a:t>
                      </a:r>
                    </a:p>
                  </a:txBody>
                  <a:tcPr>
                    <a:solidFill>
                      <a:srgbClr val="002B49"/>
                    </a:solidFill>
                  </a:tcPr>
                </a:tc>
                <a:tc>
                  <a:txBody>
                    <a:bodyPr/>
                    <a:lstStyle/>
                    <a:p>
                      <a:pPr algn="ctr">
                        <a:defRPr sz="1000" b="1">
                          <a:solidFill>
                            <a:srgbClr val="FFFFFF"/>
                          </a:solidFill>
                          <a:latin typeface="Arial"/>
                        </a:defRPr>
                      </a:pPr>
                      <a:r>
                        <a:t>Criterios de Elección (No-Precio)</a:t>
                      </a:r>
                    </a:p>
                  </a:txBody>
                  <a:tcPr>
                    <a:solidFill>
                      <a:srgbClr val="002B49"/>
                    </a:solidFill>
                  </a:tcPr>
                </a:tc>
                <a:tc>
                  <a:txBody>
                    <a:bodyPr/>
                    <a:lstStyle/>
                    <a:p>
                      <a:pPr algn="ctr">
                        <a:defRPr sz="1000" b="1">
                          <a:solidFill>
                            <a:srgbClr val="FFFFFF"/>
                          </a:solidFill>
                          <a:latin typeface="Arial"/>
                        </a:defRPr>
                      </a:pPr>
                      <a:r>
                        <a:t>Costo Estimado</a:t>
                      </a:r>
                    </a:p>
                  </a:txBody>
                  <a:tcPr>
                    <a:solidFill>
                      <a:srgbClr val="002B49"/>
                    </a:solidFill>
                  </a:tcPr>
                </a:tc>
              </a:tr>
              <a:tr h="1028700">
                <a:tc>
                  <a:txBody>
                    <a:bodyPr/>
                    <a:lstStyle/>
                    <a:p>
                      <a:pPr algn="l">
                        <a:defRPr sz="950">
                          <a:latin typeface="Arial"/>
                        </a:defRPr>
                      </a:pPr>
                      <a:r>
                        <a:t>1. Infraestructura Cloud y Base de Datos</a:t>
                      </a:r>
                    </a:p>
                  </a:txBody>
                  <a:tcPr>
                    <a:solidFill>
                      <a:srgbClr val="FFFFFF"/>
                    </a:solidFill>
                  </a:tcPr>
                </a:tc>
                <a:tc>
                  <a:txBody>
                    <a:bodyPr/>
                    <a:lstStyle/>
                    <a:p>
                      <a:pPr algn="l">
                        <a:defRPr sz="950">
                          <a:latin typeface="Arial"/>
                        </a:defRPr>
                      </a:pPr>
                      <a:r>
                        <a:t>• Google Cloud (GCP)</a:t>
                      </a:r>
                      <a:br/>
                      <a:r>
                        <a:t>• Amazon Web Services (AWS)</a:t>
                      </a:r>
                      <a:br/>
                      <a:r>
                        <a:t>• Microsoft Azure</a:t>
                      </a:r>
                    </a:p>
                  </a:txBody>
                  <a:tcPr>
                    <a:solidFill>
                      <a:srgbClr val="FFFFFF"/>
                    </a:solidFill>
                  </a:tcPr>
                </a:tc>
                <a:tc>
                  <a:txBody>
                    <a:bodyPr/>
                    <a:lstStyle/>
                    <a:p>
                      <a:pPr algn="ctr">
                        <a:defRPr sz="950" b="1">
                          <a:solidFill>
                            <a:srgbClr val="2E7D57"/>
                          </a:solidFill>
                          <a:latin typeface="Arial"/>
                        </a:defRPr>
                      </a:pPr>
                      <a:r>
                        <a:t>Google Cloud Platform (GCP)</a:t>
                      </a:r>
                    </a:p>
                  </a:txBody>
                  <a:tcPr>
                    <a:solidFill>
                      <a:srgbClr val="FFFFFF"/>
                    </a:solidFill>
                  </a:tcPr>
                </a:tc>
                <a:tc>
                  <a:txBody>
                    <a:bodyPr/>
                    <a:lstStyle/>
                    <a:p>
                      <a:pPr algn="l">
                        <a:defRPr sz="950">
                          <a:latin typeface="Arial"/>
                        </a:defRPr>
                      </a:pPr>
                      <a:r>
                        <a:t>SLA del 99.9%, latencia &lt;150 ms en México, modelo serverless Cloud Run y PostgreSQL nativo.</a:t>
                      </a:r>
                    </a:p>
                  </a:txBody>
                  <a:tcPr>
                    <a:solidFill>
                      <a:srgbClr val="FFFFFF"/>
                    </a:solidFill>
                  </a:tcPr>
                </a:tc>
                <a:tc>
                  <a:txBody>
                    <a:bodyPr/>
                    <a:lstStyle/>
                    <a:p>
                      <a:pPr algn="ctr">
                        <a:defRPr sz="950">
                          <a:latin typeface="Arial"/>
                        </a:defRPr>
                      </a:pPr>
                      <a:r>
                        <a:t>$1,200 - $2,800 MXN / mes</a:t>
                      </a:r>
                    </a:p>
                  </a:txBody>
                  <a:tcPr>
                    <a:solidFill>
                      <a:srgbClr val="FFFFFF"/>
                    </a:solidFill>
                  </a:tcPr>
                </a:tc>
              </a:tr>
              <a:tr h="1028700">
                <a:tc>
                  <a:txBody>
                    <a:bodyPr/>
                    <a:lstStyle/>
                    <a:p>
                      <a:pPr algn="l">
                        <a:defRPr sz="950">
                          <a:latin typeface="Arial"/>
                        </a:defRPr>
                      </a:pPr>
                      <a:r>
                        <a:t>2. Cumplimiento Normativo y Privacidad</a:t>
                      </a:r>
                    </a:p>
                  </a:txBody>
                  <a:tcPr>
                    <a:solidFill>
                      <a:srgbClr val="FFFFFF"/>
                    </a:solidFill>
                  </a:tcPr>
                </a:tc>
                <a:tc>
                  <a:txBody>
                    <a:bodyPr/>
                    <a:lstStyle/>
                    <a:p>
                      <a:pPr algn="l">
                        <a:defRPr sz="950">
                          <a:latin typeface="Arial"/>
                        </a:defRPr>
                      </a:pPr>
                      <a:r>
                        <a:t>• Asesoría Privacidad TI</a:t>
                      </a:r>
                      <a:br/>
                      <a:r>
                        <a:t>• Despacho Externo PI</a:t>
                      </a:r>
                      <a:br/>
                      <a:r>
                        <a:t>• Gestoría Digital</a:t>
                      </a:r>
                    </a:p>
                  </a:txBody>
                  <a:tcPr>
                    <a:solidFill>
                      <a:srgbClr val="FFFFFF"/>
                    </a:solidFill>
                  </a:tcPr>
                </a:tc>
                <a:tc>
                  <a:txBody>
                    <a:bodyPr/>
                    <a:lstStyle/>
                    <a:p>
                      <a:pPr algn="ctr">
                        <a:defRPr sz="950" b="1">
                          <a:solidFill>
                            <a:srgbClr val="2E7D57"/>
                          </a:solidFill>
                          <a:latin typeface="Arial"/>
                        </a:defRPr>
                      </a:pPr>
                      <a:r>
                        <a:t>Asesoría LGPDPPSO + Trámite Directo INDAUTOR</a:t>
                      </a:r>
                    </a:p>
                  </a:txBody>
                  <a:tcPr>
                    <a:solidFill>
                      <a:srgbClr val="FFFFFF"/>
                    </a:solidFill>
                  </a:tcPr>
                </a:tc>
                <a:tc>
                  <a:txBody>
                    <a:bodyPr/>
                    <a:lstStyle/>
                    <a:p>
                      <a:pPr algn="l">
                        <a:defRPr sz="950">
                          <a:latin typeface="Arial"/>
                        </a:defRPr>
                      </a:pPr>
                      <a:r>
                        <a:t>Certeza jurídica en protección de datos de alumnos UdeG y titularidad oficial del software sin intermediarios.</a:t>
                      </a:r>
                    </a:p>
                  </a:txBody>
                  <a:tcPr>
                    <a:solidFill>
                      <a:srgbClr val="FFFFFF"/>
                    </a:solidFill>
                  </a:tcPr>
                </a:tc>
                <a:tc>
                  <a:txBody>
                    <a:bodyPr/>
                    <a:lstStyle/>
                    <a:p>
                      <a:pPr algn="ctr">
                        <a:defRPr sz="950">
                          <a:latin typeface="Arial"/>
                        </a:defRPr>
                      </a:pPr>
                      <a:r>
                        <a:t>$12,000 MXN (Único)</a:t>
                      </a:r>
                    </a:p>
                  </a:txBody>
                  <a:tcPr>
                    <a:solidFill>
                      <a:srgbClr val="FFFFFF"/>
                    </a:solidFill>
                  </a:tcPr>
                </a:tc>
              </a:tr>
              <a:tr h="1028700">
                <a:tc>
                  <a:txBody>
                    <a:bodyPr/>
                    <a:lstStyle/>
                    <a:p>
                      <a:pPr algn="l">
                        <a:defRPr sz="950">
                          <a:latin typeface="Arial"/>
                        </a:defRPr>
                      </a:pPr>
                      <a:r>
                        <a:t>3. Hardware de Ventanilla y Pruebas</a:t>
                      </a:r>
                    </a:p>
                  </a:txBody>
                  <a:tcPr>
                    <a:solidFill>
                      <a:srgbClr val="FFFFFF"/>
                    </a:solidFill>
                  </a:tcPr>
                </a:tc>
                <a:tc>
                  <a:txBody>
                    <a:bodyPr/>
                    <a:lstStyle/>
                    <a:p>
                      <a:pPr algn="l">
                        <a:defRPr sz="950">
                          <a:latin typeface="Arial"/>
                        </a:defRPr>
                      </a:pPr>
                      <a:r>
                        <a:t>• Dell Technologies</a:t>
                      </a:r>
                      <a:br/>
                      <a:r>
                        <a:t>• Lenovo México</a:t>
                      </a:r>
                      <a:br/>
                      <a:r>
                        <a:t>• HP Inc.</a:t>
                      </a:r>
                    </a:p>
                  </a:txBody>
                  <a:tcPr>
                    <a:solidFill>
                      <a:srgbClr val="FFFFFF"/>
                    </a:solidFill>
                  </a:tcPr>
                </a:tc>
                <a:tc>
                  <a:txBody>
                    <a:bodyPr/>
                    <a:lstStyle/>
                    <a:p>
                      <a:pPr algn="ctr">
                        <a:defRPr sz="950" b="1">
                          <a:solidFill>
                            <a:srgbClr val="2E7D57"/>
                          </a:solidFill>
                          <a:latin typeface="Arial"/>
                        </a:defRPr>
                      </a:pPr>
                      <a:r>
                        <a:t>Dell Technologies (Lectores QR + Terminal)</a:t>
                      </a:r>
                    </a:p>
                  </a:txBody>
                  <a:tcPr>
                    <a:solidFill>
                      <a:srgbClr val="FFFFFF"/>
                    </a:solidFill>
                  </a:tcPr>
                </a:tc>
                <a:tc>
                  <a:txBody>
                    <a:bodyPr/>
                    <a:lstStyle/>
                    <a:p>
                      <a:pPr algn="l">
                        <a:defRPr sz="950">
                          <a:latin typeface="Arial"/>
                        </a:defRPr>
                      </a:pPr>
                      <a:r>
                        <a:t>Garantía de 3 años en sitio en Jalisco, lectores de uso rudo en mostrador y soporte Linux/Docker.</a:t>
                      </a:r>
                    </a:p>
                  </a:txBody>
                  <a:tcPr>
                    <a:solidFill>
                      <a:srgbClr val="FFFFFF"/>
                    </a:solidFill>
                  </a:tcPr>
                </a:tc>
                <a:tc>
                  <a:txBody>
                    <a:bodyPr/>
                    <a:lstStyle/>
                    <a:p>
                      <a:pPr algn="ctr">
                        <a:defRPr sz="950">
                          <a:latin typeface="Arial"/>
                        </a:defRPr>
                      </a:pPr>
                      <a:r>
                        <a:t>$20,000 MXN (CAPEX)</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Presupuesto de Inversión Inicial (CAPEX = $140,000 MXN)</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9 / 12</a:t>
            </a:r>
          </a:p>
        </p:txBody>
      </p:sp>
      <p:graphicFrame>
        <p:nvGraphicFramePr>
          <p:cNvPr id="7" name="Table 6"/>
          <p:cNvGraphicFramePr>
            <a:graphicFrameLocks noGrp="1"/>
          </p:cNvGraphicFramePr>
          <p:nvPr/>
        </p:nvGraphicFramePr>
        <p:xfrm>
          <a:off x="548640" y="1371600"/>
          <a:ext cx="11064240" cy="4114800"/>
        </p:xfrm>
        <a:graphic>
          <a:graphicData uri="http://schemas.openxmlformats.org/drawingml/2006/table">
            <a:tbl>
              <a:tblPr firstRow="1" bandRow="1">
                <a:tableStyleId>{5C22544A-7EE6-4342-B048-85BDC9FD1C3A}</a:tableStyleId>
              </a:tblPr>
              <a:tblGrid>
                <a:gridCol w="3688080"/>
                <a:gridCol w="3688080"/>
                <a:gridCol w="3688080"/>
              </a:tblGrid>
              <a:tr h="514350">
                <a:tc>
                  <a:txBody>
                    <a:bodyPr/>
                    <a:lstStyle/>
                    <a:p>
                      <a:pPr algn="ctr">
                        <a:defRPr sz="1000" b="1">
                          <a:solidFill>
                            <a:srgbClr val="FFFFFF"/>
                          </a:solidFill>
                          <a:latin typeface="Arial"/>
                        </a:defRPr>
                      </a:pPr>
                      <a:r>
                        <a:t>Partida de Inversión Inicial</a:t>
                      </a:r>
                    </a:p>
                  </a:txBody>
                  <a:tcPr>
                    <a:solidFill>
                      <a:srgbClr val="002B49"/>
                    </a:solidFill>
                  </a:tcPr>
                </a:tc>
                <a:tc>
                  <a:txBody>
                    <a:bodyPr/>
                    <a:lstStyle/>
                    <a:p>
                      <a:pPr algn="ctr">
                        <a:defRPr sz="1000" b="1">
                          <a:solidFill>
                            <a:srgbClr val="FFFFFF"/>
                          </a:solidFill>
                          <a:latin typeface="Arial"/>
                        </a:defRPr>
                      </a:pPr>
                      <a:r>
                        <a:t>Destino del Gasto de Capital</a:t>
                      </a:r>
                    </a:p>
                  </a:txBody>
                  <a:tcPr>
                    <a:solidFill>
                      <a:srgbClr val="002B49"/>
                    </a:solidFill>
                  </a:tcPr>
                </a:tc>
                <a:tc>
                  <a:txBody>
                    <a:bodyPr/>
                    <a:lstStyle/>
                    <a:p>
                      <a:pPr algn="ctr">
                        <a:defRPr sz="1000" b="1">
                          <a:solidFill>
                            <a:srgbClr val="FFFFFF"/>
                          </a:solidFill>
                          <a:latin typeface="Arial"/>
                        </a:defRPr>
                      </a:pPr>
                      <a:r>
                        <a:t>Monto Requerido (MXN)</a:t>
                      </a:r>
                    </a:p>
                  </a:txBody>
                  <a:tcPr>
                    <a:solidFill>
                      <a:srgbClr val="002B49"/>
                    </a:solidFill>
                  </a:tcPr>
                </a:tc>
              </a:tr>
              <a:tr h="514350">
                <a:tc>
                  <a:txBody>
                    <a:bodyPr/>
                    <a:lstStyle/>
                    <a:p>
                      <a:pPr algn="l">
                        <a:defRPr sz="950" b="1">
                          <a:latin typeface="Arial"/>
                        </a:defRPr>
                      </a:pPr>
                      <a:r>
                        <a:t>Desarrollo del núcleo MVP y pruebas técnicas</a:t>
                      </a:r>
                    </a:p>
                  </a:txBody>
                  <a:tcPr>
                    <a:solidFill>
                      <a:srgbClr val="FFFFFF"/>
                    </a:solidFill>
                  </a:tcPr>
                </a:tc>
                <a:tc>
                  <a:txBody>
                    <a:bodyPr/>
                    <a:lstStyle/>
                    <a:p>
                      <a:pPr algn="l">
                        <a:defRPr sz="950">
                          <a:latin typeface="Arial"/>
                        </a:defRPr>
                      </a:pPr>
                      <a:r>
                        <a:t>Compensación de desarrollo full-stack, configuración de arquitectura y pruebas.</a:t>
                      </a:r>
                    </a:p>
                  </a:txBody>
                  <a:tcPr>
                    <a:solidFill>
                      <a:srgbClr val="FFFFFF"/>
                    </a:solidFill>
                  </a:tcPr>
                </a:tc>
                <a:tc>
                  <a:txBody>
                    <a:bodyPr/>
                    <a:lstStyle/>
                    <a:p>
                      <a:pPr algn="r">
                        <a:defRPr sz="950">
                          <a:latin typeface="Arial"/>
                        </a:defRPr>
                      </a:pPr>
                      <a:r>
                        <a:t>$60,000 MXN</a:t>
                      </a:r>
                    </a:p>
                  </a:txBody>
                  <a:tcPr>
                    <a:solidFill>
                      <a:srgbClr val="FFFFFF"/>
                    </a:solidFill>
                  </a:tcPr>
                </a:tc>
              </a:tr>
              <a:tr h="514350">
                <a:tc>
                  <a:txBody>
                    <a:bodyPr/>
                    <a:lstStyle/>
                    <a:p>
                      <a:pPr algn="l">
                        <a:defRPr sz="950" b="1">
                          <a:latin typeface="Arial"/>
                        </a:defRPr>
                      </a:pPr>
                      <a:r>
                        <a:t>Infraestructura cloud y servidores (Año 1)</a:t>
                      </a:r>
                    </a:p>
                  </a:txBody>
                  <a:tcPr>
                    <a:solidFill>
                      <a:srgbClr val="FFFFFF"/>
                    </a:solidFill>
                  </a:tcPr>
                </a:tc>
                <a:tc>
                  <a:txBody>
                    <a:bodyPr/>
                    <a:lstStyle/>
                    <a:p>
                      <a:pPr algn="l">
                        <a:defRPr sz="950">
                          <a:latin typeface="Arial"/>
                        </a:defRPr>
                      </a:pPr>
                      <a:r>
                        <a:t>Hosting en Google Cloud Platform (Cloud Run, PostgreSQL y almacenamiento).</a:t>
                      </a:r>
                    </a:p>
                  </a:txBody>
                  <a:tcPr>
                    <a:solidFill>
                      <a:srgbClr val="FFFFFF"/>
                    </a:solidFill>
                  </a:tcPr>
                </a:tc>
                <a:tc>
                  <a:txBody>
                    <a:bodyPr/>
                    <a:lstStyle/>
                    <a:p>
                      <a:pPr algn="r">
                        <a:defRPr sz="950">
                          <a:latin typeface="Arial"/>
                        </a:defRPr>
                      </a:pPr>
                      <a:r>
                        <a:t>$16,000 MXN</a:t>
                      </a:r>
                    </a:p>
                  </a:txBody>
                  <a:tcPr>
                    <a:solidFill>
                      <a:srgbClr val="FFFFFF"/>
                    </a:solidFill>
                  </a:tcPr>
                </a:tc>
              </a:tr>
              <a:tr h="514350">
                <a:tc>
                  <a:txBody>
                    <a:bodyPr/>
                    <a:lstStyle/>
                    <a:p>
                      <a:pPr algn="l">
                        <a:defRPr sz="950" b="1">
                          <a:latin typeface="Arial"/>
                        </a:defRPr>
                      </a:pPr>
                      <a:r>
                        <a:t>Hardware de ventanilla y pruebas (CUTonalá)</a:t>
                      </a:r>
                    </a:p>
                  </a:txBody>
                  <a:tcPr>
                    <a:solidFill>
                      <a:srgbClr val="FFFFFF"/>
                    </a:solidFill>
                  </a:tcPr>
                </a:tc>
                <a:tc>
                  <a:txBody>
                    <a:bodyPr/>
                    <a:lstStyle/>
                    <a:p>
                      <a:pPr algn="l">
                        <a:defRPr sz="950">
                          <a:latin typeface="Arial"/>
                        </a:defRPr>
                      </a:pPr>
                      <a:r>
                        <a:t>2 lectores ópticos QR industriales para mostrador y terminal de pruebas.</a:t>
                      </a:r>
                    </a:p>
                  </a:txBody>
                  <a:tcPr>
                    <a:solidFill>
                      <a:srgbClr val="FFFFFF"/>
                    </a:solidFill>
                  </a:tcPr>
                </a:tc>
                <a:tc>
                  <a:txBody>
                    <a:bodyPr/>
                    <a:lstStyle/>
                    <a:p>
                      <a:pPr algn="r">
                        <a:defRPr sz="950">
                          <a:latin typeface="Arial"/>
                        </a:defRPr>
                      </a:pPr>
                      <a:r>
                        <a:t>$20,000 MXN</a:t>
                      </a:r>
                    </a:p>
                  </a:txBody>
                  <a:tcPr>
                    <a:solidFill>
                      <a:srgbClr val="FFFFFF"/>
                    </a:solidFill>
                  </a:tcPr>
                </a:tc>
              </a:tr>
              <a:tr h="514350">
                <a:tc>
                  <a:txBody>
                    <a:bodyPr/>
                    <a:lstStyle/>
                    <a:p>
                      <a:pPr algn="l">
                        <a:defRPr sz="950" b="1">
                          <a:latin typeface="Arial"/>
                        </a:defRPr>
                      </a:pPr>
                      <a:r>
                        <a:t>Cumplimiento normativo y marco de privacidad</a:t>
                      </a:r>
                    </a:p>
                  </a:txBody>
                  <a:tcPr>
                    <a:solidFill>
                      <a:srgbClr val="FFFFFF"/>
                    </a:solidFill>
                  </a:tcPr>
                </a:tc>
                <a:tc>
                  <a:txBody>
                    <a:bodyPr/>
                    <a:lstStyle/>
                    <a:p>
                      <a:pPr algn="l">
                        <a:defRPr sz="950">
                          <a:latin typeface="Arial"/>
                        </a:defRPr>
                      </a:pPr>
                      <a:r>
                        <a:t>Elaboración de Aviso de Privacidad (LGPDPPSO), convenio piloto y reserva INDAUTOR.</a:t>
                      </a:r>
                    </a:p>
                  </a:txBody>
                  <a:tcPr>
                    <a:solidFill>
                      <a:srgbClr val="FFFFFF"/>
                    </a:solidFill>
                  </a:tcPr>
                </a:tc>
                <a:tc>
                  <a:txBody>
                    <a:bodyPr/>
                    <a:lstStyle/>
                    <a:p>
                      <a:pPr algn="r">
                        <a:defRPr sz="950">
                          <a:latin typeface="Arial"/>
                        </a:defRPr>
                      </a:pPr>
                      <a:r>
                        <a:t>$12,000 MXN</a:t>
                      </a:r>
                    </a:p>
                  </a:txBody>
                  <a:tcPr>
                    <a:solidFill>
                      <a:srgbClr val="FFFFFF"/>
                    </a:solidFill>
                  </a:tcPr>
                </a:tc>
              </a:tr>
              <a:tr h="514350">
                <a:tc>
                  <a:txBody>
                    <a:bodyPr/>
                    <a:lstStyle/>
                    <a:p>
                      <a:pPr algn="l">
                        <a:defRPr sz="950" b="1">
                          <a:latin typeface="Arial"/>
                        </a:defRPr>
                      </a:pPr>
                      <a:r>
                        <a:t>Materiales operativos, señalética y traslados</a:t>
                      </a:r>
                    </a:p>
                  </a:txBody>
                  <a:tcPr>
                    <a:solidFill>
                      <a:srgbClr val="FFFFFF"/>
                    </a:solidFill>
                  </a:tcPr>
                </a:tc>
                <a:tc>
                  <a:txBody>
                    <a:bodyPr/>
                    <a:lstStyle/>
                    <a:p>
                      <a:pPr algn="l">
                        <a:defRPr sz="950">
                          <a:latin typeface="Arial"/>
                        </a:defRPr>
                      </a:pPr>
                      <a:r>
                        <a:t>Placas acrílicas con QR para almacenes, manuales y viáticos de operación en CUTonalá.</a:t>
                      </a:r>
                    </a:p>
                  </a:txBody>
                  <a:tcPr>
                    <a:solidFill>
                      <a:srgbClr val="FFFFFF"/>
                    </a:solidFill>
                  </a:tcPr>
                </a:tc>
                <a:tc>
                  <a:txBody>
                    <a:bodyPr/>
                    <a:lstStyle/>
                    <a:p>
                      <a:pPr algn="r">
                        <a:defRPr sz="950">
                          <a:latin typeface="Arial"/>
                        </a:defRPr>
                      </a:pPr>
                      <a:r>
                        <a:t>$12,000 MXN</a:t>
                      </a:r>
                    </a:p>
                  </a:txBody>
                  <a:tcPr>
                    <a:solidFill>
                      <a:srgbClr val="FFFFFF"/>
                    </a:solidFill>
                  </a:tcPr>
                </a:tc>
              </a:tr>
              <a:tr h="514350">
                <a:tc>
                  <a:txBody>
                    <a:bodyPr/>
                    <a:lstStyle/>
                    <a:p>
                      <a:pPr algn="l">
                        <a:defRPr sz="950" b="1">
                          <a:latin typeface="Arial"/>
                        </a:defRPr>
                      </a:pPr>
                      <a:r>
                        <a:t>Fondo de reserva y contingencia operativa</a:t>
                      </a:r>
                    </a:p>
                  </a:txBody>
                  <a:tcPr>
                    <a:solidFill>
                      <a:srgbClr val="FFFFFF"/>
                    </a:solidFill>
                  </a:tcPr>
                </a:tc>
                <a:tc>
                  <a:txBody>
                    <a:bodyPr/>
                    <a:lstStyle/>
                    <a:p>
                      <a:pPr algn="l">
                        <a:defRPr sz="950">
                          <a:latin typeface="Arial"/>
                        </a:defRPr>
                      </a:pPr>
                      <a:r>
                        <a:t>Respaldo de liquidez para eventualidades técnicas y soporte de campo.</a:t>
                      </a:r>
                    </a:p>
                  </a:txBody>
                  <a:tcPr>
                    <a:solidFill>
                      <a:srgbClr val="FFFFFF"/>
                    </a:solidFill>
                  </a:tcPr>
                </a:tc>
                <a:tc>
                  <a:txBody>
                    <a:bodyPr/>
                    <a:lstStyle/>
                    <a:p>
                      <a:pPr algn="r">
                        <a:defRPr sz="950">
                          <a:latin typeface="Arial"/>
                        </a:defRPr>
                      </a:pPr>
                      <a:r>
                        <a:t>$20,000 MXN</a:t>
                      </a:r>
                    </a:p>
                  </a:txBody>
                  <a:tcPr>
                    <a:solidFill>
                      <a:srgbClr val="FFFFFF"/>
                    </a:solidFill>
                  </a:tcPr>
                </a:tc>
              </a:tr>
              <a:tr h="514350">
                <a:tc>
                  <a:txBody>
                    <a:bodyPr/>
                    <a:lstStyle/>
                    <a:p>
                      <a:pPr algn="l">
                        <a:defRPr sz="950" b="1">
                          <a:solidFill>
                            <a:srgbClr val="2E7D57"/>
                          </a:solidFill>
                          <a:latin typeface="Arial"/>
                        </a:defRPr>
                      </a:pPr>
                      <a:r>
                        <a:t>INVERSIÓN INICIAL TOTAL REQUERIDA</a:t>
                      </a:r>
                    </a:p>
                  </a:txBody>
                  <a:tcPr>
                    <a:solidFill>
                      <a:srgbClr val="E6F5EB"/>
                    </a:solidFill>
                  </a:tcPr>
                </a:tc>
                <a:tc>
                  <a:txBody>
                    <a:bodyPr/>
                    <a:lstStyle/>
                    <a:p>
                      <a:pPr algn="l">
                        <a:defRPr sz="950" b="1">
                          <a:solidFill>
                            <a:srgbClr val="2E7D57"/>
                          </a:solidFill>
                          <a:latin typeface="Arial"/>
                        </a:defRPr>
                      </a:pPr>
                      <a:r>
                        <a:t>Capital semilla solicitado para financiar el desarrollo, piloto y validación</a:t>
                      </a:r>
                    </a:p>
                  </a:txBody>
                  <a:tcPr>
                    <a:solidFill>
                      <a:srgbClr val="E6F5EB"/>
                    </a:solidFill>
                  </a:tcPr>
                </a:tc>
                <a:tc>
                  <a:txBody>
                    <a:bodyPr/>
                    <a:lstStyle/>
                    <a:p>
                      <a:pPr algn="r">
                        <a:defRPr sz="950" b="1">
                          <a:solidFill>
                            <a:srgbClr val="2E7D57"/>
                          </a:solidFill>
                          <a:latin typeface="Arial"/>
                        </a:defRPr>
                      </a:pPr>
                      <a:r>
                        <a:t>$140,000 MXN</a:t>
                      </a:r>
                    </a:p>
                  </a:txBody>
                  <a:tcPr>
                    <a:solidFill>
                      <a:srgbClr val="E6F5E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Estado de Resultados Proforma Trienal (Cifras en Pesos MXN)</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10 / 12</a:t>
            </a:r>
          </a:p>
        </p:txBody>
      </p:sp>
      <p:graphicFrame>
        <p:nvGraphicFramePr>
          <p:cNvPr id="7" name="Table 6"/>
          <p:cNvGraphicFramePr>
            <a:graphicFrameLocks noGrp="1"/>
          </p:cNvGraphicFramePr>
          <p:nvPr/>
        </p:nvGraphicFramePr>
        <p:xfrm>
          <a:off x="548640" y="1371600"/>
          <a:ext cx="11064240" cy="4114800"/>
        </p:xfrm>
        <a:graphic>
          <a:graphicData uri="http://schemas.openxmlformats.org/drawingml/2006/table">
            <a:tbl>
              <a:tblPr firstRow="1" bandRow="1">
                <a:tableStyleId>{5C22544A-7EE6-4342-B048-85BDC9FD1C3A}</a:tableStyleId>
              </a:tblPr>
              <a:tblGrid>
                <a:gridCol w="2766060"/>
                <a:gridCol w="2766060"/>
                <a:gridCol w="2766060"/>
                <a:gridCol w="2766060"/>
              </a:tblGrid>
              <a:tr h="411480">
                <a:tc>
                  <a:txBody>
                    <a:bodyPr/>
                    <a:lstStyle/>
                    <a:p>
                      <a:pPr algn="ctr">
                        <a:defRPr sz="1000" b="1">
                          <a:solidFill>
                            <a:srgbClr val="FFFFFF"/>
                          </a:solidFill>
                          <a:latin typeface="Arial"/>
                        </a:defRPr>
                      </a:pPr>
                      <a:r>
                        <a:t>Rubro Contable</a:t>
                      </a:r>
                    </a:p>
                  </a:txBody>
                  <a:tcPr>
                    <a:solidFill>
                      <a:srgbClr val="002B49"/>
                    </a:solidFill>
                  </a:tcPr>
                </a:tc>
                <a:tc>
                  <a:txBody>
                    <a:bodyPr/>
                    <a:lstStyle/>
                    <a:p>
                      <a:pPr algn="ctr">
                        <a:defRPr sz="1000" b="1">
                          <a:solidFill>
                            <a:srgbClr val="FFFFFF"/>
                          </a:solidFill>
                          <a:latin typeface="Arial"/>
                        </a:defRPr>
                      </a:pPr>
                      <a:r>
                        <a:t>Año 1 (Piloto CUTonalá)</a:t>
                      </a:r>
                    </a:p>
                  </a:txBody>
                  <a:tcPr>
                    <a:solidFill>
                      <a:srgbClr val="002B49"/>
                    </a:solidFill>
                  </a:tcPr>
                </a:tc>
                <a:tc>
                  <a:txBody>
                    <a:bodyPr/>
                    <a:lstStyle/>
                    <a:p>
                      <a:pPr algn="ctr">
                        <a:defRPr sz="1000" b="1">
                          <a:solidFill>
                            <a:srgbClr val="FFFFFF"/>
                          </a:solidFill>
                          <a:latin typeface="Arial"/>
                        </a:defRPr>
                      </a:pPr>
                      <a:r>
                        <a:t>Año 2 (Versión Pulida CUT+CUCEI)</a:t>
                      </a:r>
                    </a:p>
                  </a:txBody>
                  <a:tcPr>
                    <a:solidFill>
                      <a:srgbClr val="002B49"/>
                    </a:solidFill>
                  </a:tcPr>
                </a:tc>
                <a:tc>
                  <a:txBody>
                    <a:bodyPr/>
                    <a:lstStyle/>
                    <a:p>
                      <a:pPr algn="ctr">
                        <a:defRPr sz="1000" b="1">
                          <a:solidFill>
                            <a:srgbClr val="FFFFFF"/>
                          </a:solidFill>
                          <a:latin typeface="Arial"/>
                        </a:defRPr>
                      </a:pPr>
                      <a:r>
                        <a:t>Año 3 (Consolidación ZMG)</a:t>
                      </a:r>
                    </a:p>
                  </a:txBody>
                  <a:tcPr>
                    <a:solidFill>
                      <a:srgbClr val="002B49"/>
                    </a:solidFill>
                  </a:tcPr>
                </a:tc>
              </a:tr>
              <a:tr h="411480">
                <a:tc>
                  <a:txBody>
                    <a:bodyPr/>
                    <a:lstStyle/>
                    <a:p>
                      <a:pPr algn="l">
                        <a:defRPr sz="950" b="1">
                          <a:latin typeface="Arial"/>
                        </a:defRPr>
                      </a:pPr>
                      <a:r>
                        <a:t>Ingresos Totales por Servicio / Convenio</a:t>
                      </a:r>
                    </a:p>
                  </a:txBody>
                  <a:tcPr>
                    <a:solidFill>
                      <a:srgbClr val="FFFFFF"/>
                    </a:solidFill>
                  </a:tcPr>
                </a:tc>
                <a:tc>
                  <a:txBody>
                    <a:bodyPr/>
                    <a:lstStyle/>
                    <a:p>
                      <a:pPr algn="r">
                        <a:defRPr sz="950" b="1">
                          <a:latin typeface="Arial"/>
                        </a:defRPr>
                      </a:pPr>
                      <a:r>
                        <a:t>$48,000</a:t>
                      </a:r>
                    </a:p>
                  </a:txBody>
                  <a:tcPr>
                    <a:solidFill>
                      <a:srgbClr val="FFFFFF"/>
                    </a:solidFill>
                  </a:tcPr>
                </a:tc>
                <a:tc>
                  <a:txBody>
                    <a:bodyPr/>
                    <a:lstStyle/>
                    <a:p>
                      <a:pPr algn="r">
                        <a:defRPr sz="950" b="1">
                          <a:latin typeface="Arial"/>
                        </a:defRPr>
                      </a:pPr>
                      <a:r>
                        <a:t>$216,000</a:t>
                      </a:r>
                    </a:p>
                  </a:txBody>
                  <a:tcPr>
                    <a:solidFill>
                      <a:srgbClr val="FFFFFF"/>
                    </a:solidFill>
                  </a:tcPr>
                </a:tc>
                <a:tc>
                  <a:txBody>
                    <a:bodyPr/>
                    <a:lstStyle/>
                    <a:p>
                      <a:pPr algn="r">
                        <a:defRPr sz="950" b="1">
                          <a:latin typeface="Arial"/>
                        </a:defRPr>
                      </a:pPr>
                      <a:r>
                        <a:t>$500,000</a:t>
                      </a:r>
                    </a:p>
                  </a:txBody>
                  <a:tcPr>
                    <a:solidFill>
                      <a:srgbClr val="FFFFFF"/>
                    </a:solidFill>
                  </a:tcPr>
                </a:tc>
              </a:tr>
              <a:tr h="411480">
                <a:tc>
                  <a:txBody>
                    <a:bodyPr/>
                    <a:lstStyle/>
                    <a:p>
                      <a:pPr algn="l">
                        <a:defRPr sz="950" b="1">
                          <a:latin typeface="Arial"/>
                        </a:defRPr>
                      </a:pPr>
                      <a:r>
                        <a:t>Costo de Servidores y Nube GCP (Directo)</a:t>
                      </a:r>
                    </a:p>
                  </a:txBody>
                  <a:tcPr>
                    <a:solidFill>
                      <a:srgbClr val="FFFFFF"/>
                    </a:solidFill>
                  </a:tcPr>
                </a:tc>
                <a:tc>
                  <a:txBody>
                    <a:bodyPr/>
                    <a:lstStyle/>
                    <a:p>
                      <a:pPr algn="r">
                        <a:defRPr sz="950">
                          <a:latin typeface="Arial"/>
                        </a:defRPr>
                      </a:pPr>
                      <a:r>
                        <a:t>($14,000)</a:t>
                      </a:r>
                    </a:p>
                  </a:txBody>
                  <a:tcPr>
                    <a:solidFill>
                      <a:srgbClr val="FFFFFF"/>
                    </a:solidFill>
                  </a:tcPr>
                </a:tc>
                <a:tc>
                  <a:txBody>
                    <a:bodyPr/>
                    <a:lstStyle/>
                    <a:p>
                      <a:pPr algn="r">
                        <a:defRPr sz="950">
                          <a:latin typeface="Arial"/>
                        </a:defRPr>
                      </a:pPr>
                      <a:r>
                        <a:t>($20,000)</a:t>
                      </a:r>
                    </a:p>
                  </a:txBody>
                  <a:tcPr>
                    <a:solidFill>
                      <a:srgbClr val="FFFFFF"/>
                    </a:solidFill>
                  </a:tcPr>
                </a:tc>
                <a:tc>
                  <a:txBody>
                    <a:bodyPr/>
                    <a:lstStyle/>
                    <a:p>
                      <a:pPr algn="r">
                        <a:defRPr sz="950">
                          <a:latin typeface="Arial"/>
                        </a:defRPr>
                      </a:pPr>
                      <a:r>
                        <a:t>($32,000)</a:t>
                      </a:r>
                    </a:p>
                  </a:txBody>
                  <a:tcPr>
                    <a:solidFill>
                      <a:srgbClr val="FFFFFF"/>
                    </a:solidFill>
                  </a:tcPr>
                </a:tc>
              </a:tr>
              <a:tr h="411480">
                <a:tc>
                  <a:txBody>
                    <a:bodyPr/>
                    <a:lstStyle/>
                    <a:p>
                      <a:pPr algn="l">
                        <a:defRPr sz="950" b="1">
                          <a:latin typeface="Arial"/>
                        </a:defRPr>
                      </a:pPr>
                      <a:r>
                        <a:t>Utilidad Bruta</a:t>
                      </a:r>
                    </a:p>
                  </a:txBody>
                  <a:tcPr>
                    <a:solidFill>
                      <a:srgbClr val="E6F5EB"/>
                    </a:solidFill>
                  </a:tcPr>
                </a:tc>
                <a:tc>
                  <a:txBody>
                    <a:bodyPr/>
                    <a:lstStyle/>
                    <a:p>
                      <a:pPr algn="r">
                        <a:defRPr sz="950" b="1">
                          <a:latin typeface="Arial"/>
                        </a:defRPr>
                      </a:pPr>
                      <a:r>
                        <a:t>$34,000</a:t>
                      </a:r>
                    </a:p>
                  </a:txBody>
                  <a:tcPr>
                    <a:solidFill>
                      <a:srgbClr val="E6F5EB"/>
                    </a:solidFill>
                  </a:tcPr>
                </a:tc>
                <a:tc>
                  <a:txBody>
                    <a:bodyPr/>
                    <a:lstStyle/>
                    <a:p>
                      <a:pPr algn="r">
                        <a:defRPr sz="950" b="1">
                          <a:latin typeface="Arial"/>
                        </a:defRPr>
                      </a:pPr>
                      <a:r>
                        <a:t>$196,000</a:t>
                      </a:r>
                    </a:p>
                  </a:txBody>
                  <a:tcPr>
                    <a:solidFill>
                      <a:srgbClr val="E6F5EB"/>
                    </a:solidFill>
                  </a:tcPr>
                </a:tc>
                <a:tc>
                  <a:txBody>
                    <a:bodyPr/>
                    <a:lstStyle/>
                    <a:p>
                      <a:pPr algn="r">
                        <a:defRPr sz="950" b="1">
                          <a:latin typeface="Arial"/>
                        </a:defRPr>
                      </a:pPr>
                      <a:r>
                        <a:t>$468,000</a:t>
                      </a:r>
                    </a:p>
                  </a:txBody>
                  <a:tcPr>
                    <a:solidFill>
                      <a:srgbClr val="E6F5EB"/>
                    </a:solidFill>
                  </a:tcPr>
                </a:tc>
              </a:tr>
              <a:tr h="411480">
                <a:tc>
                  <a:txBody>
                    <a:bodyPr/>
                    <a:lstStyle/>
                    <a:p>
                      <a:pPr algn="l">
                        <a:defRPr sz="950" b="1">
                          <a:latin typeface="Arial"/>
                        </a:defRPr>
                      </a:pPr>
                      <a:r>
                        <a:t>Gastos de Soporte Técnico y Depuración</a:t>
                      </a:r>
                    </a:p>
                  </a:txBody>
                  <a:tcPr>
                    <a:solidFill>
                      <a:srgbClr val="FFFFFF"/>
                    </a:solidFill>
                  </a:tcPr>
                </a:tc>
                <a:tc>
                  <a:txBody>
                    <a:bodyPr/>
                    <a:lstStyle/>
                    <a:p>
                      <a:pPr algn="r">
                        <a:defRPr sz="950">
                          <a:latin typeface="Arial"/>
                        </a:defRPr>
                      </a:pPr>
                      <a:r>
                        <a:t>($38,000)</a:t>
                      </a:r>
                    </a:p>
                  </a:txBody>
                  <a:tcPr>
                    <a:solidFill>
                      <a:srgbClr val="FFFFFF"/>
                    </a:solidFill>
                  </a:tcPr>
                </a:tc>
                <a:tc>
                  <a:txBody>
                    <a:bodyPr/>
                    <a:lstStyle/>
                    <a:p>
                      <a:pPr algn="r">
                        <a:defRPr sz="950">
                          <a:latin typeface="Arial"/>
                        </a:defRPr>
                      </a:pPr>
                      <a:r>
                        <a:t>($76,000)</a:t>
                      </a:r>
                    </a:p>
                  </a:txBody>
                  <a:tcPr>
                    <a:solidFill>
                      <a:srgbClr val="FFFFFF"/>
                    </a:solidFill>
                  </a:tcPr>
                </a:tc>
                <a:tc>
                  <a:txBody>
                    <a:bodyPr/>
                    <a:lstStyle/>
                    <a:p>
                      <a:pPr algn="r">
                        <a:defRPr sz="950">
                          <a:latin typeface="Arial"/>
                        </a:defRPr>
                      </a:pPr>
                      <a:r>
                        <a:t>($130,000)</a:t>
                      </a:r>
                    </a:p>
                  </a:txBody>
                  <a:tcPr>
                    <a:solidFill>
                      <a:srgbClr val="FFFFFF"/>
                    </a:solidFill>
                  </a:tcPr>
                </a:tc>
              </a:tr>
              <a:tr h="411480">
                <a:tc>
                  <a:txBody>
                    <a:bodyPr/>
                    <a:lstStyle/>
                    <a:p>
                      <a:pPr algn="l">
                        <a:defRPr sz="950" b="1">
                          <a:latin typeface="Arial"/>
                        </a:defRPr>
                      </a:pPr>
                      <a:r>
                        <a:t>Gastos de Vinculación y Traslados Locales</a:t>
                      </a:r>
                    </a:p>
                  </a:txBody>
                  <a:tcPr>
                    <a:solidFill>
                      <a:srgbClr val="FFFFFF"/>
                    </a:solidFill>
                  </a:tcPr>
                </a:tc>
                <a:tc>
                  <a:txBody>
                    <a:bodyPr/>
                    <a:lstStyle/>
                    <a:p>
                      <a:pPr algn="r">
                        <a:defRPr sz="950">
                          <a:latin typeface="Arial"/>
                        </a:defRPr>
                      </a:pPr>
                      <a:r>
                        <a:t>($8,000)</a:t>
                      </a:r>
                    </a:p>
                  </a:txBody>
                  <a:tcPr>
                    <a:solidFill>
                      <a:srgbClr val="FFFFFF"/>
                    </a:solidFill>
                  </a:tcPr>
                </a:tc>
                <a:tc>
                  <a:txBody>
                    <a:bodyPr/>
                    <a:lstStyle/>
                    <a:p>
                      <a:pPr algn="r">
                        <a:defRPr sz="950">
                          <a:latin typeface="Arial"/>
                        </a:defRPr>
                      </a:pPr>
                      <a:r>
                        <a:t>($18,000)</a:t>
                      </a:r>
                    </a:p>
                  </a:txBody>
                  <a:tcPr>
                    <a:solidFill>
                      <a:srgbClr val="FFFFFF"/>
                    </a:solidFill>
                  </a:tcPr>
                </a:tc>
                <a:tc>
                  <a:txBody>
                    <a:bodyPr/>
                    <a:lstStyle/>
                    <a:p>
                      <a:pPr algn="r">
                        <a:defRPr sz="950">
                          <a:latin typeface="Arial"/>
                        </a:defRPr>
                      </a:pPr>
                      <a:r>
                        <a:t>($30,000)</a:t>
                      </a:r>
                    </a:p>
                  </a:txBody>
                  <a:tcPr>
                    <a:solidFill>
                      <a:srgbClr val="FFFFFF"/>
                    </a:solidFill>
                  </a:tcPr>
                </a:tc>
              </a:tr>
              <a:tr h="411480">
                <a:tc>
                  <a:txBody>
                    <a:bodyPr/>
                    <a:lstStyle/>
                    <a:p>
                      <a:pPr algn="l">
                        <a:defRPr sz="950" b="1">
                          <a:latin typeface="Arial"/>
                        </a:defRPr>
                      </a:pPr>
                      <a:r>
                        <a:t>Servicios Contables y Asesoría Legal (SAT/INDAUTOR)</a:t>
                      </a:r>
                    </a:p>
                  </a:txBody>
                  <a:tcPr>
                    <a:solidFill>
                      <a:srgbClr val="FFFFFF"/>
                    </a:solidFill>
                  </a:tcPr>
                </a:tc>
                <a:tc>
                  <a:txBody>
                    <a:bodyPr/>
                    <a:lstStyle/>
                    <a:p>
                      <a:pPr algn="r">
                        <a:defRPr sz="950">
                          <a:latin typeface="Arial"/>
                        </a:defRPr>
                      </a:pPr>
                      <a:r>
                        <a:t>($10,000)</a:t>
                      </a:r>
                    </a:p>
                  </a:txBody>
                  <a:tcPr>
                    <a:solidFill>
                      <a:srgbClr val="FFFFFF"/>
                    </a:solidFill>
                  </a:tcPr>
                </a:tc>
                <a:tc>
                  <a:txBody>
                    <a:bodyPr/>
                    <a:lstStyle/>
                    <a:p>
                      <a:pPr algn="r">
                        <a:defRPr sz="950">
                          <a:latin typeface="Arial"/>
                        </a:defRPr>
                      </a:pPr>
                      <a:r>
                        <a:t>($14,000)</a:t>
                      </a:r>
                    </a:p>
                  </a:txBody>
                  <a:tcPr>
                    <a:solidFill>
                      <a:srgbClr val="FFFFFF"/>
                    </a:solidFill>
                  </a:tcPr>
                </a:tc>
                <a:tc>
                  <a:txBody>
                    <a:bodyPr/>
                    <a:lstStyle/>
                    <a:p>
                      <a:pPr algn="r">
                        <a:defRPr sz="950">
                          <a:latin typeface="Arial"/>
                        </a:defRPr>
                      </a:pPr>
                      <a:r>
                        <a:t>($22,000)</a:t>
                      </a:r>
                    </a:p>
                  </a:txBody>
                  <a:tcPr>
                    <a:solidFill>
                      <a:srgbClr val="FFFFFF"/>
                    </a:solidFill>
                  </a:tcPr>
                </a:tc>
              </a:tr>
              <a:tr h="411480">
                <a:tc>
                  <a:txBody>
                    <a:bodyPr/>
                    <a:lstStyle/>
                    <a:p>
                      <a:pPr algn="l">
                        <a:defRPr sz="950" b="1">
                          <a:latin typeface="Arial"/>
                        </a:defRPr>
                      </a:pPr>
                      <a:r>
                        <a:t>Utilidad de Operación (EBITDA)</a:t>
                      </a:r>
                    </a:p>
                  </a:txBody>
                  <a:tcPr>
                    <a:solidFill>
                      <a:srgbClr val="E6F5EB"/>
                    </a:solidFill>
                  </a:tcPr>
                </a:tc>
                <a:tc>
                  <a:txBody>
                    <a:bodyPr/>
                    <a:lstStyle/>
                    <a:p>
                      <a:pPr algn="r">
                        <a:defRPr sz="950" b="1">
                          <a:latin typeface="Arial"/>
                        </a:defRPr>
                      </a:pPr>
                      <a:r>
                        <a:t>($22,000)</a:t>
                      </a:r>
                    </a:p>
                  </a:txBody>
                  <a:tcPr>
                    <a:solidFill>
                      <a:srgbClr val="E6F5EB"/>
                    </a:solidFill>
                  </a:tcPr>
                </a:tc>
                <a:tc>
                  <a:txBody>
                    <a:bodyPr/>
                    <a:lstStyle/>
                    <a:p>
                      <a:pPr algn="r">
                        <a:defRPr sz="950" b="1">
                          <a:latin typeface="Arial"/>
                        </a:defRPr>
                      </a:pPr>
                      <a:r>
                        <a:t>$88,000</a:t>
                      </a:r>
                    </a:p>
                  </a:txBody>
                  <a:tcPr>
                    <a:solidFill>
                      <a:srgbClr val="E6F5EB"/>
                    </a:solidFill>
                  </a:tcPr>
                </a:tc>
                <a:tc>
                  <a:txBody>
                    <a:bodyPr/>
                    <a:lstStyle/>
                    <a:p>
                      <a:pPr algn="r">
                        <a:defRPr sz="950" b="1">
                          <a:latin typeface="Arial"/>
                        </a:defRPr>
                      </a:pPr>
                      <a:r>
                        <a:t>$286,000</a:t>
                      </a:r>
                    </a:p>
                  </a:txBody>
                  <a:tcPr>
                    <a:solidFill>
                      <a:srgbClr val="E6F5EB"/>
                    </a:solidFill>
                  </a:tcPr>
                </a:tc>
              </a:tr>
              <a:tr h="411480">
                <a:tc>
                  <a:txBody>
                    <a:bodyPr/>
                    <a:lstStyle/>
                    <a:p>
                      <a:pPr algn="l">
                        <a:defRPr sz="950" b="1">
                          <a:latin typeface="Arial"/>
                        </a:defRPr>
                      </a:pPr>
                      <a:r>
                        <a:t>Impuestos Proyectados (ISR 30% con Amortización)</a:t>
                      </a:r>
                    </a:p>
                  </a:txBody>
                  <a:tcPr>
                    <a:solidFill>
                      <a:srgbClr val="FFFFFF"/>
                    </a:solidFill>
                  </a:tcPr>
                </a:tc>
                <a:tc>
                  <a:txBody>
                    <a:bodyPr/>
                    <a:lstStyle/>
                    <a:p>
                      <a:pPr algn="r">
                        <a:defRPr sz="950">
                          <a:latin typeface="Arial"/>
                        </a:defRPr>
                      </a:pPr>
                      <a:r>
                        <a:t>$0</a:t>
                      </a:r>
                    </a:p>
                  </a:txBody>
                  <a:tcPr>
                    <a:solidFill>
                      <a:srgbClr val="FFFFFF"/>
                    </a:solidFill>
                  </a:tcPr>
                </a:tc>
                <a:tc>
                  <a:txBody>
                    <a:bodyPr/>
                    <a:lstStyle/>
                    <a:p>
                      <a:pPr algn="r">
                        <a:defRPr sz="950">
                          <a:latin typeface="Arial"/>
                        </a:defRPr>
                      </a:pPr>
                      <a:r>
                        <a:t>($20,000)</a:t>
                      </a:r>
                    </a:p>
                  </a:txBody>
                  <a:tcPr>
                    <a:solidFill>
                      <a:srgbClr val="FFFFFF"/>
                    </a:solidFill>
                  </a:tcPr>
                </a:tc>
                <a:tc>
                  <a:txBody>
                    <a:bodyPr/>
                    <a:lstStyle/>
                    <a:p>
                      <a:pPr algn="r">
                        <a:defRPr sz="950">
                          <a:latin typeface="Arial"/>
                        </a:defRPr>
                      </a:pPr>
                      <a:r>
                        <a:t>($86,000)</a:t>
                      </a:r>
                    </a:p>
                  </a:txBody>
                  <a:tcPr>
                    <a:solidFill>
                      <a:srgbClr val="FFFFFF"/>
                    </a:solidFill>
                  </a:tcPr>
                </a:tc>
              </a:tr>
              <a:tr h="411480">
                <a:tc>
                  <a:txBody>
                    <a:bodyPr/>
                    <a:lstStyle/>
                    <a:p>
                      <a:pPr algn="l">
                        <a:defRPr sz="950" b="1">
                          <a:solidFill>
                            <a:srgbClr val="2E7D57"/>
                          </a:solidFill>
                          <a:latin typeface="Arial"/>
                        </a:defRPr>
                      </a:pPr>
                      <a:r>
                        <a:t>UTILIDAD NETA DEL EJERCICIO (FEN)</a:t>
                      </a:r>
                    </a:p>
                  </a:txBody>
                  <a:tcPr>
                    <a:solidFill>
                      <a:srgbClr val="E6F5EB"/>
                    </a:solidFill>
                  </a:tcPr>
                </a:tc>
                <a:tc>
                  <a:txBody>
                    <a:bodyPr/>
                    <a:lstStyle/>
                    <a:p>
                      <a:pPr algn="r">
                        <a:defRPr sz="950" b="1">
                          <a:solidFill>
                            <a:srgbClr val="2E7D57"/>
                          </a:solidFill>
                          <a:latin typeface="Arial"/>
                        </a:defRPr>
                      </a:pPr>
                      <a:r>
                        <a:t>($22,000)</a:t>
                      </a:r>
                    </a:p>
                  </a:txBody>
                  <a:tcPr>
                    <a:solidFill>
                      <a:srgbClr val="E6F5EB"/>
                    </a:solidFill>
                  </a:tcPr>
                </a:tc>
                <a:tc>
                  <a:txBody>
                    <a:bodyPr/>
                    <a:lstStyle/>
                    <a:p>
                      <a:pPr algn="r">
                        <a:defRPr sz="950" b="1">
                          <a:solidFill>
                            <a:srgbClr val="2E7D57"/>
                          </a:solidFill>
                          <a:latin typeface="Arial"/>
                        </a:defRPr>
                      </a:pPr>
                      <a:r>
                        <a:t>$68,000</a:t>
                      </a:r>
                    </a:p>
                  </a:txBody>
                  <a:tcPr>
                    <a:solidFill>
                      <a:srgbClr val="E6F5EB"/>
                    </a:solidFill>
                  </a:tcPr>
                </a:tc>
                <a:tc>
                  <a:txBody>
                    <a:bodyPr/>
                    <a:lstStyle/>
                    <a:p>
                      <a:pPr algn="r">
                        <a:defRPr sz="950" b="1">
                          <a:solidFill>
                            <a:srgbClr val="2E7D57"/>
                          </a:solidFill>
                          <a:latin typeface="Arial"/>
                        </a:defRPr>
                      </a:pPr>
                      <a:r>
                        <a:t>$200,000</a:t>
                      </a:r>
                    </a:p>
                  </a:txBody>
                  <a:tcPr>
                    <a:solidFill>
                      <a:srgbClr val="E6F5EB"/>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Tabla Ilustrativa de Evaluación Financiera: VPN, TIR y Payback</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11 / 12</a:t>
            </a:r>
          </a:p>
        </p:txBody>
      </p:sp>
      <p:graphicFrame>
        <p:nvGraphicFramePr>
          <p:cNvPr id="7" name="Table 6"/>
          <p:cNvGraphicFramePr>
            <a:graphicFrameLocks noGrp="1"/>
          </p:cNvGraphicFramePr>
          <p:nvPr/>
        </p:nvGraphicFramePr>
        <p:xfrm>
          <a:off x="548640" y="1280160"/>
          <a:ext cx="11064240" cy="4114800"/>
        </p:xfrm>
        <a:graphic>
          <a:graphicData uri="http://schemas.openxmlformats.org/drawingml/2006/table">
            <a:tbl>
              <a:tblPr firstRow="1" bandRow="1">
                <a:tableStyleId>{5C22544A-7EE6-4342-B048-85BDC9FD1C3A}</a:tableStyleId>
              </a:tblPr>
              <a:tblGrid>
                <a:gridCol w="2766060"/>
                <a:gridCol w="2766060"/>
                <a:gridCol w="2766060"/>
                <a:gridCol w="2766060"/>
              </a:tblGrid>
              <a:tr h="514350">
                <a:tc>
                  <a:txBody>
                    <a:bodyPr/>
                    <a:lstStyle/>
                    <a:p>
                      <a:pPr algn="ctr">
                        <a:defRPr sz="1000" b="1">
                          <a:solidFill>
                            <a:srgbClr val="FFFFFF"/>
                          </a:solidFill>
                          <a:latin typeface="Arial"/>
                        </a:defRPr>
                      </a:pPr>
                      <a:r>
                        <a:t>Periodo / Indicador Financiero</a:t>
                      </a:r>
                    </a:p>
                  </a:txBody>
                  <a:tcPr>
                    <a:solidFill>
                      <a:srgbClr val="002B49"/>
                    </a:solidFill>
                  </a:tcPr>
                </a:tc>
                <a:tc>
                  <a:txBody>
                    <a:bodyPr/>
                    <a:lstStyle/>
                    <a:p>
                      <a:pPr algn="ctr">
                        <a:defRPr sz="1000" b="1">
                          <a:solidFill>
                            <a:srgbClr val="FFFFFF"/>
                          </a:solidFill>
                          <a:latin typeface="Arial"/>
                        </a:defRPr>
                      </a:pPr>
                      <a:r>
                        <a:t>Flujo de Efectivo Neto (FEN)</a:t>
                      </a:r>
                    </a:p>
                  </a:txBody>
                  <a:tcPr>
                    <a:solidFill>
                      <a:srgbClr val="002B49"/>
                    </a:solidFill>
                  </a:tcPr>
                </a:tc>
                <a:tc>
                  <a:txBody>
                    <a:bodyPr/>
                    <a:lstStyle/>
                    <a:p>
                      <a:pPr algn="ctr">
                        <a:defRPr sz="1000" b="1">
                          <a:solidFill>
                            <a:srgbClr val="FFFFFF"/>
                          </a:solidFill>
                          <a:latin typeface="Arial"/>
                        </a:defRPr>
                      </a:pPr>
                      <a:r>
                        <a:t>Factor Descuento (TMAR 15%)</a:t>
                      </a:r>
                    </a:p>
                  </a:txBody>
                  <a:tcPr>
                    <a:solidFill>
                      <a:srgbClr val="002B49"/>
                    </a:solidFill>
                  </a:tcPr>
                </a:tc>
                <a:tc>
                  <a:txBody>
                    <a:bodyPr/>
                    <a:lstStyle/>
                    <a:p>
                      <a:pPr algn="ctr">
                        <a:defRPr sz="1000" b="1">
                          <a:solidFill>
                            <a:srgbClr val="FFFFFF"/>
                          </a:solidFill>
                          <a:latin typeface="Arial"/>
                        </a:defRPr>
                      </a:pPr>
                      <a:r>
                        <a:t>Valor Presente del Flujo (VP)</a:t>
                      </a:r>
                    </a:p>
                  </a:txBody>
                  <a:tcPr>
                    <a:solidFill>
                      <a:srgbClr val="002B49"/>
                    </a:solidFill>
                  </a:tcPr>
                </a:tc>
              </a:tr>
              <a:tr h="514350">
                <a:tc>
                  <a:txBody>
                    <a:bodyPr/>
                    <a:lstStyle/>
                    <a:p>
                      <a:pPr algn="l">
                        <a:defRPr sz="950" b="1">
                          <a:latin typeface="Arial"/>
                        </a:defRPr>
                      </a:pPr>
                      <a:r>
                        <a:t>Año 0 (Inversión Inicial CAPEX)</a:t>
                      </a:r>
                    </a:p>
                  </a:txBody>
                  <a:tcPr>
                    <a:solidFill>
                      <a:srgbClr val="FFFFFF"/>
                    </a:solidFill>
                  </a:tcPr>
                </a:tc>
                <a:tc>
                  <a:txBody>
                    <a:bodyPr/>
                    <a:lstStyle/>
                    <a:p>
                      <a:pPr algn="l">
                        <a:defRPr sz="950">
                          <a:latin typeface="Arial"/>
                        </a:defRPr>
                      </a:pPr>
                      <a:r>
                        <a:t>($140,000.00 MXN)</a:t>
                      </a:r>
                    </a:p>
                  </a:txBody>
                  <a:tcPr>
                    <a:solidFill>
                      <a:srgbClr val="FFFFFF"/>
                    </a:solidFill>
                  </a:tcPr>
                </a:tc>
                <a:tc>
                  <a:txBody>
                    <a:bodyPr/>
                    <a:lstStyle/>
                    <a:p>
                      <a:pPr algn="r">
                        <a:defRPr sz="950">
                          <a:latin typeface="Arial"/>
                        </a:defRPr>
                      </a:pPr>
                      <a:r>
                        <a:t>1.0000</a:t>
                      </a:r>
                    </a:p>
                  </a:txBody>
                  <a:tcPr>
                    <a:solidFill>
                      <a:srgbClr val="FFFFFF"/>
                    </a:solidFill>
                  </a:tcPr>
                </a:tc>
                <a:tc>
                  <a:txBody>
                    <a:bodyPr/>
                    <a:lstStyle/>
                    <a:p>
                      <a:pPr algn="r">
                        <a:defRPr sz="950">
                          <a:latin typeface="Arial"/>
                        </a:defRPr>
                      </a:pPr>
                      <a:r>
                        <a:t>($140,000.00 MXN)</a:t>
                      </a:r>
                    </a:p>
                  </a:txBody>
                  <a:tcPr>
                    <a:solidFill>
                      <a:srgbClr val="FFFFFF"/>
                    </a:solidFill>
                  </a:tcPr>
                </a:tc>
              </a:tr>
              <a:tr h="514350">
                <a:tc>
                  <a:txBody>
                    <a:bodyPr/>
                    <a:lstStyle/>
                    <a:p>
                      <a:pPr algn="l">
                        <a:defRPr sz="950" b="1">
                          <a:latin typeface="Arial"/>
                        </a:defRPr>
                      </a:pPr>
                      <a:r>
                        <a:t>Año 1 (Fase Piloto CUTonalá)</a:t>
                      </a:r>
                    </a:p>
                  </a:txBody>
                  <a:tcPr>
                    <a:solidFill>
                      <a:srgbClr val="FFFFFF"/>
                    </a:solidFill>
                  </a:tcPr>
                </a:tc>
                <a:tc>
                  <a:txBody>
                    <a:bodyPr/>
                    <a:lstStyle/>
                    <a:p>
                      <a:pPr algn="l">
                        <a:defRPr sz="950">
                          <a:latin typeface="Arial"/>
                        </a:defRPr>
                      </a:pPr>
                      <a:r>
                        <a:t>($22,000.00 MXN)</a:t>
                      </a:r>
                    </a:p>
                  </a:txBody>
                  <a:tcPr>
                    <a:solidFill>
                      <a:srgbClr val="FFFFFF"/>
                    </a:solidFill>
                  </a:tcPr>
                </a:tc>
                <a:tc>
                  <a:txBody>
                    <a:bodyPr/>
                    <a:lstStyle/>
                    <a:p>
                      <a:pPr algn="r">
                        <a:defRPr sz="950">
                          <a:latin typeface="Arial"/>
                        </a:defRPr>
                      </a:pPr>
                      <a:r>
                        <a:t>0.8696</a:t>
                      </a:r>
                    </a:p>
                  </a:txBody>
                  <a:tcPr>
                    <a:solidFill>
                      <a:srgbClr val="FFFFFF"/>
                    </a:solidFill>
                  </a:tcPr>
                </a:tc>
                <a:tc>
                  <a:txBody>
                    <a:bodyPr/>
                    <a:lstStyle/>
                    <a:p>
                      <a:pPr algn="r">
                        <a:defRPr sz="950">
                          <a:latin typeface="Arial"/>
                        </a:defRPr>
                      </a:pPr>
                      <a:r>
                        <a:t>($19,130.43 MXN)</a:t>
                      </a:r>
                    </a:p>
                  </a:txBody>
                  <a:tcPr>
                    <a:solidFill>
                      <a:srgbClr val="FFFFFF"/>
                    </a:solidFill>
                  </a:tcPr>
                </a:tc>
              </a:tr>
              <a:tr h="514350">
                <a:tc>
                  <a:txBody>
                    <a:bodyPr/>
                    <a:lstStyle/>
                    <a:p>
                      <a:pPr algn="l">
                        <a:defRPr sz="950" b="1">
                          <a:latin typeface="Arial"/>
                        </a:defRPr>
                      </a:pPr>
                      <a:r>
                        <a:t>Año 2 (Versión Pulida CUT+CUCEI)</a:t>
                      </a:r>
                    </a:p>
                  </a:txBody>
                  <a:tcPr>
                    <a:solidFill>
                      <a:srgbClr val="FFFFFF"/>
                    </a:solidFill>
                  </a:tcPr>
                </a:tc>
                <a:tc>
                  <a:txBody>
                    <a:bodyPr/>
                    <a:lstStyle/>
                    <a:p>
                      <a:pPr algn="l">
                        <a:defRPr sz="950">
                          <a:latin typeface="Arial"/>
                        </a:defRPr>
                      </a:pPr>
                      <a:r>
                        <a:t>$68,000.00 MXN</a:t>
                      </a:r>
                    </a:p>
                  </a:txBody>
                  <a:tcPr>
                    <a:solidFill>
                      <a:srgbClr val="FFFFFF"/>
                    </a:solidFill>
                  </a:tcPr>
                </a:tc>
                <a:tc>
                  <a:txBody>
                    <a:bodyPr/>
                    <a:lstStyle/>
                    <a:p>
                      <a:pPr algn="r">
                        <a:defRPr sz="950">
                          <a:latin typeface="Arial"/>
                        </a:defRPr>
                      </a:pPr>
                      <a:r>
                        <a:t>0.7561</a:t>
                      </a:r>
                    </a:p>
                  </a:txBody>
                  <a:tcPr>
                    <a:solidFill>
                      <a:srgbClr val="FFFFFF"/>
                    </a:solidFill>
                  </a:tcPr>
                </a:tc>
                <a:tc>
                  <a:txBody>
                    <a:bodyPr/>
                    <a:lstStyle/>
                    <a:p>
                      <a:pPr algn="r">
                        <a:defRPr sz="950">
                          <a:latin typeface="Arial"/>
                        </a:defRPr>
                      </a:pPr>
                      <a:r>
                        <a:t>$51,417.77 MXN</a:t>
                      </a:r>
                    </a:p>
                  </a:txBody>
                  <a:tcPr>
                    <a:solidFill>
                      <a:srgbClr val="FFFFFF"/>
                    </a:solidFill>
                  </a:tcPr>
                </a:tc>
              </a:tr>
              <a:tr h="514350">
                <a:tc>
                  <a:txBody>
                    <a:bodyPr/>
                    <a:lstStyle/>
                    <a:p>
                      <a:pPr algn="l">
                        <a:defRPr sz="950" b="1">
                          <a:latin typeface="Arial"/>
                        </a:defRPr>
                      </a:pPr>
                      <a:r>
                        <a:t>Año 3 (Consolidación ZMG: 4 planteles)</a:t>
                      </a:r>
                    </a:p>
                  </a:txBody>
                  <a:tcPr>
                    <a:solidFill>
                      <a:srgbClr val="FFFFFF"/>
                    </a:solidFill>
                  </a:tcPr>
                </a:tc>
                <a:tc>
                  <a:txBody>
                    <a:bodyPr/>
                    <a:lstStyle/>
                    <a:p>
                      <a:pPr algn="l">
                        <a:defRPr sz="950">
                          <a:latin typeface="Arial"/>
                        </a:defRPr>
                      </a:pPr>
                      <a:r>
                        <a:t>$200,000.00 MXN</a:t>
                      </a:r>
                    </a:p>
                  </a:txBody>
                  <a:tcPr>
                    <a:solidFill>
                      <a:srgbClr val="FFFFFF"/>
                    </a:solidFill>
                  </a:tcPr>
                </a:tc>
                <a:tc>
                  <a:txBody>
                    <a:bodyPr/>
                    <a:lstStyle/>
                    <a:p>
                      <a:pPr algn="r">
                        <a:defRPr sz="950">
                          <a:latin typeface="Arial"/>
                        </a:defRPr>
                      </a:pPr>
                      <a:r>
                        <a:t>0.6575</a:t>
                      </a:r>
                    </a:p>
                  </a:txBody>
                  <a:tcPr>
                    <a:solidFill>
                      <a:srgbClr val="FFFFFF"/>
                    </a:solidFill>
                  </a:tcPr>
                </a:tc>
                <a:tc>
                  <a:txBody>
                    <a:bodyPr/>
                    <a:lstStyle/>
                    <a:p>
                      <a:pPr algn="r">
                        <a:defRPr sz="950">
                          <a:latin typeface="Arial"/>
                        </a:defRPr>
                      </a:pPr>
                      <a:r>
                        <a:t>$131,503.24 MXN</a:t>
                      </a:r>
                    </a:p>
                  </a:txBody>
                  <a:tcPr>
                    <a:solidFill>
                      <a:srgbClr val="FFFFFF"/>
                    </a:solidFill>
                  </a:tcPr>
                </a:tc>
              </a:tr>
              <a:tr h="514350">
                <a:tc>
                  <a:txBody>
                    <a:bodyPr/>
                    <a:lstStyle/>
                    <a:p>
                      <a:pPr algn="l">
                        <a:defRPr sz="950" b="1">
                          <a:solidFill>
                            <a:srgbClr val="2E7D57"/>
                          </a:solidFill>
                          <a:latin typeface="Arial"/>
                        </a:defRPr>
                      </a:pPr>
                      <a:r>
                        <a:t>VALOR PRESENTE NETO (VPN)</a:t>
                      </a:r>
                    </a:p>
                  </a:txBody>
                  <a:tcPr>
                    <a:solidFill>
                      <a:srgbClr val="E6F5EB"/>
                    </a:solidFill>
                  </a:tcPr>
                </a:tc>
                <a:tc>
                  <a:txBody>
                    <a:bodyPr/>
                    <a:lstStyle/>
                    <a:p>
                      <a:pPr algn="l">
                        <a:defRPr sz="950" b="1">
                          <a:solidFill>
                            <a:srgbClr val="2E7D57"/>
                          </a:solidFill>
                          <a:latin typeface="Arial"/>
                        </a:defRPr>
                      </a:pPr>
                      <a:r>
                        <a:t>Suma algebraica VP</a:t>
                      </a:r>
                    </a:p>
                  </a:txBody>
                  <a:tcPr>
                    <a:solidFill>
                      <a:srgbClr val="E6F5EB"/>
                    </a:solidFill>
                  </a:tcPr>
                </a:tc>
                <a:tc>
                  <a:txBody>
                    <a:bodyPr/>
                    <a:lstStyle/>
                    <a:p>
                      <a:pPr algn="r">
                        <a:defRPr sz="950" b="1">
                          <a:solidFill>
                            <a:srgbClr val="2E7D57"/>
                          </a:solidFill>
                          <a:latin typeface="Arial"/>
                        </a:defRPr>
                      </a:pPr>
                      <a:r>
                        <a:t>TMAR = 15.0% anual</a:t>
                      </a:r>
                    </a:p>
                  </a:txBody>
                  <a:tcPr>
                    <a:solidFill>
                      <a:srgbClr val="E6F5EB"/>
                    </a:solidFill>
                  </a:tcPr>
                </a:tc>
                <a:tc>
                  <a:txBody>
                    <a:bodyPr/>
                    <a:lstStyle/>
                    <a:p>
                      <a:pPr algn="r">
                        <a:defRPr sz="950" b="1">
                          <a:solidFill>
                            <a:srgbClr val="2E7D57"/>
                          </a:solidFill>
                          <a:latin typeface="Arial"/>
                        </a:defRPr>
                      </a:pPr>
                      <a:r>
                        <a:t>+$23,790.58 MXN</a:t>
                      </a:r>
                    </a:p>
                  </a:txBody>
                  <a:tcPr>
                    <a:solidFill>
                      <a:srgbClr val="E6F5EB"/>
                    </a:solidFill>
                  </a:tcPr>
                </a:tc>
              </a:tr>
              <a:tr h="514350">
                <a:tc>
                  <a:txBody>
                    <a:bodyPr/>
                    <a:lstStyle/>
                    <a:p>
                      <a:pPr algn="l">
                        <a:defRPr sz="950" b="1">
                          <a:solidFill>
                            <a:srgbClr val="2E7D57"/>
                          </a:solidFill>
                          <a:latin typeface="Arial"/>
                        </a:defRPr>
                      </a:pPr>
                      <a:r>
                        <a:t>TASA INTERNA DE RETORNO (TIR)</a:t>
                      </a:r>
                    </a:p>
                  </a:txBody>
                  <a:tcPr>
                    <a:solidFill>
                      <a:srgbClr val="E6F5EB"/>
                    </a:solidFill>
                  </a:tcPr>
                </a:tc>
                <a:tc>
                  <a:txBody>
                    <a:bodyPr/>
                    <a:lstStyle/>
                    <a:p>
                      <a:pPr algn="l">
                        <a:defRPr sz="950" b="1">
                          <a:solidFill>
                            <a:srgbClr val="2E7D57"/>
                          </a:solidFill>
                          <a:latin typeface="Arial"/>
                        </a:defRPr>
                      </a:pPr>
                      <a:r>
                        <a:t>Tasa donde VPN = 0</a:t>
                      </a:r>
                    </a:p>
                  </a:txBody>
                  <a:tcPr>
                    <a:solidFill>
                      <a:srgbClr val="E6F5EB"/>
                    </a:solidFill>
                  </a:tcPr>
                </a:tc>
                <a:tc>
                  <a:txBody>
                    <a:bodyPr/>
                    <a:lstStyle/>
                    <a:p>
                      <a:pPr algn="r">
                        <a:defRPr sz="950" b="1">
                          <a:solidFill>
                            <a:srgbClr val="2E7D57"/>
                          </a:solidFill>
                          <a:latin typeface="Arial"/>
                        </a:defRPr>
                      </a:pPr>
                      <a:r>
                        <a:t>Margen vs TMAR: +6.34%</a:t>
                      </a:r>
                    </a:p>
                  </a:txBody>
                  <a:tcPr>
                    <a:solidFill>
                      <a:srgbClr val="E6F5EB"/>
                    </a:solidFill>
                  </a:tcPr>
                </a:tc>
                <a:tc>
                  <a:txBody>
                    <a:bodyPr/>
                    <a:lstStyle/>
                    <a:p>
                      <a:pPr algn="r">
                        <a:defRPr sz="950" b="1">
                          <a:solidFill>
                            <a:srgbClr val="2E7D57"/>
                          </a:solidFill>
                          <a:latin typeface="Arial"/>
                        </a:defRPr>
                      </a:pPr>
                      <a:r>
                        <a:t>21.34% anual</a:t>
                      </a:r>
                    </a:p>
                  </a:txBody>
                  <a:tcPr>
                    <a:solidFill>
                      <a:srgbClr val="E6F5EB"/>
                    </a:solidFill>
                  </a:tcPr>
                </a:tc>
              </a:tr>
              <a:tr h="514350">
                <a:tc>
                  <a:txBody>
                    <a:bodyPr/>
                    <a:lstStyle/>
                    <a:p>
                      <a:pPr algn="l">
                        <a:defRPr sz="950" b="1">
                          <a:solidFill>
                            <a:srgbClr val="2E7D57"/>
                          </a:solidFill>
                          <a:latin typeface="Arial"/>
                        </a:defRPr>
                      </a:pPr>
                      <a:r>
                        <a:t>PERIODO DE RECUPERACIÓN (Payback)</a:t>
                      </a:r>
                    </a:p>
                  </a:txBody>
                  <a:tcPr>
                    <a:solidFill>
                      <a:srgbClr val="E6F5EB"/>
                    </a:solidFill>
                  </a:tcPr>
                </a:tc>
                <a:tc>
                  <a:txBody>
                    <a:bodyPr/>
                    <a:lstStyle/>
                    <a:p>
                      <a:pPr algn="l">
                        <a:defRPr sz="950" b="1">
                          <a:solidFill>
                            <a:srgbClr val="2E7D57"/>
                          </a:solidFill>
                          <a:latin typeface="Arial"/>
                        </a:defRPr>
                      </a:pPr>
                      <a:r>
                        <a:t>Saldo acumulado simple</a:t>
                      </a:r>
                    </a:p>
                  </a:txBody>
                  <a:tcPr>
                    <a:solidFill>
                      <a:srgbClr val="E6F5EB"/>
                    </a:solidFill>
                  </a:tcPr>
                </a:tc>
                <a:tc>
                  <a:txBody>
                    <a:bodyPr/>
                    <a:lstStyle/>
                    <a:p>
                      <a:pPr algn="r">
                        <a:defRPr sz="950" b="1">
                          <a:solidFill>
                            <a:srgbClr val="2E7D57"/>
                          </a:solidFill>
                          <a:latin typeface="Arial"/>
                        </a:defRPr>
                      </a:pPr>
                      <a:r>
                        <a:t>Payback Descontado: M34</a:t>
                      </a:r>
                    </a:p>
                  </a:txBody>
                  <a:tcPr>
                    <a:solidFill>
                      <a:srgbClr val="E6F5EB"/>
                    </a:solidFill>
                  </a:tcPr>
                </a:tc>
                <a:tc>
                  <a:txBody>
                    <a:bodyPr/>
                    <a:lstStyle/>
                    <a:p>
                      <a:pPr algn="r">
                        <a:defRPr sz="950" b="1">
                          <a:solidFill>
                            <a:srgbClr val="2E7D57"/>
                          </a:solidFill>
                          <a:latin typeface="Arial"/>
                        </a:defRPr>
                      </a:pPr>
                      <a:r>
                        <a:t>Mes 29.6 (~Mes 30)</a:t>
                      </a:r>
                    </a:p>
                  </a:txBody>
                  <a:tcPr>
                    <a:solidFill>
                      <a:srgbClr val="E6F5EB"/>
                    </a:solidFill>
                  </a:tcPr>
                </a:tc>
              </a:tr>
            </a:tbl>
          </a:graphicData>
        </a:graphic>
      </p:graphicFrame>
      <p:sp>
        <p:nvSpPr>
          <p:cNvPr id="8" name="TextBox 7"/>
          <p:cNvSpPr txBox="1"/>
          <p:nvPr/>
        </p:nvSpPr>
        <p:spPr>
          <a:xfrm>
            <a:off x="548640" y="5486400"/>
            <a:ext cx="11064240" cy="640080"/>
          </a:xfrm>
          <a:prstGeom prst="rect">
            <a:avLst/>
          </a:prstGeom>
          <a:noFill/>
        </p:spPr>
        <p:txBody>
          <a:bodyPr wrap="none">
            <a:spAutoFit/>
          </a:bodyPr>
          <a:lstStyle/>
          <a:p>
            <a:pPr>
              <a:defRPr sz="950" b="1">
                <a:solidFill>
                  <a:srgbClr val="002B49"/>
                </a:solidFill>
                <a:latin typeface="Arial"/>
              </a:defRPr>
            </a:pPr>
            <a:r>
              <a:t>Interpolación: Payback Simple = Mes 29.6 (Año 3, M6)  |  Payback Descontado = Mes 34 (Año 3, M10)  |  B/C = 1.15x (VP Flujos Positivos / Inversión Acumulada)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8EFF5"/>
        </a:solidFill>
        <a:effectLst/>
      </p:bgPr>
    </p:bg>
    <p:spTree>
      <p:nvGrpSpPr>
        <p:cNvPr id="1" name=""/>
        <p:cNvGrpSpPr/>
        <p:nvPr/>
      </p:nvGrpSpPr>
      <p:grpSpPr/>
      <p:sp>
        <p:nvSpPr>
          <p:cNvPr id="2" name="TextBox 1"/>
          <p:cNvSpPr txBox="1"/>
          <p:nvPr/>
        </p:nvSpPr>
        <p:spPr>
          <a:xfrm>
            <a:off x="548640" y="320040"/>
            <a:ext cx="8229600" cy="256032"/>
          </a:xfrm>
          <a:prstGeom prst="rect">
            <a:avLst/>
          </a:prstGeom>
          <a:noFill/>
        </p:spPr>
        <p:txBody>
          <a:bodyPr wrap="square">
            <a:spAutoFit/>
          </a:bodyPr>
          <a:lstStyle/>
          <a:p>
            <a:pPr>
              <a:defRPr sz="950" b="1">
                <a:solidFill>
                  <a:srgbClr val="006699"/>
                </a:solidFill>
                <a:latin typeface="Arial"/>
              </a:defRPr>
            </a:pPr>
            <a:r>
              <a:t>FIERRO MELÉNDEZ E. H. · FORMULACIÓN Y EVALUACIÓN DE PROYECTOS</a:t>
            </a:r>
          </a:p>
        </p:txBody>
      </p:sp>
      <p:sp>
        <p:nvSpPr>
          <p:cNvPr id="3" name="TextBox 2"/>
          <p:cNvSpPr txBox="1"/>
          <p:nvPr/>
        </p:nvSpPr>
        <p:spPr>
          <a:xfrm>
            <a:off x="548640" y="548640"/>
            <a:ext cx="9601200" cy="502920"/>
          </a:xfrm>
          <a:prstGeom prst="rect">
            <a:avLst/>
          </a:prstGeom>
          <a:noFill/>
        </p:spPr>
        <p:txBody>
          <a:bodyPr wrap="square">
            <a:spAutoFit/>
          </a:bodyPr>
          <a:lstStyle/>
          <a:p>
            <a:pPr>
              <a:defRPr sz="2000" b="1">
                <a:solidFill>
                  <a:srgbClr val="002B49"/>
                </a:solidFill>
                <a:latin typeface="Arial"/>
              </a:defRPr>
            </a:pPr>
            <a:r>
              <a:t>Conclusiones, Propuesta para el Inversionista y Referencias APA</a:t>
            </a:r>
          </a:p>
        </p:txBody>
      </p:sp>
      <p:pic>
        <p:nvPicPr>
          <p:cNvPr id="4" name="Picture 3" descr="slide_2_img_12.png"/>
          <p:cNvPicPr>
            <a:picLocks noChangeAspect="1"/>
          </p:cNvPicPr>
          <p:nvPr/>
        </p:nvPicPr>
        <p:blipFill>
          <a:blip r:embed="rId2"/>
          <a:stretch>
            <a:fillRect/>
          </a:stretch>
        </p:blipFill>
        <p:spPr>
          <a:xfrm>
            <a:off x="9921240" y="320040"/>
            <a:ext cx="1691640" cy="545747"/>
          </a:xfrm>
          <a:prstGeom prst="rect">
            <a:avLst/>
          </a:prstGeom>
        </p:spPr>
      </p:pic>
      <p:sp>
        <p:nvSpPr>
          <p:cNvPr id="5" name="TextBox 4"/>
          <p:cNvSpPr txBox="1"/>
          <p:nvPr/>
        </p:nvSpPr>
        <p:spPr>
          <a:xfrm>
            <a:off x="548640" y="6309360"/>
            <a:ext cx="11091672" cy="320040"/>
          </a:xfrm>
          <a:prstGeom prst="rect">
            <a:avLst/>
          </a:prstGeom>
          <a:noFill/>
        </p:spPr>
        <p:txBody>
          <a:bodyPr wrap="none">
            <a:spAutoFit/>
          </a:bodyPr>
          <a:lstStyle/>
          <a:p>
            <a:pPr>
              <a:defRPr sz="900">
                <a:solidFill>
                  <a:srgbClr val="6C757D"/>
                </a:solidFill>
                <a:latin typeface="Arial"/>
              </a:defRPr>
            </a:pPr>
            <a:r>
              <a:t>Fierro Meléndez Ernesto Hatuey  ·  Formulación y Evaluación de Proyectos</a:t>
            </a:r>
          </a:p>
        </p:txBody>
      </p:sp>
      <p:sp>
        <p:nvSpPr>
          <p:cNvPr id="6" name="TextBox 5"/>
          <p:cNvSpPr txBox="1"/>
          <p:nvPr/>
        </p:nvSpPr>
        <p:spPr>
          <a:xfrm>
            <a:off x="10515600" y="6309360"/>
            <a:ext cx="1124712" cy="320040"/>
          </a:xfrm>
          <a:prstGeom prst="rect">
            <a:avLst/>
          </a:prstGeom>
          <a:noFill/>
        </p:spPr>
        <p:txBody>
          <a:bodyPr wrap="none">
            <a:spAutoFit/>
          </a:bodyPr>
          <a:lstStyle/>
          <a:p>
            <a:pPr algn="r">
              <a:defRPr sz="900" b="1">
                <a:solidFill>
                  <a:srgbClr val="002B49"/>
                </a:solidFill>
                <a:latin typeface="Arial"/>
              </a:defRPr>
            </a:pPr>
            <a:r>
              <a:t>12 / 12</a:t>
            </a:r>
          </a:p>
        </p:txBody>
      </p:sp>
      <p:sp>
        <p:nvSpPr>
          <p:cNvPr id="7" name="Rounded Rectangle 6"/>
          <p:cNvSpPr/>
          <p:nvPr/>
        </p:nvSpPr>
        <p:spPr>
          <a:xfrm>
            <a:off x="548640" y="1371600"/>
            <a:ext cx="5303520" cy="4754880"/>
          </a:xfrm>
          <a:prstGeom prst="roundRect">
            <a:avLst/>
          </a:prstGeom>
          <a:solidFill>
            <a:srgbClr val="002B49"/>
          </a:solidFill>
          <a:ln w="25400">
            <a:solidFill>
              <a:srgbClr val="2E7D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300">
                <a:solidFill>
                  <a:srgbClr val="96CDFF"/>
                </a:solidFill>
                <a:latin typeface="Arial"/>
              </a:defRPr>
            </a:pPr>
            <a:r>
              <a:t>Propuesta Formal para el Inversionista</a:t>
            </a:r>
          </a:p>
          <a:p>
            <a:pPr>
              <a:defRPr sz="1000">
                <a:solidFill>
                  <a:srgbClr val="FFFFFF"/>
                </a:solidFill>
                <a:latin typeface="Arial"/>
              </a:defRPr>
            </a:pPr>
            <a:r>
              <a:t>• Inversión Requerida: $140,000 MXN en Capital Semilla.</a:t>
            </a:r>
            <a:br/>
            <a:br/>
            <a:r>
              <a:t>• Participación: 15% en las utilidades netas del proyecto.</a:t>
            </a:r>
            <a:br/>
            <a:br/>
            <a:r>
              <a:t>• Retorno de Capital: Inicio de pago de dividendos en el Mes 20; amortización total del capital en el Mes 30 (Payback simple).</a:t>
            </a:r>
            <a:br/>
            <a:br/>
            <a:r>
              <a:t>• Rendimiento Recurrente: Dividendo estimado de $30,000+ MXN anuales sostenibles a partir del Año 3 con solo 4 planteles consolidados.</a:t>
            </a:r>
          </a:p>
        </p:txBody>
      </p:sp>
      <p:sp>
        <p:nvSpPr>
          <p:cNvPr id="8" name="Rounded Rectangle 7"/>
          <p:cNvSpPr/>
          <p:nvPr/>
        </p:nvSpPr>
        <p:spPr>
          <a:xfrm>
            <a:off x="6126480" y="1371600"/>
            <a:ext cx="5486400" cy="4754880"/>
          </a:xfrm>
          <a:prstGeom prst="roundRect">
            <a:avLst/>
          </a:prstGeom>
          <a:solidFill>
            <a:srgbClr val="FFFFFF"/>
          </a:solidFill>
          <a:ln>
            <a:solidFill>
              <a:srgbClr val="D0DCD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b="1" sz="1200">
                <a:solidFill>
                  <a:srgbClr val="002B49"/>
                </a:solidFill>
                <a:latin typeface="Arial"/>
              </a:defRPr>
            </a:pPr>
            <a:r>
              <a:t>Referencias Bibliográficas (APA 7ma Edición)</a:t>
            </a:r>
          </a:p>
          <a:p>
            <a:pPr>
              <a:spcAft>
                <a:spcPts val="300"/>
              </a:spcAft>
              <a:defRPr sz="950">
                <a:solidFill>
                  <a:srgbClr val="212529"/>
                </a:solidFill>
                <a:latin typeface="Arial"/>
              </a:defRPr>
            </a:pPr>
            <a:r>
              <a:t>• Aldunate, E. y Córdoba, J. (2011). Formulación de programas con la metodología de marco lógico (Serie Manuales N° 68). CEPAL/ILPES.</a:t>
            </a:r>
          </a:p>
          <a:p>
            <a:pPr>
              <a:spcAft>
                <a:spcPts val="300"/>
              </a:spcAft>
              <a:defRPr sz="950">
                <a:solidFill>
                  <a:srgbClr val="212529"/>
                </a:solidFill>
                <a:latin typeface="Arial"/>
              </a:defRPr>
            </a:pPr>
            <a:r>
              <a:t>• ANUIES. (2023). Anuario estadístico de la educación superior 2022-2023. https://anuies.mx/anuarios-estadisticos</a:t>
            </a:r>
          </a:p>
          <a:p>
            <a:pPr>
              <a:spcAft>
                <a:spcPts val="300"/>
              </a:spcAft>
              <a:defRPr sz="950">
                <a:solidFill>
                  <a:srgbClr val="212529"/>
                </a:solidFill>
                <a:latin typeface="Arial"/>
              </a:defRPr>
            </a:pPr>
            <a:r>
              <a:t>• Baca Urbina, G. (2013). Evaluación de proyectos (7ma ed.). McGraw-Hill.</a:t>
            </a:r>
          </a:p>
          <a:p>
            <a:pPr>
              <a:spcAft>
                <a:spcPts val="300"/>
              </a:spcAft>
              <a:defRPr sz="950">
                <a:solidFill>
                  <a:srgbClr val="212529"/>
                </a:solidFill>
                <a:latin typeface="Arial"/>
              </a:defRPr>
            </a:pPr>
            <a:r>
              <a:t>• Cámara de Diputados. (2017). Ley General de Protección de Datos Personales en Posesión de Sujetos Obligados. DOF 26/01/2017.</a:t>
            </a:r>
          </a:p>
          <a:p>
            <a:pPr>
              <a:spcAft>
                <a:spcPts val="300"/>
              </a:spcAft>
              <a:defRPr sz="950">
                <a:solidFill>
                  <a:srgbClr val="212529"/>
                </a:solidFill>
                <a:latin typeface="Arial"/>
              </a:defRPr>
            </a:pPr>
            <a:r>
              <a:t>• CGPE. (2024). Numeralia institucional de la Red Universitaria. UdeG. https://cgpe.udg.mx/numeralia-institucional</a:t>
            </a:r>
          </a:p>
          <a:p>
            <a:pPr>
              <a:spcAft>
                <a:spcPts val="300"/>
              </a:spcAft>
              <a:defRPr sz="950">
                <a:solidFill>
                  <a:srgbClr val="212529"/>
                </a:solidFill>
                <a:latin typeface="Arial"/>
              </a:defRPr>
            </a:pPr>
            <a:r>
              <a:t>• Ortegón, E., Pacheco, J. F. y Prieto, A. (2005). Metodología del marco lógico (Serie Manuales N° 42). CEPAL/ILPES.</a:t>
            </a:r>
          </a:p>
          <a:p>
            <a:pPr>
              <a:spcAft>
                <a:spcPts val="300"/>
              </a:spcAft>
              <a:defRPr sz="950">
                <a:solidFill>
                  <a:srgbClr val="212529"/>
                </a:solidFill>
                <a:latin typeface="Arial"/>
              </a:defRPr>
            </a:pPr>
            <a:r>
              <a:t>• Universidad de Guadalajara. (2019). Plan de Desarrollo Institucional 2019-2025, Visión 2030. https://www.udg.mx/es/pdi</a:t>
            </a:r>
          </a:p>
          <a:p>
            <a:pPr>
              <a:spcAft>
                <a:spcPts val="300"/>
              </a:spcAft>
              <a:defRPr sz="950">
                <a:solidFill>
                  <a:srgbClr val="212529"/>
                </a:solidFill>
                <a:latin typeface="Arial"/>
              </a:defRPr>
            </a:pPr>
            <a:r>
              <a:t>• Universidad de Guadalajara. (2022). Reglamento de Adquisiciones, Arrendamientos y Contratación de Servicios.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