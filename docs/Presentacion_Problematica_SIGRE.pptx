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0:00 - 0:45 (45 segundos)</a:t>
            </a:r>
          </a:p>
          <a:p>
            <a:r>
              <a:t>GUIÓN: Buen día profesora y compañeros. El día de hoy el Equipo presenta la formulación de la problemática y la propuesta de solución para nuestro proyecto de inversión titulado SIGRE: Sistema Integrado de Gestión de Recursos y Espacios, enfocado en resolver las ineficiencias críticas de control y mermas patrimoniales en nuestra Red Universitaria.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0:45 - 1:45 (60 segundos)</a:t>
            </a:r>
          </a:p>
          <a:p>
            <a:r>
              <a:t>GUIÓN: Para dimensionar el contexto, la Red Universitaria atiende a más de 300 mil alumnos. En CUTonalá el crecimiento de aulas y laboratorios es acelerado; sin embargo, existe una contradicción evidente: se invierten recursos en tecnología de aula, pero los métodos para administrar, prestar y resguardar ese equipamiento siguen basándose en libretas de papel y acuerdos de palabra.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1:45 - 2:45 (60 segundos)</a:t>
            </a:r>
          </a:p>
          <a:p>
            <a:r>
              <a:t>GUIÓN: El problema central es el colapso del modelo analógico. Almacenes y prefecturas operan con bitácoras en papel que no permiten saber quién tiene qué bien en este momento. Las reservas de auditorios sufren empalmes constantes y cuando un equipo se daña o extravía, la libreta no tiene validez legal ni técnica para exigir la reposición.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2:45 - 4:00 (75 segundos)</a:t>
            </a:r>
          </a:p>
          <a:p>
            <a:r>
              <a:t>GUIÓN: Al investigar formalmente las causas raíz bajo metodología CEPAL, encontramos tres factores determinantes: Primero, la causa operativa por falta de visibilidad en tiempo real. Segundo, la fragilidad jurídica: las libretas carecen de validez como acta responsiva. Y tercero, la ausencia de un sistema de incentivos y reputación que fomente el cuidado de los bienes compartidos.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4:00 - 5:15 (75 segundos)</a:t>
            </a:r>
          </a:p>
          <a:p>
            <a:r>
              <a:t>GUIÓN: Las consecuencias son graves y medibles. Con base en la experiencia en almacenes y Servicios Generales, se calcula una merma anual de entre 130 mil y 150 mil pesos por plantel en reposición constante de accesorios. Además, cada conflicto de espacio o equipo descompuesto arrebata de 15 a 25 minutos de clase, mientras los directivos carecen de métricas para planificar el presupuesto.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5:15 - 6:15 (60 segundos)</a:t>
            </a:r>
          </a:p>
          <a:p>
            <a:r>
              <a:t>GUIÓN: Nuestra solución atiende a tres audiencias bien definidas: A los Secretarios Administrativos que exigen cuentas claras y ahorro de presupuesto; a los operadores de almacén que necesitan rapidez y respaldo legal en ventanilla; y a la comunidad de profesores y alumnos que demandan apartar recursos de forma transparente desde su teléfono móvil.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6:15 - 7:15 (60 segundos)</a:t>
            </a:r>
          </a:p>
          <a:p>
            <a:r>
              <a:t>GUIÓN: Al comparar alternativas, vemos que más papel solo encarece la burocracia; las hojas de cálculo no sirven para el momento de la entrega física ni tienen validez jurídica. La única alternativa viable es una plataforma cloud especializada como SIGRE, diseñada desde la ventanilla del almacén hacia la directiva.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7:15 - 8:30 (75 segundos)</a:t>
            </a:r>
          </a:p>
          <a:p>
            <a:r>
              <a:t>GUIÓN: SIGRE opera sobre 4 pilares: El boleto digital con QR intransferible para escanear en segundos; el doble checklist de entrega física; el score de confiabilidad que fomenta la cultura de cuidado; y la emisión de responsivas electrónicas oficiales con validez legal. Todo accesible desde cualquier navegador o teléfono móvil.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8:30 - 9:15 (45 segundos)</a:t>
            </a:r>
          </a:p>
          <a:p>
            <a:r>
              <a:t>GUIÓN: Englobando todo nuestro razonamiento en una hipótesis formal: 'Si implementamos SIGRE con responsivas electrónicas, doble checklist y trazabilidad en tiempo real, reduciremos en al menos un 80% las mermas patrimoniales por extravío y eliminaremos al 100% los empalmes en auditorios y aulas'. Esto demuestra una relación causa-efecto perfectamente cuantificable.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9:15 - 9:45 (30 segundos)</a:t>
            </a:r>
          </a:p>
          <a:p>
            <a:r>
              <a:t>GUIÓN: En conclusión, SIGRE es un proyecto de inversión que protege el patrimonio institucional, dignifica la labor del personal operativo y eleva la calidad académica. Su costo de implementación es insignificante comparado con los cientos de miles de pesos que hoy se pierden en el modelo analógico. Muchas gracias.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9:45 - 10:00 (15 segundos)</a:t>
            </a:r>
          </a:p>
          <a:p>
            <a:r>
              <a:t>GUIÓN: Presentamos las fuentes formales consultadas en estricto formato APA 7ma edición que dan sustento teórico, jurídico y estadístico a nuestra investigación. Quedamos a su disposición para la sesión de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TextBox 1"/>
          <p:cNvSpPr txBox="1"/>
          <p:nvPr/>
        </p:nvSpPr>
        <p:spPr>
          <a:xfrm>
            <a:off x="914400" y="731520"/>
            <a:ext cx="10332720" cy="731520"/>
          </a:xfrm>
          <a:prstGeom prst="rect">
            <a:avLst/>
          </a:prstGeom>
          <a:noFill/>
        </p:spPr>
        <p:txBody>
          <a:bodyPr wrap="none">
            <a:spAutoFit/>
          </a:bodyPr>
          <a:lstStyle/>
          <a:p>
            <a:pPr>
              <a:defRPr sz="1300" b="1">
                <a:solidFill>
                  <a:srgbClr val="B4CDE6"/>
                </a:solidFill>
                <a:latin typeface="Arial"/>
              </a:defRPr>
            </a:pPr>
            <a:r>
              <a:t>UNIVERSIDAD DE GUADALAJARA | CENTRO UNIVERSITARIO DE TONALÁ</a:t>
            </a:r>
          </a:p>
          <a:p>
            <a:pPr>
              <a:defRPr sz="1100">
                <a:solidFill>
                  <a:srgbClr val="C8D7E6"/>
                </a:solidFill>
              </a:defRPr>
            </a:pPr>
            <a:r>
              <a:t>División de Ingenierías e Innovación Tecnológica</a:t>
            </a:r>
          </a:p>
        </p:txBody>
      </p:sp>
      <p:sp>
        <p:nvSpPr>
          <p:cNvPr id="3" name="TextBox 2"/>
          <p:cNvSpPr txBox="1"/>
          <p:nvPr/>
        </p:nvSpPr>
        <p:spPr>
          <a:xfrm>
            <a:off x="914400" y="1645920"/>
            <a:ext cx="10332720" cy="1645920"/>
          </a:xfrm>
          <a:prstGeom prst="rect">
            <a:avLst/>
          </a:prstGeom>
          <a:noFill/>
        </p:spPr>
        <p:txBody>
          <a:bodyPr wrap="square">
            <a:spAutoFit/>
          </a:bodyPr>
          <a:lstStyle/>
          <a:p>
            <a:pPr>
              <a:defRPr sz="3000" b="1">
                <a:solidFill>
                  <a:srgbClr val="FFFFFF"/>
                </a:solidFill>
                <a:latin typeface="Arial"/>
              </a:defRPr>
            </a:pPr>
            <a:r>
              <a:t>SIGRE: Sistema Integrado de Gestión de Recursos y Espacios</a:t>
            </a:r>
          </a:p>
          <a:p>
            <a:pPr>
              <a:spcBef>
                <a:spcPts val="800"/>
              </a:spcBef>
              <a:defRPr sz="1500">
                <a:solidFill>
                  <a:srgbClr val="BEDCFF"/>
                </a:solidFill>
              </a:defRPr>
            </a:pPr>
            <a:r>
              <a:t>Diagnóstico Causal de la Problemática en Control de Activos y Formulación de la Propuesta de Solución</a:t>
            </a:r>
          </a:p>
        </p:txBody>
      </p:sp>
      <p:sp>
        <p:nvSpPr>
          <p:cNvPr id="4" name="Rounded Rectangle 3"/>
          <p:cNvSpPr/>
          <p:nvPr/>
        </p:nvSpPr>
        <p:spPr>
          <a:xfrm>
            <a:off x="914400" y="3474720"/>
            <a:ext cx="10332720" cy="2651760"/>
          </a:xfrm>
          <a:prstGeom prst="roundRect">
            <a:avLst/>
          </a:prstGeom>
          <a:solidFill>
            <a:srgbClr val="08375C"/>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657600"/>
            <a:ext cx="9784080" cy="2286000"/>
          </a:xfrm>
          <a:prstGeom prst="rect">
            <a:avLst/>
          </a:prstGeom>
          <a:noFill/>
        </p:spPr>
        <p:txBody>
          <a:bodyPr wrap="square">
            <a:spAutoFit/>
          </a:bodyPr>
          <a:lstStyle/>
          <a:p>
            <a:pPr>
              <a:spcAft>
                <a:spcPts val="400"/>
              </a:spcAft>
            </a:pPr>
            <a:r>
              <a:rPr b="1" sz="1200">
                <a:solidFill>
                  <a:srgbClr val="96CDFF"/>
                </a:solidFill>
              </a:rPr>
              <a:t>Materia: </a:t>
            </a:r>
            <a:r>
              <a:rPr sz="1200">
                <a:solidFill>
                  <a:srgbClr val="FFFFFF"/>
                </a:solidFill>
              </a:rPr>
              <a:t>Formulación y Evaluación de Proyectos de Inversión</a:t>
            </a:r>
          </a:p>
          <a:p>
            <a:pPr>
              <a:spcAft>
                <a:spcPts val="400"/>
              </a:spcAft>
            </a:pPr>
            <a:r>
              <a:rPr b="1" sz="1200">
                <a:solidFill>
                  <a:srgbClr val="96CDFF"/>
                </a:solidFill>
              </a:rPr>
              <a:t>Docente Titular: </a:t>
            </a:r>
            <a:r>
              <a:rPr sz="1200">
                <a:solidFill>
                  <a:srgbClr val="FFFFFF"/>
                </a:solidFill>
              </a:rPr>
              <a:t>Mtra. Abril Adriana Angulo Sherman</a:t>
            </a:r>
          </a:p>
          <a:p>
            <a:pPr>
              <a:spcAft>
                <a:spcPts val="400"/>
              </a:spcAft>
            </a:pPr>
            <a:r>
              <a:rPr b="1" sz="1200">
                <a:solidFill>
                  <a:srgbClr val="96CDFF"/>
                </a:solidFill>
              </a:rPr>
              <a:t>Carrera: </a:t>
            </a:r>
            <a:r>
              <a:rPr sz="1200">
                <a:solidFill>
                  <a:srgbClr val="FFFFFF"/>
                </a:solidFill>
              </a:rPr>
              <a:t>Ingeniería en Ciencias Computacionales / Tecnologías de Información</a:t>
            </a:r>
          </a:p>
          <a:p>
            <a:pPr>
              <a:spcAft>
                <a:spcPts val="400"/>
              </a:spcAft>
            </a:pPr>
            <a:r>
              <a:rPr b="1" sz="1200">
                <a:solidFill>
                  <a:srgbClr val="96CDFF"/>
                </a:solidFill>
              </a:rPr>
              <a:t>Equipo: </a:t>
            </a:r>
            <a:r>
              <a:rPr sz="1200">
                <a:solidFill>
                  <a:srgbClr val="FFFFFF"/>
                </a:solidFill>
              </a:rPr>
              <a:t>Equipo N° [Número de Equipo]</a:t>
            </a:r>
          </a:p>
          <a:p>
            <a:pPr>
              <a:spcAft>
                <a:spcPts val="400"/>
              </a:spcAft>
            </a:pPr>
            <a:r>
              <a:rPr b="1" sz="1200">
                <a:solidFill>
                  <a:srgbClr val="96CDFF"/>
                </a:solidFill>
              </a:rPr>
              <a:t>Integrantes: </a:t>
            </a:r>
            <a:r>
              <a:rPr sz="1200">
                <a:solidFill>
                  <a:srgbClr val="FFFFFF"/>
                </a:solidFill>
              </a:rPr>
              <a:t>[Nombre Completo 1] (Código: [Código 1]) | [Nombre Completo 2] (Código: [Código 2]) | [Nombre Completo 3] (Código: [Código 3])</a:t>
            </a:r>
          </a:p>
          <a:p>
            <a:pPr>
              <a:spcAft>
                <a:spcPts val="400"/>
              </a:spcAft>
            </a:pPr>
            <a:r>
              <a:rPr b="1" sz="1200">
                <a:solidFill>
                  <a:srgbClr val="96CDFF"/>
                </a:solidFill>
              </a:rPr>
              <a:t>Fecha de Exposición: </a:t>
            </a:r>
            <a:r>
              <a:rPr sz="1200">
                <a:solidFill>
                  <a:srgbClr val="FFFFFF"/>
                </a:solidFill>
              </a:rPr>
              <a:t>Septiembre de 2026 — CUTonalá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Contexto Operativo: La Escala de la Red Universitaria</a:t>
            </a:r>
          </a:p>
        </p:txBody>
      </p:sp>
      <p:sp>
        <p:nvSpPr>
          <p:cNvPr id="4" name="Rounded Rectangle 3"/>
          <p:cNvSpPr/>
          <p:nvPr/>
        </p:nvSpPr>
        <p:spPr>
          <a:xfrm>
            <a:off x="731520" y="1463040"/>
            <a:ext cx="512064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b="1" sz="1600">
                <a:solidFill>
                  <a:srgbClr val="002B49"/>
                </a:solidFill>
              </a:defRPr>
            </a:pPr>
            <a:r>
              <a:t>🏛️ Magnitud Institucional</a:t>
            </a:r>
          </a:p>
          <a:p>
            <a:pPr>
              <a:spcAft>
                <a:spcPts val="1000"/>
              </a:spcAft>
              <a:defRPr sz="1300">
                <a:solidFill>
                  <a:srgbClr val="212529"/>
                </a:solidFill>
              </a:defRPr>
            </a:pPr>
            <a:r>
              <a:t>• Red Universitaria con más de 300,000 estudiantes y 17,000 académicos activos en Jalisco (CGPE, 2024).</a:t>
            </a:r>
          </a:p>
          <a:p>
            <a:pPr>
              <a:spcAft>
                <a:spcPts val="1000"/>
              </a:spcAft>
              <a:defRPr sz="1300">
                <a:solidFill>
                  <a:srgbClr val="212529"/>
                </a:solidFill>
              </a:defRPr>
            </a:pPr>
            <a:r>
              <a:t>• CUTonalá como campus multidisciplinario en continua expansión de aulas magnas, laboratorios y talleres (Centro Universitario de Tonalá, 2023).</a:t>
            </a:r>
          </a:p>
          <a:p>
            <a:pPr>
              <a:spcAft>
                <a:spcPts val="1000"/>
              </a:spcAft>
              <a:defRPr sz="1300">
                <a:solidFill>
                  <a:srgbClr val="212529"/>
                </a:solidFill>
              </a:defRPr>
            </a:pPr>
            <a:r>
              <a:t>• Alta densidad de clases simultáneas que demandan equipo técnico y audiovisual por hora.</a:t>
            </a:r>
          </a:p>
        </p:txBody>
      </p:sp>
      <p:sp>
        <p:nvSpPr>
          <p:cNvPr id="5" name="Rounded Rectangle 4"/>
          <p:cNvSpPr/>
          <p:nvPr/>
        </p:nvSpPr>
        <p:spPr>
          <a:xfrm>
            <a:off x="6217920" y="1463040"/>
            <a:ext cx="52120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b="1" sz="1600">
                <a:solidFill>
                  <a:srgbClr val="006699"/>
                </a:solidFill>
              </a:defRPr>
            </a:pPr>
            <a:r>
              <a:t>⚠️ La Paradoja de Gestión Actual</a:t>
            </a:r>
          </a:p>
          <a:p>
            <a:pPr>
              <a:spcAft>
                <a:spcPts val="1000"/>
              </a:spcAft>
              <a:defRPr sz="1300">
                <a:solidFill>
                  <a:srgbClr val="212529"/>
                </a:solidFill>
              </a:defRPr>
            </a:pPr>
            <a:r>
              <a:t>• Inversiones millonarias en proyectores, pantallas y equipo de cómputo para modernizar la enseñanza.</a:t>
            </a:r>
          </a:p>
          <a:p>
            <a:pPr>
              <a:spcAft>
                <a:spcPts val="1000"/>
              </a:spcAft>
              <a:defRPr sz="1300">
                <a:solidFill>
                  <a:srgbClr val="212529"/>
                </a:solidFill>
              </a:defRPr>
            </a:pPr>
            <a:r>
              <a:t>• Persistencia de métodos de hace décadas en mostrador: libretas de espiral, credenciales retenidas y notas manuscritas.</a:t>
            </a:r>
          </a:p>
          <a:p>
            <a:pPr>
              <a:spcAft>
                <a:spcPts val="1000"/>
              </a:spcAft>
              <a:defRPr sz="1300">
                <a:solidFill>
                  <a:srgbClr val="212529"/>
                </a:solidFill>
              </a:defRPr>
            </a:pPr>
            <a:r>
              <a:t>• Desconexión digital entre el inventario de almacén, los coordinadores de carrera y las aulas de clase.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La Problemática Central: El Colapso del Modelo Analógico</a:t>
            </a:r>
          </a:p>
        </p:txBody>
      </p:sp>
      <p:sp>
        <p:nvSpPr>
          <p:cNvPr id="4" name="Rounded Rectangle 3"/>
          <p:cNvSpPr/>
          <p:nvPr/>
        </p:nvSpPr>
        <p:spPr>
          <a:xfrm>
            <a:off x="7315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b="1" sz="1500">
                <a:solidFill>
                  <a:srgbClr val="002B49"/>
                </a:solidFill>
              </a:defRPr>
            </a:pPr>
            <a:r>
              <a:t>📋 Registro en Papel Vulnerable</a:t>
            </a:r>
          </a:p>
          <a:p>
            <a:pPr>
              <a:spcAft>
                <a:spcPts val="800"/>
              </a:spcAft>
              <a:defRPr sz="1250">
                <a:solidFill>
                  <a:srgbClr val="212529"/>
                </a:solidFill>
              </a:defRPr>
            </a:pPr>
            <a:r>
              <a:t>El préstamo diario de cables HDMI, adaptadores y proyectores se registra en libretas físicas sin respaldo digital, expuestas a extravío, tachaduras y deterioro diario.</a:t>
            </a:r>
          </a:p>
        </p:txBody>
      </p:sp>
      <p:sp>
        <p:nvSpPr>
          <p:cNvPr id="5" name="Rounded Rectangle 4"/>
          <p:cNvSpPr/>
          <p:nvPr/>
        </p:nvSpPr>
        <p:spPr>
          <a:xfrm>
            <a:off x="43891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b="1" sz="1500">
                <a:solidFill>
                  <a:srgbClr val="006699"/>
                </a:solidFill>
              </a:defRPr>
            </a:pPr>
            <a:r>
              <a:t>🗓️ Empalmes de Espacios Físicos</a:t>
            </a:r>
          </a:p>
          <a:p>
            <a:pPr>
              <a:spcAft>
                <a:spcPts val="800"/>
              </a:spcAft>
              <a:defRPr sz="1250">
                <a:solidFill>
                  <a:srgbClr val="212529"/>
                </a:solidFill>
              </a:defRPr>
            </a:pPr>
            <a:r>
              <a:t>Aulas magnas y auditorios apartados mediante oficios o mensajes verbales; provocan dobles asignaciones y clases suspendidas al inicio del bloque lectivo.</a:t>
            </a:r>
          </a:p>
        </p:txBody>
      </p:sp>
      <p:sp>
        <p:nvSpPr>
          <p:cNvPr id="6" name="Rounded Rectangle 5"/>
          <p:cNvSpPr/>
          <p:nvPr/>
        </p:nvSpPr>
        <p:spPr>
          <a:xfrm>
            <a:off x="80467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b="1" sz="1500">
                <a:solidFill>
                  <a:srgbClr val="002B49"/>
                </a:solidFill>
              </a:defRPr>
            </a:pPr>
            <a:r>
              <a:t>🛡️ Ruptura de Cadena de Custodia</a:t>
            </a:r>
          </a:p>
          <a:p>
            <a:pPr>
              <a:spcAft>
                <a:spcPts val="800"/>
              </a:spcAft>
              <a:defRPr sz="1250">
                <a:solidFill>
                  <a:srgbClr val="212529"/>
                </a:solidFill>
              </a:defRPr>
            </a:pPr>
            <a:r>
              <a:t>Falta de una responsiva electrónica oficial: ante daños o pérdidas, el mostrador carece de validez probatoria para el deslinde patrimonial (Universidad de Guadalajara, 2019).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Análisis Causal: Raíces Estructurales del Problema</a:t>
            </a:r>
          </a:p>
        </p:txBody>
      </p:sp>
      <p:sp>
        <p:nvSpPr>
          <p:cNvPr id="4" name="Rounded Rectangle 3"/>
          <p:cNvSpPr/>
          <p:nvPr/>
        </p:nvSpPr>
        <p:spPr>
          <a:xfrm>
            <a:off x="731520" y="1371600"/>
            <a:ext cx="10698480" cy="137160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006699"/>
                </a:solidFill>
              </a:rPr>
              <a:t>1. Causa Operativa: </a:t>
            </a:r>
            <a:r>
              <a:rPr b="1" sz="1300">
                <a:solidFill>
                  <a:srgbClr val="002B49"/>
                </a:solidFill>
              </a:rPr>
              <a:t>Falta de Trazabilidad e Inventario Dinámico en Tiempo Real</a:t>
            </a:r>
          </a:p>
          <a:p>
            <a:pPr>
              <a:spcBef>
                <a:spcPts val="300"/>
              </a:spcBef>
              <a:defRPr sz="1200">
                <a:solidFill>
                  <a:srgbClr val="212529"/>
                </a:solidFill>
              </a:defRPr>
            </a:pPr>
            <a:r>
              <a:t>El personal de almacén no cuenta con un sistema centralizado que refleje al instante la disponibilidad, ubicación y estado físico de cada activo o espacio.</a:t>
            </a:r>
          </a:p>
          <a:p>
            <a:pPr>
              <a:defRPr sz="1000" i="1">
                <a:solidFill>
                  <a:srgbClr val="6C757D"/>
                </a:solidFill>
              </a:defRPr>
            </a:pPr>
            <a:r>
              <a:t>Cita: (Universidad de Guadalajara, 2019)</a:t>
            </a:r>
          </a:p>
        </p:txBody>
      </p:sp>
      <p:sp>
        <p:nvSpPr>
          <p:cNvPr id="5" name="Rounded Rectangle 4"/>
          <p:cNvSpPr/>
          <p:nvPr/>
        </p:nvSpPr>
        <p:spPr>
          <a:xfrm>
            <a:off x="731520" y="2926080"/>
            <a:ext cx="10698480" cy="137160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006699"/>
                </a:solidFill>
              </a:rPr>
              <a:t>2. Causa Jurídica: </a:t>
            </a:r>
            <a:r>
              <a:rPr b="1" sz="1300">
                <a:solidFill>
                  <a:srgbClr val="002B49"/>
                </a:solidFill>
              </a:rPr>
              <a:t>Inexistencia de Actas de Entrega-Recepción Vinculantes</a:t>
            </a:r>
          </a:p>
          <a:p>
            <a:pPr>
              <a:spcBef>
                <a:spcPts val="300"/>
              </a:spcBef>
              <a:defRPr sz="1200">
                <a:solidFill>
                  <a:srgbClr val="212529"/>
                </a:solidFill>
              </a:defRPr>
            </a:pPr>
            <a:r>
              <a:t>Anotar un nombre y garabatear una firma no cumple con las directrices de resguardo institucional ni estándares de firma digital oficial (Cámara de Diputados, 2017).</a:t>
            </a:r>
          </a:p>
          <a:p>
            <a:pPr>
              <a:defRPr sz="1000" i="1">
                <a:solidFill>
                  <a:srgbClr val="6C757D"/>
                </a:solidFill>
              </a:defRPr>
            </a:pPr>
            <a:r>
              <a:t>Cita: (DOF, 2017)</a:t>
            </a:r>
          </a:p>
        </p:txBody>
      </p:sp>
      <p:sp>
        <p:nvSpPr>
          <p:cNvPr id="6" name="Rounded Rectangle 5"/>
          <p:cNvSpPr/>
          <p:nvPr/>
        </p:nvSpPr>
        <p:spPr>
          <a:xfrm>
            <a:off x="731520" y="4480560"/>
            <a:ext cx="10698480" cy="137160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006699"/>
                </a:solidFill>
              </a:rPr>
              <a:t>3. Causa de Gestión: </a:t>
            </a:r>
            <a:r>
              <a:rPr b="1" sz="1300">
                <a:solidFill>
                  <a:srgbClr val="002B49"/>
                </a:solidFill>
              </a:rPr>
              <a:t>Ausencia de Co-Responsabilidad y Penalizaciones Auditables</a:t>
            </a:r>
          </a:p>
          <a:p>
            <a:pPr>
              <a:spcBef>
                <a:spcPts val="300"/>
              </a:spcBef>
              <a:defRPr sz="1200">
                <a:solidFill>
                  <a:srgbClr val="212529"/>
                </a:solidFill>
              </a:defRPr>
            </a:pPr>
            <a:r>
              <a:t>No existe un historial ni score de confiabilidad del usuario: quien entrega tarde o maltrata equipo no tiene seguimiento ni apercibimiento administrativo.</a:t>
            </a:r>
          </a:p>
          <a:p>
            <a:pPr>
              <a:defRPr sz="1000" i="1">
                <a:solidFill>
                  <a:srgbClr val="6C757D"/>
                </a:solidFill>
              </a:defRPr>
            </a:pPr>
            <a:r>
              <a:t>Cita: (CEPAL, 2015)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Consecuencias e Impacto: Merma Patrimonial y Afectación Docente</a:t>
            </a:r>
          </a:p>
        </p:txBody>
      </p:sp>
      <p:sp>
        <p:nvSpPr>
          <p:cNvPr id="4" name="Rounded Rectangle 3"/>
          <p:cNvSpPr/>
          <p:nvPr/>
        </p:nvSpPr>
        <p:spPr>
          <a:xfrm>
            <a:off x="7315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900">
                <a:solidFill>
                  <a:srgbClr val="002B49"/>
                </a:solidFill>
              </a:defRPr>
            </a:pPr>
            <a:r>
              <a:t>$130,000 - $150,000 MXN</a:t>
            </a:r>
          </a:p>
          <a:p>
            <a:pPr>
              <a:spcAft>
                <a:spcPts val="1200"/>
              </a:spcAft>
              <a:defRPr b="1" sz="1300">
                <a:solidFill>
                  <a:srgbClr val="002B49"/>
                </a:solidFill>
              </a:defRPr>
            </a:pPr>
            <a:r>
              <a:t>Merma Silenciosa Anual por Plantel</a:t>
            </a:r>
          </a:p>
          <a:p>
            <a:pPr>
              <a:defRPr sz="1200">
                <a:solidFill>
                  <a:srgbClr val="212529"/>
                </a:solidFill>
              </a:defRPr>
            </a:pPr>
            <a:r>
              <a:t>Pérdida acumulada en cables HDMI, adaptadores, apuntadores, micrófonos y fuentes de poder extraviados o devueltos dañados sin responsable directo.</a:t>
            </a:r>
          </a:p>
        </p:txBody>
      </p:sp>
      <p:sp>
        <p:nvSpPr>
          <p:cNvPr id="5" name="Rounded Rectangle 4"/>
          <p:cNvSpPr/>
          <p:nvPr/>
        </p:nvSpPr>
        <p:spPr>
          <a:xfrm>
            <a:off x="43891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900">
                <a:solidFill>
                  <a:srgbClr val="006699"/>
                </a:solidFill>
              </a:defRPr>
            </a:pPr>
            <a:r>
              <a:t>15 a 25 Minutos</a:t>
            </a:r>
          </a:p>
          <a:p>
            <a:pPr>
              <a:spcAft>
                <a:spcPts val="1200"/>
              </a:spcAft>
              <a:defRPr b="1" sz="1300">
                <a:solidFill>
                  <a:srgbClr val="002B49"/>
                </a:solidFill>
              </a:defRPr>
            </a:pPr>
            <a:r>
              <a:t>Tiempo de Clase Desperdiciado por Incidencia</a:t>
            </a:r>
          </a:p>
          <a:p>
            <a:pPr>
              <a:defRPr sz="1200">
                <a:solidFill>
                  <a:srgbClr val="212529"/>
                </a:solidFill>
              </a:defRPr>
            </a:pPr>
            <a:r>
              <a:t>Afectación a la calidad pedagógica por resolución de empalmes en auditorios o búsqueda de reemplazos de equipo inoperante a mitad de clase.</a:t>
            </a:r>
          </a:p>
        </p:txBody>
      </p:sp>
      <p:sp>
        <p:nvSpPr>
          <p:cNvPr id="6" name="Rounded Rectangle 5"/>
          <p:cNvSpPr/>
          <p:nvPr/>
        </p:nvSpPr>
        <p:spPr>
          <a:xfrm>
            <a:off x="80467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900">
                <a:solidFill>
                  <a:srgbClr val="002B49"/>
                </a:solidFill>
              </a:defRPr>
            </a:pPr>
            <a:r>
              <a:t>100% Ceguera</a:t>
            </a:r>
          </a:p>
          <a:p>
            <a:pPr>
              <a:spcAft>
                <a:spcPts val="1200"/>
              </a:spcAft>
              <a:defRPr b="1" sz="1300">
                <a:solidFill>
                  <a:srgbClr val="002B49"/>
                </a:solidFill>
              </a:defRPr>
            </a:pPr>
            <a:r>
              <a:t>Falta de Datos para Toma de Decisiones</a:t>
            </a:r>
          </a:p>
          <a:p>
            <a:pPr>
              <a:defRPr sz="1200">
                <a:solidFill>
                  <a:srgbClr val="212529"/>
                </a:solidFill>
              </a:defRPr>
            </a:pPr>
            <a:r>
              <a:t>Compras y mantenimiento realizadas por intuición o urgencia al carecer de estadísticas sobre tasa de rotación y desgaste de activos.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Público Objetivo: Caracterización y Perfiles de Usuario</a:t>
            </a:r>
          </a:p>
        </p:txBody>
      </p:sp>
      <p:sp>
        <p:nvSpPr>
          <p:cNvPr id="4" name="Rounded Rectangle 3"/>
          <p:cNvSpPr/>
          <p:nvPr/>
        </p:nvSpPr>
        <p:spPr>
          <a:xfrm>
            <a:off x="7315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450">
                <a:solidFill>
                  <a:srgbClr val="002B49"/>
                </a:solidFill>
              </a:defRPr>
            </a:pPr>
            <a:r>
              <a:t>👔 Decisores Institucionales</a:t>
            </a:r>
          </a:p>
          <a:p>
            <a:pPr>
              <a:spcAft>
                <a:spcPts val="1200"/>
              </a:spcAft>
              <a:defRPr i="1" sz="1100">
                <a:solidFill>
                  <a:srgbClr val="6C757D"/>
                </a:solidFill>
              </a:defRPr>
            </a:pPr>
            <a:r>
              <a:t>Secretarios Administrativos, Directores de Centros Universitarios y SEMS</a:t>
            </a:r>
          </a:p>
          <a:p>
            <a:pPr>
              <a:defRPr sz="1200">
                <a:solidFill>
                  <a:srgbClr val="212529"/>
                </a:solidFill>
              </a:defRPr>
            </a:pPr>
            <a:r>
              <a:t>• Necesidad: Rendición de cuentas clara en auditorías internas y externas.</a:t>
            </a:r>
            <a:br/>
            <a:r>
              <a:t>• Prioridad: Eliminar la fuga de presupuesto en reposición de equipo.</a:t>
            </a:r>
            <a:br/>
            <a:r>
              <a:t>• Rol en SIGRE: Compradores del servicio vía adjudicación directa.</a:t>
            </a:r>
          </a:p>
        </p:txBody>
      </p:sp>
      <p:sp>
        <p:nvSpPr>
          <p:cNvPr id="5" name="Rounded Rectangle 4"/>
          <p:cNvSpPr/>
          <p:nvPr/>
        </p:nvSpPr>
        <p:spPr>
          <a:xfrm>
            <a:off x="43891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450">
                <a:solidFill>
                  <a:srgbClr val="006699"/>
                </a:solidFill>
              </a:defRPr>
            </a:pPr>
            <a:r>
              <a:t>🧑‍💼 Operadores de Mostrador</a:t>
            </a:r>
          </a:p>
          <a:p>
            <a:pPr>
              <a:spcAft>
                <a:spcPts val="1200"/>
              </a:spcAft>
              <a:defRPr i="1" sz="1100">
                <a:solidFill>
                  <a:srgbClr val="6C757D"/>
                </a:solidFill>
              </a:defRPr>
            </a:pPr>
            <a:r>
              <a:t>Encargados de Almacén, Prefectura y Coordinadores de Espacios</a:t>
            </a:r>
          </a:p>
          <a:p>
            <a:pPr>
              <a:defRPr sz="1200">
                <a:solidFill>
                  <a:srgbClr val="212529"/>
                </a:solidFill>
              </a:defRPr>
            </a:pPr>
            <a:r>
              <a:t>• Necesidad: Agilizar la ventanilla y eliminar filas de profesores.</a:t>
            </a:r>
            <a:br/>
            <a:r>
              <a:t>• Prioridad: Contar con actas firmadas y respaldo formal en caso de daño.</a:t>
            </a:r>
            <a:br/>
            <a:r>
              <a:t>• Rol en SIGRE: Validación con escáner QR y doble checklist de entrega.</a:t>
            </a:r>
          </a:p>
        </p:txBody>
      </p:sp>
      <p:sp>
        <p:nvSpPr>
          <p:cNvPr id="6" name="Rounded Rectangle 5"/>
          <p:cNvSpPr/>
          <p:nvPr/>
        </p:nvSpPr>
        <p:spPr>
          <a:xfrm>
            <a:off x="8046720" y="1463040"/>
            <a:ext cx="3383280" cy="438912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450">
                <a:solidFill>
                  <a:srgbClr val="002B49"/>
                </a:solidFill>
              </a:defRPr>
            </a:pPr>
            <a:r>
              <a:t>🎓 Usuarios Solicitantes</a:t>
            </a:r>
          </a:p>
          <a:p>
            <a:pPr>
              <a:spcAft>
                <a:spcPts val="1200"/>
              </a:spcAft>
              <a:defRPr i="1" sz="1100">
                <a:solidFill>
                  <a:srgbClr val="6C757D"/>
                </a:solidFill>
              </a:defRPr>
            </a:pPr>
            <a:r>
              <a:t>Comunidad Docente y Estudiantil (Pregrado y Posgrado)</a:t>
            </a:r>
          </a:p>
          <a:p>
            <a:pPr>
              <a:defRPr sz="1200">
                <a:solidFill>
                  <a:srgbClr val="212529"/>
                </a:solidFill>
              </a:defRPr>
            </a:pPr>
            <a:r>
              <a:t>• Necesidad: Apartar espacios y proyectores desde su celular sin burocracia.</a:t>
            </a:r>
            <a:br/>
            <a:r>
              <a:t>• Prioridad: Certeza de que el aula y equipo estarán listos al llegar.</a:t>
            </a:r>
            <a:br/>
            <a:r>
              <a:t>• Rol en SIGRE: Reservas en línea, firma de responsiva y consulta de eventos.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Propuestas de Atención: Evaluación de Alternativas de Solución</a:t>
            </a:r>
          </a:p>
        </p:txBody>
      </p:sp>
      <p:sp>
        <p:nvSpPr>
          <p:cNvPr id="4" name="Rounded Rectangle 3"/>
          <p:cNvSpPr/>
          <p:nvPr/>
        </p:nvSpPr>
        <p:spPr>
          <a:xfrm>
            <a:off x="731520" y="1371600"/>
            <a:ext cx="10698480" cy="137160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6C757D"/>
                </a:solidFill>
              </a:rPr>
              <a:t>Alternativa A: Modelo Analógico Reforzado — </a:t>
            </a:r>
            <a:r>
              <a:rPr sz="1250">
                <a:solidFill>
                  <a:srgbClr val="212529"/>
                </a:solidFill>
              </a:rPr>
              <a:t>Incrementar libretas, formatos impresos y personal de vigilancia.</a:t>
            </a:r>
          </a:p>
          <a:p>
            <a:pPr>
              <a:spcBef>
                <a:spcPts val="400"/>
              </a:spcBef>
              <a:defRPr sz="1200" b="0">
                <a:solidFill>
                  <a:srgbClr val="212529"/>
                </a:solidFill>
              </a:defRPr>
            </a:pPr>
            <a:r>
              <a:t>❌ Ineficiente, costoso en insumos, vulnerable a pérdidas y sin trazabilidad digital.</a:t>
            </a:r>
          </a:p>
        </p:txBody>
      </p:sp>
      <p:sp>
        <p:nvSpPr>
          <p:cNvPr id="5" name="Rounded Rectangle 4"/>
          <p:cNvSpPr/>
          <p:nvPr/>
        </p:nvSpPr>
        <p:spPr>
          <a:xfrm>
            <a:off x="731520" y="2926080"/>
            <a:ext cx="10698480" cy="137160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006699"/>
                </a:solidFill>
              </a:rPr>
              <a:t>Alternativa B: Hojas de Cálculo Compartidas — </a:t>
            </a:r>
            <a:r>
              <a:rPr sz="1250">
                <a:solidFill>
                  <a:srgbClr val="212529"/>
                </a:solidFill>
              </a:rPr>
              <a:t>Registros colaborativos en Google Sheets o Excel.</a:t>
            </a:r>
          </a:p>
          <a:p>
            <a:pPr>
              <a:spcBef>
                <a:spcPts val="400"/>
              </a:spcBef>
              <a:defRPr sz="1200" b="0">
                <a:solidFill>
                  <a:srgbClr val="212529"/>
                </a:solidFill>
              </a:defRPr>
            </a:pPr>
            <a:r>
              <a:t>⚠️ Vulnerable a sobreescritura accidental; no resuelve la fila ni genera actas de entrega firmadas.</a:t>
            </a:r>
          </a:p>
        </p:txBody>
      </p:sp>
      <p:sp>
        <p:nvSpPr>
          <p:cNvPr id="6" name="Rounded Rectangle 5"/>
          <p:cNvSpPr/>
          <p:nvPr/>
        </p:nvSpPr>
        <p:spPr>
          <a:xfrm>
            <a:off x="731520" y="4480560"/>
            <a:ext cx="10698480" cy="1371600"/>
          </a:xfrm>
          <a:prstGeom prst="roundRect">
            <a:avLst/>
          </a:prstGeom>
          <a:solidFill>
            <a:srgbClr val="FFFFFF"/>
          </a:solidFill>
          <a:ln>
            <a:solidFill>
              <a:srgbClr val="002B4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002B49"/>
                </a:solidFill>
              </a:rPr>
              <a:t>Alternativa C (Propuesta): Plataforma Cloud Dedicada (SIGRE) — </a:t>
            </a:r>
            <a:r>
              <a:rPr sz="1250">
                <a:solidFill>
                  <a:srgbClr val="212529"/>
                </a:solidFill>
              </a:rPr>
              <a:t>Software especializado con responsivas electrónicas, QR y métricas.</a:t>
            </a:r>
          </a:p>
          <a:p>
            <a:pPr>
              <a:spcBef>
                <a:spcPts val="400"/>
              </a:spcBef>
              <a:defRPr sz="1200" b="1">
                <a:solidFill>
                  <a:srgbClr val="002B49"/>
                </a:solidFill>
              </a:defRPr>
            </a:pPr>
            <a:r>
              <a:t>✅ Solución integral que ataca la causa raíz, automatiza el control y elimina la merma.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Nuestra Propuesta de Solución: Ecosistema SIGRE</a:t>
            </a:r>
          </a:p>
        </p:txBody>
      </p:sp>
      <p:sp>
        <p:nvSpPr>
          <p:cNvPr id="4" name="Rounded Rectangle 3"/>
          <p:cNvSpPr/>
          <p:nvPr/>
        </p:nvSpPr>
        <p:spPr>
          <a:xfrm>
            <a:off x="731520" y="1463040"/>
            <a:ext cx="5212080" cy="201168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400">
                <a:solidFill>
                  <a:srgbClr val="002B49"/>
                </a:solidFill>
              </a:defRPr>
            </a:pPr>
            <a:r>
              <a:t>📱 QR Dinámico e Intransferible</a:t>
            </a:r>
          </a:p>
          <a:p>
            <a:pPr>
              <a:defRPr sz="1200">
                <a:solidFill>
                  <a:srgbClr val="212529"/>
                </a:solidFill>
              </a:defRPr>
            </a:pPr>
            <a:r>
              <a:t>Validación del solicitante en ventanilla en menos de 5 segundos con credencial institucional digital.</a:t>
            </a:r>
          </a:p>
        </p:txBody>
      </p:sp>
      <p:sp>
        <p:nvSpPr>
          <p:cNvPr id="5" name="Rounded Rectangle 4"/>
          <p:cNvSpPr/>
          <p:nvPr/>
        </p:nvSpPr>
        <p:spPr>
          <a:xfrm>
            <a:off x="6126480" y="1463040"/>
            <a:ext cx="5212080" cy="201168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400">
                <a:solidFill>
                  <a:srgbClr val="002B49"/>
                </a:solidFill>
              </a:defRPr>
            </a:pPr>
            <a:r>
              <a:t>📋 Doble Checklist Digital</a:t>
            </a:r>
          </a:p>
          <a:p>
            <a:pPr>
              <a:defRPr sz="1200">
                <a:solidFill>
                  <a:srgbClr val="212529"/>
                </a:solidFill>
              </a:defRPr>
            </a:pPr>
            <a:r>
              <a:t>Inspección guiada en salida y devolución para certificar el estado físico y accesorios completos.</a:t>
            </a:r>
          </a:p>
        </p:txBody>
      </p:sp>
      <p:sp>
        <p:nvSpPr>
          <p:cNvPr id="6" name="Rounded Rectangle 5"/>
          <p:cNvSpPr/>
          <p:nvPr/>
        </p:nvSpPr>
        <p:spPr>
          <a:xfrm>
            <a:off x="731520" y="3749039"/>
            <a:ext cx="5212080" cy="201168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400">
                <a:solidFill>
                  <a:srgbClr val="002B49"/>
                </a:solidFill>
              </a:defRPr>
            </a:pPr>
            <a:r>
              <a:t>⭐ Score de Confiabilidad</a:t>
            </a:r>
          </a:p>
          <a:p>
            <a:pPr>
              <a:defRPr sz="1200">
                <a:solidFill>
                  <a:srgbClr val="212529"/>
                </a:solidFill>
              </a:defRPr>
            </a:pPr>
            <a:r>
              <a:t>Puntaje de reputación por usuario: premia entregas a tiempo y suspende solicitudes a infractores recurrentes.</a:t>
            </a:r>
          </a:p>
        </p:txBody>
      </p:sp>
      <p:sp>
        <p:nvSpPr>
          <p:cNvPr id="7" name="Rounded Rectangle 6"/>
          <p:cNvSpPr/>
          <p:nvPr/>
        </p:nvSpPr>
        <p:spPr>
          <a:xfrm>
            <a:off x="6126480" y="3749039"/>
            <a:ext cx="5212080" cy="201168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400">
                <a:solidFill>
                  <a:srgbClr val="002B49"/>
                </a:solidFill>
              </a:defRPr>
            </a:pPr>
            <a:r>
              <a:t>📑 Responsiva Electrónica Oficial</a:t>
            </a:r>
          </a:p>
          <a:p>
            <a:pPr>
              <a:defRPr sz="1200">
                <a:solidFill>
                  <a:srgbClr val="212529"/>
                </a:solidFill>
              </a:defRPr>
            </a:pPr>
            <a:r>
              <a:t>Acta digital foliada con sellos criptográficos y firma electrónica, con plena validez patrimonial.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Planteamiento Metodológico: Hipótesis de Solución</a:t>
            </a:r>
          </a:p>
        </p:txBody>
      </p:sp>
      <p:sp>
        <p:nvSpPr>
          <p:cNvPr id="4" name="Rounded Rectangle 3"/>
          <p:cNvSpPr/>
          <p:nvPr/>
        </p:nvSpPr>
        <p:spPr>
          <a:xfrm>
            <a:off x="731520" y="1463040"/>
            <a:ext cx="10698480" cy="2194560"/>
          </a:xfrm>
          <a:prstGeom prst="roundRect">
            <a:avLst/>
          </a:prstGeom>
          <a:solidFill>
            <a:srgbClr val="002B49"/>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200">
                <a:solidFill>
                  <a:srgbClr val="B4D7FF"/>
                </a:solidFill>
              </a:defRPr>
            </a:pPr>
            <a:r>
              <a:t>ENUNCIADO FORMAL DE LA HIPÓTESIS</a:t>
            </a:r>
          </a:p>
          <a:p>
            <a:pPr>
              <a:defRPr sz="1400" b="1" i="1">
                <a:solidFill>
                  <a:srgbClr val="FFFFFF"/>
                </a:solidFill>
              </a:defRPr>
            </a:pPr>
            <a:r>
              <a:t>«Si se implementa un sistema digital centralizado de gestión de recursos y espacios con responsivas electrónicas, doble checklist y trazabilidad en tiempo real de usuarios y activos (SIGRE), entonces se reducirán en al menos un 80% las mermas patrimoniales por extravío no atribuible de equipo técnico y se eliminarán al 100% los empalmes de agenda en espacios académicos de los planteles universitarios.»</a:t>
            </a:r>
          </a:p>
        </p:txBody>
      </p:sp>
      <p:sp>
        <p:nvSpPr>
          <p:cNvPr id="5" name="Rounded Rectangle 4"/>
          <p:cNvSpPr/>
          <p:nvPr/>
        </p:nvSpPr>
        <p:spPr>
          <a:xfrm>
            <a:off x="731520" y="3931920"/>
            <a:ext cx="10698480" cy="219456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b="1" sz="1300">
                <a:solidFill>
                  <a:srgbClr val="002B49"/>
                </a:solidFill>
              </a:defRPr>
            </a:pPr>
            <a:r>
              <a:t>Desglose y Operacionalización de Variables:</a:t>
            </a:r>
          </a:p>
          <a:p>
            <a:pPr>
              <a:spcAft>
                <a:spcPts val="400"/>
              </a:spcAft>
            </a:pPr>
            <a:r>
              <a:rPr b="1" sz="1200">
                <a:solidFill>
                  <a:srgbClr val="006699"/>
                </a:solidFill>
              </a:rPr>
              <a:t>• Variable Independiente (Causa): </a:t>
            </a:r>
            <a:r>
              <a:rPr sz="1200">
                <a:solidFill>
                  <a:srgbClr val="212529"/>
                </a:solidFill>
              </a:rPr>
              <a:t>Despliegue operativo de la plataforma SIGRE (módulos de QR, responsiva y checklist digital).</a:t>
            </a:r>
          </a:p>
          <a:p>
            <a:pPr>
              <a:spcAft>
                <a:spcPts val="400"/>
              </a:spcAft>
            </a:pPr>
            <a:r>
              <a:rPr b="1" sz="1200">
                <a:solidFill>
                  <a:srgbClr val="006699"/>
                </a:solidFill>
              </a:rPr>
              <a:t>• Variable Dependiente 1 (Efecto Económico): </a:t>
            </a:r>
            <a:r>
              <a:rPr sz="1200">
                <a:solidFill>
                  <a:srgbClr val="212529"/>
                </a:solidFill>
              </a:rPr>
              <a:t>Tasa de reducción de pérdidas patrimoniales y mermas silenciosas de accesorios (Meta: &gt;= 80%).</a:t>
            </a:r>
          </a:p>
          <a:p>
            <a:pPr>
              <a:spcAft>
                <a:spcPts val="400"/>
              </a:spcAft>
            </a:pPr>
            <a:r>
              <a:rPr b="1" sz="1200">
                <a:solidFill>
                  <a:srgbClr val="006699"/>
                </a:solidFill>
              </a:rPr>
              <a:t>• Variable Dependiente 2 (Efecto Operativo): </a:t>
            </a:r>
            <a:r>
              <a:rPr sz="1200">
                <a:solidFill>
                  <a:srgbClr val="212529"/>
                </a:solidFill>
              </a:rPr>
              <a:t>Incidencia de empalmes o conflictos de agenda en espacios físicos y aulas magnas (Meta: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Conclusiones: Viabilidad y Rentabilidad Institucional</a:t>
            </a:r>
          </a:p>
        </p:txBody>
      </p:sp>
      <p:sp>
        <p:nvSpPr>
          <p:cNvPr id="4" name="Rounded Rectangle 3"/>
          <p:cNvSpPr/>
          <p:nvPr/>
        </p:nvSpPr>
        <p:spPr>
          <a:xfrm>
            <a:off x="731520" y="1463040"/>
            <a:ext cx="10698480" cy="128016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400">
                <a:solidFill>
                  <a:srgbClr val="002B49"/>
                </a:solidFill>
              </a:defRPr>
            </a:pPr>
            <a:r>
              <a:t>💼 Viabilidad Financiera</a:t>
            </a:r>
          </a:p>
          <a:p>
            <a:pPr>
              <a:defRPr sz="1200">
                <a:solidFill>
                  <a:srgbClr val="212529"/>
                </a:solidFill>
              </a:defRPr>
            </a:pPr>
            <a:r>
              <a:t>El proyecto se autofinancia con el propio ahorro de las mermas patrimoniales evitadas; no genera un gasto oneroso para la universidad.</a:t>
            </a:r>
          </a:p>
        </p:txBody>
      </p:sp>
      <p:sp>
        <p:nvSpPr>
          <p:cNvPr id="5" name="Rounded Rectangle 4"/>
          <p:cNvSpPr/>
          <p:nvPr/>
        </p:nvSpPr>
        <p:spPr>
          <a:xfrm>
            <a:off x="731520" y="3017520"/>
            <a:ext cx="10698480" cy="128016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400">
                <a:solidFill>
                  <a:srgbClr val="006699"/>
                </a:solidFill>
              </a:defRPr>
            </a:pPr>
            <a:r>
              <a:t>⚙️ Factibilidad Operativa</a:t>
            </a:r>
          </a:p>
          <a:p>
            <a:pPr>
              <a:defRPr sz="1200">
                <a:solidFill>
                  <a:srgbClr val="212529"/>
                </a:solidFill>
              </a:defRPr>
            </a:pPr>
            <a:r>
              <a:t>No requiere cambiar la infraestructura física de los centros: opera en la nube y se accede desde cualquier smartphone o computadora actual.</a:t>
            </a:r>
          </a:p>
        </p:txBody>
      </p:sp>
      <p:sp>
        <p:nvSpPr>
          <p:cNvPr id="6" name="Rounded Rectangle 5"/>
          <p:cNvSpPr/>
          <p:nvPr/>
        </p:nvSpPr>
        <p:spPr>
          <a:xfrm>
            <a:off x="731520" y="4572000"/>
            <a:ext cx="10698480" cy="128016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400">
                <a:solidFill>
                  <a:srgbClr val="002B49"/>
                </a:solidFill>
              </a:defRPr>
            </a:pPr>
            <a:r>
              <a:t>📈 Impacto en Calidad Educativa</a:t>
            </a:r>
          </a:p>
          <a:p>
            <a:pPr>
              <a:defRPr sz="1200">
                <a:solidFill>
                  <a:srgbClr val="212529"/>
                </a:solidFill>
              </a:defRPr>
            </a:pPr>
            <a:r>
              <a:t>Cero minutos perdidos por fallas o dobles apartados de aulas; certeza absoluta para profesores, alumnos y directivos.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6699"/>
                </a:solidFill>
                <a:latin typeface="Arial"/>
              </a:defRPr>
            </a:pPr>
            <a:r>
              <a:t>FORMULACIÓN Y EVALUACIÓN DE PROYECTOS DE INVERSIÓN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02B49"/>
                </a:solidFill>
                <a:latin typeface="Arial"/>
              </a:defRPr>
            </a:pPr>
            <a:r>
              <a:t>Referencias Bibliográficas (Norma APA 7ma Edición)</a:t>
            </a:r>
          </a:p>
        </p:txBody>
      </p:sp>
      <p:sp>
        <p:nvSpPr>
          <p:cNvPr id="4" name="Rounded Rectangle 3"/>
          <p:cNvSpPr/>
          <p:nvPr/>
        </p:nvSpPr>
        <p:spPr>
          <a:xfrm>
            <a:off x="731520" y="1371600"/>
            <a:ext cx="10698480" cy="4754880"/>
          </a:xfrm>
          <a:prstGeom prst="roundRect">
            <a:avLst/>
          </a:prstGeom>
          <a:solidFill>
            <a:srgbClr val="FFFFFF"/>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000">
                <a:solidFill>
                  <a:srgbClr val="212529"/>
                </a:solidFill>
              </a:defRPr>
            </a:pPr>
            <a:r>
              <a:t>• Asociación Nacional de Universidades e Instituciones de Educación Superior. (2023). Anuario estadístico de la educación superior 2022-2023. ANUIES. http://www.anuies.mx/informacion-y-servicios/informacion-estadistica-de-educacion-superior</a:t>
            </a:r>
          </a:p>
          <a:p>
            <a:pPr>
              <a:spcAft>
                <a:spcPts val="400"/>
              </a:spcAft>
              <a:defRPr sz="1000">
                <a:solidFill>
                  <a:srgbClr val="212529"/>
                </a:solidFill>
              </a:defRPr>
            </a:pPr>
            <a:r>
              <a:t>• Banco Interamericano de Desarrollo. (2020). Metodología del marco lógico para la planificación, el seguimiento y la evaluación de proyectos del BID. Sector de Conocimiento y Aprendizaje del BID. https://publications.iadb.org/es/metodologia-del-marco-logico</a:t>
            </a:r>
          </a:p>
          <a:p>
            <a:pPr>
              <a:spcAft>
                <a:spcPts val="400"/>
              </a:spcAft>
              <a:defRPr sz="1000">
                <a:solidFill>
                  <a:srgbClr val="212529"/>
                </a:solidFill>
              </a:defRPr>
            </a:pPr>
            <a:r>
              <a:t>• Cámara de Diputados del H. Congreso de la Unión. (2017). Ley general de protección de datos personales en posesión de sujetos obligados. Diario Oficial de la Federación. https://www.diputados.gob.mx/LeyesBiblio/pdf/LGPDPPSO.pdf</a:t>
            </a:r>
          </a:p>
          <a:p>
            <a:pPr>
              <a:spcAft>
                <a:spcPts val="400"/>
              </a:spcAft>
              <a:defRPr sz="1000">
                <a:solidFill>
                  <a:srgbClr val="212529"/>
                </a:solidFill>
              </a:defRPr>
            </a:pPr>
            <a:r>
              <a:t>• Centro Universitario de Tonalá. (2023). Plan de desarrollo de CUTonalá 2019-2025: Visión 2030. Universidad de Guadalajara. http://www.cutonala.udg.mx/transparencia/pdi</a:t>
            </a:r>
          </a:p>
          <a:p>
            <a:pPr>
              <a:spcAft>
                <a:spcPts val="400"/>
              </a:spcAft>
              <a:defRPr sz="1000">
                <a:solidFill>
                  <a:srgbClr val="212529"/>
                </a:solidFill>
              </a:defRPr>
            </a:pPr>
            <a:r>
              <a:t>• Comisión Económica para América Latina y el Caribe. (2015). Metodología del marco lógico para la planificación, el seguimiento y la evaluación de proyectos y programas (Serie Manuales N° 68). CEPAL / Naciones Unidas. https://www.cepal.org/es/publicaciones/5618-metodologia-marco-logico</a:t>
            </a:r>
          </a:p>
          <a:p>
            <a:pPr>
              <a:spcAft>
                <a:spcPts val="400"/>
              </a:spcAft>
              <a:defRPr sz="1000">
                <a:solidFill>
                  <a:srgbClr val="212529"/>
                </a:solidFill>
              </a:defRPr>
            </a:pPr>
            <a:r>
              <a:t>• Coordinación General de Planeación y Evaluación. (2024). Numeralia institucional de la Red Universitaria. Universidad de Guadalajara. http://www.cgpe.udg.mx/numeralia</a:t>
            </a:r>
          </a:p>
          <a:p>
            <a:pPr>
              <a:spcAft>
                <a:spcPts val="400"/>
              </a:spcAft>
              <a:defRPr sz="1000">
                <a:solidFill>
                  <a:srgbClr val="212529"/>
                </a:solidFill>
              </a:defRPr>
            </a:pPr>
            <a:r>
              <a:t>• Universidad de Guadalajara. (2019). Reglamento de adquisiciones, arrendamientos y contratación de servicios de la Universidad de Guadalajara. Gaceta de la Universidad de Guadalajara. http://www.secgen.udg.mx/normatividad/reglamentos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