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del Equipo 4 sobre formulación de objetivos generales y específicos en proyectos de inversión, con caso práctico del proyecto SIGRE de CUTonalá.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objetivo general es la meta final del proyecto; debe ser único, medible en su cumplimiento total, y redactado con un verbo en infinitivo de alto nivel.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objetivos específicos desglosan el objetivo general en etapas medibles: diagnóstico, diseño/construcción y validación, cada una con verbos operativos.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criterios rigen la formulación: iniciar con verbo en infinitivo de alto nivel (Bloom), cumplir el estándar SMART, y mantener subordinación jerárquica entre objetivo general y específicos.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2.png"/><Relationship Id="rId4" Type="http://schemas.openxmlformats.org/officeDocument/2006/relationships/image" Target="../media/image-1-2.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1.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1.png"/><Relationship Id="rId3" Type="http://schemas.openxmlformats.org/officeDocument/2006/relationships/image" Target="../media/image-7-1.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2B49"/>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2E7D57"/>
          </a:solidFill>
          <a:ln/>
        </p:spPr>
      </p:sp>
      <p:sp>
        <p:nvSpPr>
          <p:cNvPr id="3" name="Shape 1"/>
          <p:cNvSpPr/>
          <p:nvPr/>
        </p:nvSpPr>
        <p:spPr>
          <a:xfrm>
            <a:off x="9692640" y="-1463040"/>
            <a:ext cx="3840480" cy="3840480"/>
          </a:xfrm>
          <a:prstGeom prst="ellipse">
            <a:avLst/>
          </a:prstGeom>
          <a:solidFill>
            <a:srgbClr val="003D66"/>
          </a:solidFill>
          <a:ln/>
        </p:spPr>
      </p:sp>
      <p:sp>
        <p:nvSpPr>
          <p:cNvPr id="4" name="Shape 2"/>
          <p:cNvSpPr/>
          <p:nvPr/>
        </p:nvSpPr>
        <p:spPr>
          <a:xfrm>
            <a:off x="10607040" y="-640080"/>
            <a:ext cx="2103120" cy="2103120"/>
          </a:xfrm>
          <a:prstGeom prst="ellipse">
            <a:avLst/>
          </a:prstGeom>
          <a:solidFill>
            <a:srgbClr val="1A6B5A"/>
          </a:solidFill>
          <a:ln/>
        </p:spPr>
      </p:sp>
      <p:pic>
        <p:nvPicPr>
          <p:cNvPr id="5" name="Image 0" descr="/home/claude/eq4/brand/sigre-logo-white.png">    </p:cNvPr>
          <p:cNvPicPr>
            <a:picLocks noChangeAspect="1"/>
          </p:cNvPicPr>
          <p:nvPr/>
        </p:nvPicPr>
        <p:blipFill>
          <a:blip r:embed="rId1"/>
          <a:stretch>
            <a:fillRect/>
          </a:stretch>
        </p:blipFill>
        <p:spPr>
          <a:xfrm>
            <a:off x="822960" y="594360"/>
            <a:ext cx="1600200" cy="516636"/>
          </a:xfrm>
          <a:prstGeom prst="rect">
            <a:avLst/>
          </a:prstGeom>
        </p:spPr>
      </p:pic>
      <p:sp>
        <p:nvSpPr>
          <p:cNvPr id="6" name="Text 3"/>
          <p:cNvSpPr txBox="1"/>
          <p:nvPr/>
        </p:nvSpPr>
        <p:spPr>
          <a:xfrm>
            <a:off x="822960" y="1645920"/>
            <a:ext cx="9601200" cy="274320"/>
          </a:xfrm>
          <a:prstGeom prst="rect">
            <a:avLst/>
          </a:prstGeom>
          <a:noFill/>
          <a:ln/>
        </p:spPr>
        <p:txBody>
          <a:bodyPr wrap="square" lIns="0" tIns="0" rIns="0" bIns="0" rtlCol="0" anchor="ctr"/>
          <a:lstStyle/>
          <a:p>
            <a:pPr indent="0" marL="0">
              <a:buNone/>
            </a:pPr>
            <a:r>
              <a:rPr lang="en-US" sz="1150" spc="150" kern="0" dirty="0">
                <a:solidFill>
                  <a:srgbClr val="4ADE80"/>
                </a:solidFill>
                <a:latin typeface="Outfit SemiBold" pitchFamily="34" charset="0"/>
                <a:ea typeface="Outfit SemiBold" pitchFamily="34" charset="-122"/>
                <a:cs typeface="Outfit SemiBold" pitchFamily="34" charset="-120"/>
              </a:rPr>
              <a:t>UNIVERSIDAD DE GUADALAJARA  ·  CENTRO UNIVERSITARIO DE TONALÁ (CUTONALÁ)</a:t>
            </a:r>
            <a:endParaRPr lang="en-US" sz="1150" dirty="0"/>
          </a:p>
        </p:txBody>
      </p:sp>
      <p:sp>
        <p:nvSpPr>
          <p:cNvPr id="7" name="Shape 4"/>
          <p:cNvSpPr/>
          <p:nvPr/>
        </p:nvSpPr>
        <p:spPr>
          <a:xfrm>
            <a:off x="822960" y="2057400"/>
            <a:ext cx="1463040" cy="41148"/>
          </a:xfrm>
          <a:prstGeom prst="rect">
            <a:avLst/>
          </a:prstGeom>
          <a:solidFill>
            <a:srgbClr val="2E7D57"/>
          </a:solidFill>
          <a:ln/>
        </p:spPr>
      </p:sp>
      <p:sp>
        <p:nvSpPr>
          <p:cNvPr id="8" name="Text 5"/>
          <p:cNvSpPr txBox="1"/>
          <p:nvPr/>
        </p:nvSpPr>
        <p:spPr>
          <a:xfrm>
            <a:off x="777240" y="2240280"/>
            <a:ext cx="9875520" cy="1371600"/>
          </a:xfrm>
          <a:prstGeom prst="rect">
            <a:avLst/>
          </a:prstGeom>
          <a:noFill/>
          <a:ln/>
        </p:spPr>
        <p:txBody>
          <a:bodyPr wrap="square" lIns="0" tIns="0" rIns="0" bIns="0" rtlCol="0" anchor="ctr"/>
          <a:lstStyle/>
          <a:p>
            <a:pPr indent="0" marL="0">
              <a:lnSpc>
                <a:spcPts val="3800"/>
              </a:lnSpc>
              <a:buNone/>
            </a:pPr>
            <a:r>
              <a:rPr lang="en-US" sz="3400" b="1" dirty="0">
                <a:solidFill>
                  <a:srgbClr val="FFFFFF"/>
                </a:solidFill>
                <a:latin typeface="Outfit" pitchFamily="34" charset="0"/>
                <a:ea typeface="Outfit" pitchFamily="34" charset="-122"/>
                <a:cs typeface="Outfit" pitchFamily="34" charset="-120"/>
              </a:rPr>
              <a:t>Formulación de Objetivos en Proyectos de Inversión e Investigación</a:t>
            </a:r>
            <a:endParaRPr lang="en-US" sz="3400" dirty="0"/>
          </a:p>
        </p:txBody>
      </p:sp>
      <p:sp>
        <p:nvSpPr>
          <p:cNvPr id="9" name="Text 6"/>
          <p:cNvSpPr txBox="1"/>
          <p:nvPr/>
        </p:nvSpPr>
        <p:spPr>
          <a:xfrm>
            <a:off x="822960" y="3520440"/>
            <a:ext cx="9144000" cy="411480"/>
          </a:xfrm>
          <a:prstGeom prst="rect">
            <a:avLst/>
          </a:prstGeom>
          <a:noFill/>
          <a:ln/>
        </p:spPr>
        <p:txBody>
          <a:bodyPr wrap="square" lIns="0" tIns="0" rIns="0" bIns="0" rtlCol="0" anchor="ctr"/>
          <a:lstStyle/>
          <a:p>
            <a:pPr indent="0" marL="0">
              <a:buNone/>
            </a:pPr>
            <a:r>
              <a:rPr lang="en-US" sz="1450" i="1" dirty="0">
                <a:solidFill>
                  <a:srgbClr val="94A3B8"/>
                </a:solidFill>
                <a:latin typeface="Outfit Medium" pitchFamily="34" charset="0"/>
                <a:ea typeface="Outfit Medium" pitchFamily="34" charset="-122"/>
                <a:cs typeface="Outfit Medium" pitchFamily="34" charset="-120"/>
              </a:rPr>
              <a:t>Criterios metodológicos, taxonomía y casos prácticos de formulación general y específica</a:t>
            </a:r>
            <a:endParaRPr lang="en-US" sz="1450" dirty="0"/>
          </a:p>
        </p:txBody>
      </p:sp>
      <p:sp>
        <p:nvSpPr>
          <p:cNvPr id="10" name="Shape 7"/>
          <p:cNvSpPr/>
          <p:nvPr/>
        </p:nvSpPr>
        <p:spPr>
          <a:xfrm>
            <a:off x="822960" y="4160520"/>
            <a:ext cx="9784080" cy="10973"/>
          </a:xfrm>
          <a:prstGeom prst="rect">
            <a:avLst/>
          </a:prstGeom>
          <a:solidFill>
            <a:srgbClr val="334155"/>
          </a:solidFill>
          <a:ln/>
        </p:spPr>
      </p:sp>
      <p:sp>
        <p:nvSpPr>
          <p:cNvPr id="11" name="Text 8"/>
          <p:cNvSpPr txBox="1"/>
          <p:nvPr/>
        </p:nvSpPr>
        <p:spPr>
          <a:xfrm>
            <a:off x="822960" y="4370832"/>
            <a:ext cx="5486400" cy="256032"/>
          </a:xfrm>
          <a:prstGeom prst="rect">
            <a:avLst/>
          </a:prstGeom>
          <a:noFill/>
          <a:ln/>
        </p:spPr>
        <p:txBody>
          <a:bodyPr wrap="square" lIns="0" tIns="0" rIns="0" bIns="0" rtlCol="0" anchor="ctr"/>
          <a:lstStyle/>
          <a:p>
            <a:pPr indent="0" marL="0">
              <a:buNone/>
            </a:pPr>
            <a:r>
              <a:rPr lang="en-US" sz="950" spc="150" kern="0" dirty="0">
                <a:solidFill>
                  <a:srgbClr val="2E7D57"/>
                </a:solidFill>
                <a:latin typeface="Outfit SemiBold" pitchFamily="34" charset="0"/>
                <a:ea typeface="Outfit SemiBold" pitchFamily="34" charset="-122"/>
                <a:cs typeface="Outfit SemiBold" pitchFamily="34" charset="-120"/>
              </a:rPr>
              <a:t>INTEGRANTES DEL EQUIPO 4</a:t>
            </a:r>
            <a:endParaRPr lang="en-US" sz="950" dirty="0"/>
          </a:p>
        </p:txBody>
      </p:sp>
      <p:sp>
        <p:nvSpPr>
          <p:cNvPr id="12" name="Shape 9"/>
          <p:cNvSpPr/>
          <p:nvPr/>
        </p:nvSpPr>
        <p:spPr>
          <a:xfrm>
            <a:off x="822960" y="4709160"/>
            <a:ext cx="365760" cy="365760"/>
          </a:xfrm>
          <a:prstGeom prst="ellipse">
            <a:avLst/>
          </a:prstGeom>
          <a:solidFill>
            <a:srgbClr val="003D66"/>
          </a:solidFill>
          <a:ln/>
        </p:spPr>
      </p:sp>
      <p:pic>
        <p:nvPicPr>
          <p:cNvPr id="13" name="Image 1" descr="/home/claude/eq4/icons/user.png">    </p:cNvPr>
          <p:cNvPicPr>
            <a:picLocks noChangeAspect="1"/>
          </p:cNvPicPr>
          <p:nvPr/>
        </p:nvPicPr>
        <p:blipFill>
          <a:blip r:embed="rId2"/>
          <a:stretch>
            <a:fillRect/>
          </a:stretch>
        </p:blipFill>
        <p:spPr>
          <a:xfrm>
            <a:off x="874166" y="4760366"/>
            <a:ext cx="263347" cy="263347"/>
          </a:xfrm>
          <a:prstGeom prst="rect">
            <a:avLst/>
          </a:prstGeom>
        </p:spPr>
      </p:pic>
      <p:sp>
        <p:nvSpPr>
          <p:cNvPr id="14" name="Text 10"/>
          <p:cNvSpPr txBox="1"/>
          <p:nvPr/>
        </p:nvSpPr>
        <p:spPr>
          <a:xfrm>
            <a:off x="1280160" y="4709160"/>
            <a:ext cx="2834640" cy="365760"/>
          </a:xfrm>
          <a:prstGeom prst="rect">
            <a:avLst/>
          </a:prstGeom>
          <a:noFill/>
          <a:ln/>
        </p:spPr>
        <p:txBody>
          <a:bodyPr wrap="square" lIns="0" tIns="0" rIns="0" bIns="0" rtlCol="0" anchor="ctr"/>
          <a:lstStyle/>
          <a:p>
            <a:pPr indent="0" marL="0">
              <a:lnSpc>
                <a:spcPts val="1250"/>
              </a:lnSpc>
              <a:buNone/>
            </a:pPr>
            <a:r>
              <a:rPr lang="en-US" sz="1050" dirty="0">
                <a:solidFill>
                  <a:srgbClr val="E2E8F0"/>
                </a:solidFill>
                <a:latin typeface="Outfit Medium" pitchFamily="34" charset="0"/>
                <a:ea typeface="Outfit Medium" pitchFamily="34" charset="-122"/>
                <a:cs typeface="Outfit Medium" pitchFamily="34" charset="-120"/>
              </a:rPr>
              <a:t>Barragán Padilla Carlos Emiliano</a:t>
            </a:r>
            <a:endParaRPr lang="en-US" sz="1050" dirty="0"/>
          </a:p>
        </p:txBody>
      </p:sp>
      <p:sp>
        <p:nvSpPr>
          <p:cNvPr id="15" name="Shape 11"/>
          <p:cNvSpPr/>
          <p:nvPr/>
        </p:nvSpPr>
        <p:spPr>
          <a:xfrm>
            <a:off x="4069080" y="4709160"/>
            <a:ext cx="365760" cy="365760"/>
          </a:xfrm>
          <a:prstGeom prst="ellipse">
            <a:avLst/>
          </a:prstGeom>
          <a:solidFill>
            <a:srgbClr val="003D66"/>
          </a:solidFill>
          <a:ln/>
        </p:spPr>
      </p:sp>
      <p:pic>
        <p:nvPicPr>
          <p:cNvPr id="16" name="Image 2" descr="/home/claude/eq4/icons/user.png">    </p:cNvPr>
          <p:cNvPicPr>
            <a:picLocks noChangeAspect="1"/>
          </p:cNvPicPr>
          <p:nvPr/>
        </p:nvPicPr>
        <p:blipFill>
          <a:blip r:embed="rId3"/>
          <a:stretch>
            <a:fillRect/>
          </a:stretch>
        </p:blipFill>
        <p:spPr>
          <a:xfrm>
            <a:off x="4120286" y="4760366"/>
            <a:ext cx="263347" cy="263347"/>
          </a:xfrm>
          <a:prstGeom prst="rect">
            <a:avLst/>
          </a:prstGeom>
        </p:spPr>
      </p:pic>
      <p:sp>
        <p:nvSpPr>
          <p:cNvPr id="17" name="Text 12"/>
          <p:cNvSpPr txBox="1"/>
          <p:nvPr/>
        </p:nvSpPr>
        <p:spPr>
          <a:xfrm>
            <a:off x="4526280" y="4709160"/>
            <a:ext cx="2834640" cy="365760"/>
          </a:xfrm>
          <a:prstGeom prst="rect">
            <a:avLst/>
          </a:prstGeom>
          <a:noFill/>
          <a:ln/>
        </p:spPr>
        <p:txBody>
          <a:bodyPr wrap="square" lIns="0" tIns="0" rIns="0" bIns="0" rtlCol="0" anchor="ctr"/>
          <a:lstStyle/>
          <a:p>
            <a:pPr indent="0" marL="0">
              <a:lnSpc>
                <a:spcPts val="1250"/>
              </a:lnSpc>
              <a:buNone/>
            </a:pPr>
            <a:r>
              <a:rPr lang="en-US" sz="1050" dirty="0">
                <a:solidFill>
                  <a:srgbClr val="E2E8F0"/>
                </a:solidFill>
                <a:latin typeface="Outfit Medium" pitchFamily="34" charset="0"/>
                <a:ea typeface="Outfit Medium" pitchFamily="34" charset="-122"/>
                <a:cs typeface="Outfit Medium" pitchFamily="34" charset="-120"/>
              </a:rPr>
              <a:t>Fierro Meléndez Ernesto Hatuey</a:t>
            </a:r>
            <a:endParaRPr lang="en-US" sz="1050" dirty="0"/>
          </a:p>
        </p:txBody>
      </p:sp>
      <p:sp>
        <p:nvSpPr>
          <p:cNvPr id="18" name="Shape 13"/>
          <p:cNvSpPr/>
          <p:nvPr/>
        </p:nvSpPr>
        <p:spPr>
          <a:xfrm>
            <a:off x="7315200" y="4709160"/>
            <a:ext cx="365760" cy="365760"/>
          </a:xfrm>
          <a:prstGeom prst="ellipse">
            <a:avLst/>
          </a:prstGeom>
          <a:solidFill>
            <a:srgbClr val="003D66"/>
          </a:solidFill>
          <a:ln/>
        </p:spPr>
      </p:sp>
      <p:pic>
        <p:nvPicPr>
          <p:cNvPr id="19" name="Image 3" descr="/home/claude/eq4/icons/user.png">    </p:cNvPr>
          <p:cNvPicPr>
            <a:picLocks noChangeAspect="1"/>
          </p:cNvPicPr>
          <p:nvPr/>
        </p:nvPicPr>
        <p:blipFill>
          <a:blip r:embed="rId4"/>
          <a:stretch>
            <a:fillRect/>
          </a:stretch>
        </p:blipFill>
        <p:spPr>
          <a:xfrm>
            <a:off x="7366406" y="4760366"/>
            <a:ext cx="263347" cy="263347"/>
          </a:xfrm>
          <a:prstGeom prst="rect">
            <a:avLst/>
          </a:prstGeom>
        </p:spPr>
      </p:pic>
      <p:sp>
        <p:nvSpPr>
          <p:cNvPr id="20" name="Text 14"/>
          <p:cNvSpPr txBox="1"/>
          <p:nvPr/>
        </p:nvSpPr>
        <p:spPr>
          <a:xfrm>
            <a:off x="7772400" y="4709160"/>
            <a:ext cx="2834640" cy="365760"/>
          </a:xfrm>
          <a:prstGeom prst="rect">
            <a:avLst/>
          </a:prstGeom>
          <a:noFill/>
          <a:ln/>
        </p:spPr>
        <p:txBody>
          <a:bodyPr wrap="square" lIns="0" tIns="0" rIns="0" bIns="0" rtlCol="0" anchor="ctr"/>
          <a:lstStyle/>
          <a:p>
            <a:pPr indent="0" marL="0">
              <a:lnSpc>
                <a:spcPts val="1250"/>
              </a:lnSpc>
              <a:buNone/>
            </a:pPr>
            <a:r>
              <a:rPr lang="en-US" sz="1050" dirty="0">
                <a:solidFill>
                  <a:srgbClr val="E2E8F0"/>
                </a:solidFill>
                <a:latin typeface="Outfit Medium" pitchFamily="34" charset="0"/>
                <a:ea typeface="Outfit Medium" pitchFamily="34" charset="-122"/>
                <a:cs typeface="Outfit Medium" pitchFamily="34" charset="-120"/>
              </a:rPr>
              <a:t>Padilla Casillas Josue Wenceslao</a:t>
            </a:r>
            <a:endParaRPr lang="en-US" sz="1050" dirty="0"/>
          </a:p>
        </p:txBody>
      </p:sp>
      <p:sp>
        <p:nvSpPr>
          <p:cNvPr id="21" name="Text 15"/>
          <p:cNvSpPr txBox="1"/>
          <p:nvPr/>
        </p:nvSpPr>
        <p:spPr>
          <a:xfrm>
            <a:off x="822960" y="5440680"/>
            <a:ext cx="9784080" cy="320040"/>
          </a:xfrm>
          <a:prstGeom prst="rect">
            <a:avLst/>
          </a:prstGeom>
          <a:noFill/>
          <a:ln/>
        </p:spPr>
        <p:txBody>
          <a:bodyPr wrap="square" lIns="0" tIns="0" rIns="0" bIns="0" rtlCol="0" anchor="ctr"/>
          <a:lstStyle/>
          <a:p>
            <a:pPr indent="0" marL="0">
              <a:buNone/>
            </a:pPr>
            <a:r>
              <a:rPr lang="en-US" sz="1050" dirty="0">
                <a:solidFill>
                  <a:srgbClr val="2E7D57"/>
                </a:solidFill>
                <a:latin typeface="Outfit SemiBold" pitchFamily="34" charset="0"/>
                <a:ea typeface="Outfit SemiBold" pitchFamily="34" charset="-122"/>
                <a:cs typeface="Outfit SemiBold" pitchFamily="34" charset="-120"/>
              </a:rPr>
              <a:t>MATERIA:  </a:t>
            </a:r>
            <a:pPr indent="0" marL="0">
              <a:buNone/>
            </a:pPr>
            <a:r>
              <a:rPr lang="en-US" sz="1050" dirty="0">
                <a:solidFill>
                  <a:srgbClr val="94A3B8"/>
                </a:solidFill>
                <a:latin typeface="Outfit Medium" pitchFamily="34" charset="0"/>
                <a:ea typeface="Outfit Medium" pitchFamily="34" charset="-122"/>
                <a:cs typeface="Outfit Medium" pitchFamily="34" charset="-120"/>
              </a:rPr>
              <a:t>Formulación y Evaluación de Proyectos de Inversión      </a:t>
            </a:r>
            <a:pPr indent="0" marL="0">
              <a:buNone/>
            </a:pPr>
            <a:r>
              <a:rPr lang="en-US" sz="1050" dirty="0">
                <a:solidFill>
                  <a:srgbClr val="2E7D57"/>
                </a:solidFill>
                <a:latin typeface="Outfit SemiBold" pitchFamily="34" charset="0"/>
                <a:ea typeface="Outfit SemiBold" pitchFamily="34" charset="-122"/>
                <a:cs typeface="Outfit SemiBold" pitchFamily="34" charset="-120"/>
              </a:rPr>
              <a:t>FECHA:  </a:t>
            </a:r>
            <a:pPr indent="0" marL="0">
              <a:buNone/>
            </a:pPr>
            <a:r>
              <a:rPr lang="en-US" sz="1050" dirty="0">
                <a:solidFill>
                  <a:srgbClr val="94A3B8"/>
                </a:solidFill>
                <a:latin typeface="Outfit Medium" pitchFamily="34" charset="0"/>
                <a:ea typeface="Outfit Medium" pitchFamily="34" charset="-122"/>
                <a:cs typeface="Outfit Medium" pitchFamily="34" charset="-120"/>
              </a:rPr>
              <a:t>02 de octubre de 2026</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8EFF5"/>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256032"/>
          </a:xfrm>
          <a:prstGeom prst="rect">
            <a:avLst/>
          </a:prstGeom>
          <a:noFill/>
          <a:ln/>
        </p:spPr>
        <p:txBody>
          <a:bodyPr wrap="square" lIns="0" tIns="0" rIns="0" bIns="0" rtlCol="0" anchor="ctr"/>
          <a:lstStyle/>
          <a:p>
            <a:pPr algn="l" indent="0" marL="0">
              <a:buNone/>
            </a:pPr>
            <a:r>
              <a:rPr lang="en-US" sz="1050" spc="180" kern="0" dirty="0">
                <a:solidFill>
                  <a:srgbClr val="2E7D57"/>
                </a:solidFill>
                <a:latin typeface="Outfit SemiBold" pitchFamily="34" charset="0"/>
                <a:ea typeface="Outfit SemiBold" pitchFamily="34" charset="-122"/>
                <a:cs typeface="Outfit SemiBold" pitchFamily="34" charset="-120"/>
              </a:rPr>
              <a:t>EQUIPO 4 · FORMULACIÓN Y EVALUACIÓN DE PROYECTOS</a:t>
            </a:r>
            <a:endParaRPr lang="en-US" sz="1050" dirty="0"/>
          </a:p>
        </p:txBody>
      </p:sp>
      <p:sp>
        <p:nvSpPr>
          <p:cNvPr id="3" name="Text 1"/>
          <p:cNvSpPr txBox="1"/>
          <p:nvPr/>
        </p:nvSpPr>
        <p:spPr>
          <a:xfrm>
            <a:off x="548640" y="603504"/>
            <a:ext cx="11064240" cy="640080"/>
          </a:xfrm>
          <a:prstGeom prst="rect">
            <a:avLst/>
          </a:prstGeom>
          <a:noFill/>
          <a:ln/>
        </p:spPr>
        <p:txBody>
          <a:bodyPr wrap="square" lIns="0" tIns="0" rIns="0" bIns="0" rtlCol="0" anchor="ctr"/>
          <a:lstStyle/>
          <a:p>
            <a:pPr algn="l" indent="0" marL="0">
              <a:buNone/>
            </a:pPr>
            <a:r>
              <a:rPr lang="en-US" sz="2700" b="1" dirty="0">
                <a:solidFill>
                  <a:srgbClr val="002B49"/>
                </a:solidFill>
                <a:latin typeface="Outfit" pitchFamily="34" charset="0"/>
                <a:ea typeface="Outfit" pitchFamily="34" charset="-122"/>
                <a:cs typeface="Outfit" pitchFamily="34" charset="-120"/>
              </a:rPr>
              <a:t>¿Qué son los Objetivos Generales?</a:t>
            </a:r>
            <a:endParaRPr lang="en-US" sz="2700" dirty="0"/>
          </a:p>
        </p:txBody>
      </p:sp>
      <p:sp>
        <p:nvSpPr>
          <p:cNvPr id="4" name="Shape 2"/>
          <p:cNvSpPr/>
          <p:nvPr/>
        </p:nvSpPr>
        <p:spPr>
          <a:xfrm>
            <a:off x="548640" y="1600200"/>
            <a:ext cx="5349240" cy="4480560"/>
          </a:xfrm>
          <a:prstGeom prst="roundRect">
            <a:avLst>
              <a:gd name="adj" fmla="val 2041"/>
            </a:avLst>
          </a:prstGeom>
          <a:solidFill>
            <a:srgbClr val="FFFFFF"/>
          </a:solidFill>
          <a:ln w="12700">
            <a:solidFill>
              <a:srgbClr val="D1D5DB"/>
            </a:solidFill>
            <a:prstDash val="solid"/>
          </a:ln>
          <a:effectLst>
            <a:outerShdw sx="100000" sy="100000" kx="0" ky="0" algn="bl" rotWithShape="0" blurRad="101600" dist="25400" dir="5400000">
              <a:srgbClr val="1A1A2E">
                <a:alpha val="10000"/>
              </a:srgbClr>
            </a:outerShdw>
          </a:effectLst>
        </p:spPr>
      </p:sp>
      <p:sp>
        <p:nvSpPr>
          <p:cNvPr id="5" name="Shape 3"/>
          <p:cNvSpPr/>
          <p:nvPr/>
        </p:nvSpPr>
        <p:spPr>
          <a:xfrm>
            <a:off x="868680" y="1920240"/>
            <a:ext cx="594360" cy="594360"/>
          </a:xfrm>
          <a:prstGeom prst="ellipse">
            <a:avLst/>
          </a:prstGeom>
          <a:solidFill>
            <a:srgbClr val="002B49"/>
          </a:solidFill>
          <a:ln/>
        </p:spPr>
      </p:sp>
      <p:pic>
        <p:nvPicPr>
          <p:cNvPr id="6" name="Image 0" descr="/home/claude/eq4/icons/target.png">    </p:cNvPr>
          <p:cNvPicPr>
            <a:picLocks noChangeAspect="1"/>
          </p:cNvPicPr>
          <p:nvPr/>
        </p:nvPicPr>
        <p:blipFill>
          <a:blip r:embed="rId1"/>
          <a:stretch>
            <a:fillRect/>
          </a:stretch>
        </p:blipFill>
        <p:spPr>
          <a:xfrm>
            <a:off x="951890" y="2003450"/>
            <a:ext cx="427939" cy="427939"/>
          </a:xfrm>
          <a:prstGeom prst="rect">
            <a:avLst/>
          </a:prstGeom>
        </p:spPr>
      </p:pic>
      <p:sp>
        <p:nvSpPr>
          <p:cNvPr id="7" name="Text 4"/>
          <p:cNvSpPr txBox="1"/>
          <p:nvPr/>
        </p:nvSpPr>
        <p:spPr>
          <a:xfrm>
            <a:off x="1600200" y="1984248"/>
            <a:ext cx="4069080" cy="457200"/>
          </a:xfrm>
          <a:prstGeom prst="rect">
            <a:avLst/>
          </a:prstGeom>
          <a:noFill/>
          <a:ln/>
        </p:spPr>
        <p:txBody>
          <a:bodyPr wrap="square" lIns="0" tIns="0" rIns="0" bIns="0" rtlCol="0" anchor="ctr"/>
          <a:lstStyle/>
          <a:p>
            <a:pPr indent="0" marL="0">
              <a:buNone/>
            </a:pPr>
            <a:r>
              <a:rPr lang="en-US" sz="1600" dirty="0">
                <a:solidFill>
                  <a:srgbClr val="1A1A2E"/>
                </a:solidFill>
                <a:latin typeface="Outfit SemiBold" pitchFamily="34" charset="0"/>
                <a:ea typeface="Outfit SemiBold" pitchFamily="34" charset="-122"/>
                <a:cs typeface="Outfit SemiBold" pitchFamily="34" charset="-120"/>
              </a:rPr>
              <a:t>Definición Conceptual</a:t>
            </a:r>
            <a:endParaRPr lang="en-US" sz="1600" dirty="0"/>
          </a:p>
        </p:txBody>
      </p:sp>
      <p:sp>
        <p:nvSpPr>
          <p:cNvPr id="8" name="Text 5"/>
          <p:cNvSpPr txBox="1"/>
          <p:nvPr/>
        </p:nvSpPr>
        <p:spPr>
          <a:xfrm>
            <a:off x="868680" y="2743200"/>
            <a:ext cx="4709160" cy="3108960"/>
          </a:xfrm>
          <a:prstGeom prst="rect">
            <a:avLst/>
          </a:prstGeom>
          <a:noFill/>
          <a:ln/>
        </p:spPr>
        <p:txBody>
          <a:bodyPr wrap="square" lIns="0" tIns="0" rIns="0" bIns="0" rtlCol="0" anchor="ctr"/>
          <a:lstStyle/>
          <a:p>
            <a:pPr marL="203200" indent="-203200">
              <a:lnSpc>
                <a:spcPts val="1550"/>
              </a:lnSpc>
              <a:spcAft>
                <a:spcPts val="1000"/>
              </a:spcAft>
              <a:buSzPct val="100000"/>
              <a:buChar char="•"/>
            </a:pPr>
            <a:r>
              <a:rPr lang="en-US" sz="1200" dirty="0">
                <a:solidFill>
                  <a:srgbClr val="6B7280"/>
                </a:solidFill>
                <a:latin typeface="Outfit Medium" pitchFamily="34" charset="0"/>
                <a:ea typeface="Outfit Medium" pitchFamily="34" charset="-122"/>
                <a:cs typeface="Outfit Medium" pitchFamily="34" charset="-120"/>
              </a:rPr>
              <a:t>Es el enunciado propositivo que establece el propósito primordial, global y el alcance que pretende alcanzar un proyecto de investigación.</a:t>
            </a:r>
            <a:endParaRPr lang="en-US" sz="1200" dirty="0"/>
          </a:p>
          <a:p>
            <a:pPr marL="203200" indent="-203200">
              <a:lnSpc>
                <a:spcPts val="1550"/>
              </a:lnSpc>
              <a:spcAft>
                <a:spcPts val="1000"/>
              </a:spcAft>
              <a:buSzPct val="100000"/>
              <a:buChar char="•"/>
            </a:pPr>
            <a:r>
              <a:rPr lang="en-US" sz="1200" dirty="0">
                <a:solidFill>
                  <a:srgbClr val="6B7280"/>
                </a:solidFill>
                <a:latin typeface="Outfit Medium" pitchFamily="34" charset="0"/>
                <a:ea typeface="Outfit Medium" pitchFamily="34" charset="-122"/>
                <a:cs typeface="Outfit Medium" pitchFamily="34" charset="-120"/>
              </a:rPr>
              <a:t>Representa la meta final de la propuesta: si el objetivo general se cumple cabalmente, el problema central identificado queda resuelto.</a:t>
            </a:r>
            <a:endParaRPr lang="en-US" sz="1200" dirty="0"/>
          </a:p>
        </p:txBody>
      </p:sp>
      <p:sp>
        <p:nvSpPr>
          <p:cNvPr id="9" name="Shape 6"/>
          <p:cNvSpPr/>
          <p:nvPr/>
        </p:nvSpPr>
        <p:spPr>
          <a:xfrm>
            <a:off x="6263640" y="1600200"/>
            <a:ext cx="5349240" cy="4480560"/>
          </a:xfrm>
          <a:prstGeom prst="roundRect">
            <a:avLst>
              <a:gd name="adj" fmla="val 2041"/>
            </a:avLst>
          </a:prstGeom>
          <a:solidFill>
            <a:srgbClr val="FFFFFF"/>
          </a:solidFill>
          <a:ln w="12700">
            <a:solidFill>
              <a:srgbClr val="D1D5DB"/>
            </a:solidFill>
            <a:prstDash val="solid"/>
          </a:ln>
          <a:effectLst>
            <a:outerShdw sx="100000" sy="100000" kx="0" ky="0" algn="bl" rotWithShape="0" blurRad="101600" dist="25400" dir="5400000">
              <a:srgbClr val="1A1A2E">
                <a:alpha val="10000"/>
              </a:srgbClr>
            </a:outerShdw>
          </a:effectLst>
        </p:spPr>
      </p:sp>
      <p:sp>
        <p:nvSpPr>
          <p:cNvPr id="10" name="Shape 7"/>
          <p:cNvSpPr/>
          <p:nvPr/>
        </p:nvSpPr>
        <p:spPr>
          <a:xfrm>
            <a:off x="6583680" y="1920240"/>
            <a:ext cx="594360" cy="594360"/>
          </a:xfrm>
          <a:prstGeom prst="ellipse">
            <a:avLst/>
          </a:prstGeom>
          <a:solidFill>
            <a:srgbClr val="2E7D57"/>
          </a:solidFill>
          <a:ln/>
        </p:spPr>
      </p:sp>
      <p:pic>
        <p:nvPicPr>
          <p:cNvPr id="11" name="Image 1" descr="/home/claude/eq4/icons/route.png">    </p:cNvPr>
          <p:cNvPicPr>
            <a:picLocks noChangeAspect="1"/>
          </p:cNvPicPr>
          <p:nvPr/>
        </p:nvPicPr>
        <p:blipFill>
          <a:blip r:embed="rId2"/>
          <a:stretch>
            <a:fillRect/>
          </a:stretch>
        </p:blipFill>
        <p:spPr>
          <a:xfrm>
            <a:off x="6666890" y="2003450"/>
            <a:ext cx="427939" cy="427939"/>
          </a:xfrm>
          <a:prstGeom prst="rect">
            <a:avLst/>
          </a:prstGeom>
        </p:spPr>
      </p:pic>
      <p:sp>
        <p:nvSpPr>
          <p:cNvPr id="12" name="Text 8"/>
          <p:cNvSpPr txBox="1"/>
          <p:nvPr/>
        </p:nvSpPr>
        <p:spPr>
          <a:xfrm>
            <a:off x="7315200" y="1984248"/>
            <a:ext cx="4069080" cy="457200"/>
          </a:xfrm>
          <a:prstGeom prst="rect">
            <a:avLst/>
          </a:prstGeom>
          <a:noFill/>
          <a:ln/>
        </p:spPr>
        <p:txBody>
          <a:bodyPr wrap="square" lIns="0" tIns="0" rIns="0" bIns="0" rtlCol="0" anchor="ctr"/>
          <a:lstStyle/>
          <a:p>
            <a:pPr indent="0" marL="0">
              <a:buNone/>
            </a:pPr>
            <a:r>
              <a:rPr lang="en-US" sz="1600" dirty="0">
                <a:solidFill>
                  <a:srgbClr val="1A1A2E"/>
                </a:solidFill>
                <a:latin typeface="Outfit SemiBold" pitchFamily="34" charset="0"/>
                <a:ea typeface="Outfit SemiBold" pitchFamily="34" charset="-122"/>
                <a:cs typeface="Outfit SemiBold" pitchFamily="34" charset="-120"/>
              </a:rPr>
              <a:t>Puntos Clave y Metodología</a:t>
            </a:r>
            <a:endParaRPr lang="en-US" sz="1600" dirty="0"/>
          </a:p>
        </p:txBody>
      </p:sp>
      <p:sp>
        <p:nvSpPr>
          <p:cNvPr id="13" name="Text 9"/>
          <p:cNvSpPr txBox="1"/>
          <p:nvPr/>
        </p:nvSpPr>
        <p:spPr>
          <a:xfrm>
            <a:off x="6583680" y="2743200"/>
            <a:ext cx="4709160" cy="3108960"/>
          </a:xfrm>
          <a:prstGeom prst="rect">
            <a:avLst/>
          </a:prstGeom>
          <a:noFill/>
          <a:ln/>
        </p:spPr>
        <p:txBody>
          <a:bodyPr wrap="square" lIns="0" tIns="0" rIns="0" bIns="0" rtlCol="0" anchor="ctr"/>
          <a:lstStyle/>
          <a:p>
            <a:pPr marL="203200" indent="-203200">
              <a:lnSpc>
                <a:spcPts val="1550"/>
              </a:lnSpc>
              <a:spcAft>
                <a:spcPts val="1000"/>
              </a:spcAft>
              <a:buSzPct val="100000"/>
              <a:buChar char="•"/>
            </a:pPr>
            <a:r>
              <a:rPr lang="en-US" sz="1200" dirty="0">
                <a:solidFill>
                  <a:srgbClr val="6B7280"/>
                </a:solidFill>
                <a:latin typeface="Outfit Medium" pitchFamily="34" charset="0"/>
                <a:ea typeface="Outfit Medium" pitchFamily="34" charset="-122"/>
                <a:cs typeface="Outfit Medium" pitchFamily="34" charset="-120"/>
              </a:rPr>
              <a:t>Responde directamente a tres interrogantes guía: ¿Qué se va a hacer?, ¿Para qué se va a hacer? y ¿En qué contexto o delimitación temporal/espacial?</a:t>
            </a:r>
            <a:endParaRPr lang="en-US" sz="1200" dirty="0"/>
          </a:p>
          <a:p>
            <a:pPr marL="203200" indent="-203200">
              <a:lnSpc>
                <a:spcPts val="1550"/>
              </a:lnSpc>
              <a:spcAft>
                <a:spcPts val="1000"/>
              </a:spcAft>
              <a:buSzPct val="100000"/>
              <a:buChar char="•"/>
            </a:pPr>
            <a:r>
              <a:rPr lang="en-US" sz="1200" dirty="0">
                <a:solidFill>
                  <a:srgbClr val="6B7280"/>
                </a:solidFill>
                <a:latin typeface="Outfit Medium" pitchFamily="34" charset="0"/>
                <a:ea typeface="Outfit Medium" pitchFamily="34" charset="-122"/>
                <a:cs typeface="Outfit Medium" pitchFamily="34" charset="-120"/>
              </a:rPr>
              <a:t>Es único y central dentro del proyecto, para evitar la dispersión de esfuerzos y recursos.</a:t>
            </a:r>
            <a:endParaRPr lang="en-US" sz="1200" dirty="0"/>
          </a:p>
          <a:p>
            <a:pPr marL="203200" indent="-203200">
              <a:lnSpc>
                <a:spcPts val="1550"/>
              </a:lnSpc>
              <a:spcAft>
                <a:spcPts val="1000"/>
              </a:spcAft>
              <a:buSzPct val="100000"/>
              <a:buChar char="•"/>
            </a:pPr>
            <a:r>
              <a:rPr lang="en-US" sz="1200" dirty="0">
                <a:solidFill>
                  <a:srgbClr val="6B7280"/>
                </a:solidFill>
                <a:latin typeface="Outfit Medium" pitchFamily="34" charset="0"/>
                <a:ea typeface="Outfit Medium" pitchFamily="34" charset="-122"/>
                <a:cs typeface="Outfit Medium" pitchFamily="34" charset="-120"/>
              </a:rPr>
              <a:t>Se redacta obligatoriamente iniciando con un verbo en infinitivo de alto nivel taxonómico (ej. Desarrollar, Implementar, Evaluar, Diseñar).</a:t>
            </a:r>
            <a:endParaRPr lang="en-US" sz="1200" dirty="0"/>
          </a:p>
        </p:txBody>
      </p:sp>
      <p:pic>
        <p:nvPicPr>
          <p:cNvPr id="14" name="Image 2" descr="/home/claude/eq4/brand/sigre-logo.png">    </p:cNvPr>
          <p:cNvPicPr>
            <a:picLocks noChangeAspect="1"/>
          </p:cNvPicPr>
          <p:nvPr/>
        </p:nvPicPr>
        <p:blipFill>
          <a:blip r:embed="rId3"/>
          <a:stretch>
            <a:fillRect/>
          </a:stretch>
        </p:blipFill>
        <p:spPr>
          <a:xfrm>
            <a:off x="548640" y="6510528"/>
            <a:ext cx="566928" cy="182880"/>
          </a:xfrm>
          <a:prstGeom prst="rect">
            <a:avLst/>
          </a:prstGeom>
        </p:spPr>
      </p:pic>
      <p:sp>
        <p:nvSpPr>
          <p:cNvPr id="15" name="Text 10"/>
          <p:cNvSpPr txBox="1"/>
          <p:nvPr/>
        </p:nvSpPr>
        <p:spPr>
          <a:xfrm>
            <a:off x="1234440" y="6492240"/>
            <a:ext cx="5486400" cy="256032"/>
          </a:xfrm>
          <a:prstGeom prst="rect">
            <a:avLst/>
          </a:prstGeom>
          <a:noFill/>
          <a:ln/>
        </p:spPr>
        <p:txBody>
          <a:bodyPr wrap="square" lIns="0" tIns="0" rIns="0" bIns="0" rtlCol="0" anchor="ctr"/>
          <a:lstStyle/>
          <a:p>
            <a:pPr indent="0" marL="0">
              <a:buNone/>
            </a:pPr>
            <a:r>
              <a:rPr lang="en-US" sz="850" dirty="0">
                <a:solidFill>
                  <a:srgbClr val="6B7280"/>
                </a:solidFill>
                <a:latin typeface="Outfit Medium" pitchFamily="34" charset="0"/>
                <a:ea typeface="Outfit Medium" pitchFamily="34" charset="-122"/>
                <a:cs typeface="Outfit Medium" pitchFamily="34" charset="-120"/>
              </a:rPr>
              <a:t>Equipo 4  ·  Formulación y Evaluación de Proyectos</a:t>
            </a:r>
            <a:endParaRPr lang="en-US" sz="850" dirty="0"/>
          </a:p>
        </p:txBody>
      </p:sp>
      <p:sp>
        <p:nvSpPr>
          <p:cNvPr id="16" name="Text 11"/>
          <p:cNvSpPr txBox="1"/>
          <p:nvPr/>
        </p:nvSpPr>
        <p:spPr>
          <a:xfrm>
            <a:off x="11183112" y="6492240"/>
            <a:ext cx="548640" cy="256032"/>
          </a:xfrm>
          <a:prstGeom prst="rect">
            <a:avLst/>
          </a:prstGeom>
          <a:noFill/>
          <a:ln/>
        </p:spPr>
        <p:txBody>
          <a:bodyPr wrap="square" lIns="0" tIns="0" rIns="0" bIns="0" rtlCol="0" anchor="ctr"/>
          <a:lstStyle/>
          <a:p>
            <a:pPr algn="r" indent="0" marL="0">
              <a:buNone/>
            </a:pPr>
            <a:r>
              <a:rPr lang="en-US" sz="850" dirty="0">
                <a:solidFill>
                  <a:srgbClr val="6B7280"/>
                </a:solidFill>
                <a:latin typeface="Outfit Medium" pitchFamily="34" charset="0"/>
                <a:ea typeface="Outfit Medium" pitchFamily="34" charset="-122"/>
                <a:cs typeface="Outfit Medium" pitchFamily="34" charset="-120"/>
              </a:rPr>
              <a:t>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8EFF5"/>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256032"/>
          </a:xfrm>
          <a:prstGeom prst="rect">
            <a:avLst/>
          </a:prstGeom>
          <a:noFill/>
          <a:ln/>
        </p:spPr>
        <p:txBody>
          <a:bodyPr wrap="square" lIns="0" tIns="0" rIns="0" bIns="0" rtlCol="0" anchor="ctr"/>
          <a:lstStyle/>
          <a:p>
            <a:pPr algn="l" indent="0" marL="0">
              <a:buNone/>
            </a:pPr>
            <a:r>
              <a:rPr lang="en-US" sz="1050" spc="180" kern="0" dirty="0">
                <a:solidFill>
                  <a:srgbClr val="2E7D57"/>
                </a:solidFill>
                <a:latin typeface="Outfit SemiBold" pitchFamily="34" charset="0"/>
                <a:ea typeface="Outfit SemiBold" pitchFamily="34" charset="-122"/>
                <a:cs typeface="Outfit SemiBold" pitchFamily="34" charset="-120"/>
              </a:rPr>
              <a:t>EQUIPO 4 · FORMULACIÓN Y EVALUACIÓN DE PROYECTOS</a:t>
            </a:r>
            <a:endParaRPr lang="en-US" sz="1050" dirty="0"/>
          </a:p>
        </p:txBody>
      </p:sp>
      <p:sp>
        <p:nvSpPr>
          <p:cNvPr id="3" name="Text 1"/>
          <p:cNvSpPr txBox="1"/>
          <p:nvPr/>
        </p:nvSpPr>
        <p:spPr>
          <a:xfrm>
            <a:off x="548640" y="603504"/>
            <a:ext cx="11064240" cy="640080"/>
          </a:xfrm>
          <a:prstGeom prst="rect">
            <a:avLst/>
          </a:prstGeom>
          <a:noFill/>
          <a:ln/>
        </p:spPr>
        <p:txBody>
          <a:bodyPr wrap="square" lIns="0" tIns="0" rIns="0" bIns="0" rtlCol="0" anchor="ctr"/>
          <a:lstStyle/>
          <a:p>
            <a:pPr algn="l" indent="0" marL="0">
              <a:buNone/>
            </a:pPr>
            <a:r>
              <a:rPr lang="en-US" sz="2700" b="1" dirty="0">
                <a:solidFill>
                  <a:srgbClr val="002B49"/>
                </a:solidFill>
                <a:latin typeface="Outfit" pitchFamily="34" charset="0"/>
                <a:ea typeface="Outfit" pitchFamily="34" charset="-122"/>
                <a:cs typeface="Outfit" pitchFamily="34" charset="-120"/>
              </a:rPr>
              <a:t>¿Qué son los Objetivos Específicos?</a:t>
            </a:r>
            <a:endParaRPr lang="en-US" sz="2700" dirty="0"/>
          </a:p>
        </p:txBody>
      </p:sp>
      <p:sp>
        <p:nvSpPr>
          <p:cNvPr id="4" name="Shape 2"/>
          <p:cNvSpPr/>
          <p:nvPr/>
        </p:nvSpPr>
        <p:spPr>
          <a:xfrm>
            <a:off x="548640" y="1600200"/>
            <a:ext cx="5349240" cy="4480560"/>
          </a:xfrm>
          <a:prstGeom prst="roundRect">
            <a:avLst>
              <a:gd name="adj" fmla="val 2041"/>
            </a:avLst>
          </a:prstGeom>
          <a:solidFill>
            <a:srgbClr val="FFFFFF"/>
          </a:solidFill>
          <a:ln w="12700">
            <a:solidFill>
              <a:srgbClr val="D1D5DB"/>
            </a:solidFill>
            <a:prstDash val="solid"/>
          </a:ln>
          <a:effectLst>
            <a:outerShdw sx="100000" sy="100000" kx="0" ky="0" algn="bl" rotWithShape="0" blurRad="101600" dist="25400" dir="5400000">
              <a:srgbClr val="1A1A2E">
                <a:alpha val="10000"/>
              </a:srgbClr>
            </a:outerShdw>
          </a:effectLst>
        </p:spPr>
      </p:sp>
      <p:sp>
        <p:nvSpPr>
          <p:cNvPr id="5" name="Shape 3"/>
          <p:cNvSpPr/>
          <p:nvPr/>
        </p:nvSpPr>
        <p:spPr>
          <a:xfrm>
            <a:off x="868680" y="1920240"/>
            <a:ext cx="594360" cy="594360"/>
          </a:xfrm>
          <a:prstGeom prst="ellipse">
            <a:avLst/>
          </a:prstGeom>
          <a:solidFill>
            <a:srgbClr val="002B49"/>
          </a:solidFill>
          <a:ln/>
        </p:spPr>
      </p:sp>
      <p:pic>
        <p:nvPicPr>
          <p:cNvPr id="6" name="Image 0" descr="/home/claude/eq4/icons/listtree.png">    </p:cNvPr>
          <p:cNvPicPr>
            <a:picLocks noChangeAspect="1"/>
          </p:cNvPicPr>
          <p:nvPr/>
        </p:nvPicPr>
        <p:blipFill>
          <a:blip r:embed="rId1"/>
          <a:stretch>
            <a:fillRect/>
          </a:stretch>
        </p:blipFill>
        <p:spPr>
          <a:xfrm>
            <a:off x="951890" y="2003450"/>
            <a:ext cx="427939" cy="427939"/>
          </a:xfrm>
          <a:prstGeom prst="rect">
            <a:avLst/>
          </a:prstGeom>
        </p:spPr>
      </p:pic>
      <p:sp>
        <p:nvSpPr>
          <p:cNvPr id="7" name="Text 4"/>
          <p:cNvSpPr txBox="1"/>
          <p:nvPr/>
        </p:nvSpPr>
        <p:spPr>
          <a:xfrm>
            <a:off x="1600200" y="1984248"/>
            <a:ext cx="4069080" cy="457200"/>
          </a:xfrm>
          <a:prstGeom prst="rect">
            <a:avLst/>
          </a:prstGeom>
          <a:noFill/>
          <a:ln/>
        </p:spPr>
        <p:txBody>
          <a:bodyPr wrap="square" lIns="0" tIns="0" rIns="0" bIns="0" rtlCol="0" anchor="ctr"/>
          <a:lstStyle/>
          <a:p>
            <a:pPr indent="0" marL="0">
              <a:buNone/>
            </a:pPr>
            <a:r>
              <a:rPr lang="en-US" sz="1550" dirty="0">
                <a:solidFill>
                  <a:srgbClr val="1A1A2E"/>
                </a:solidFill>
                <a:latin typeface="Outfit SemiBold" pitchFamily="34" charset="0"/>
                <a:ea typeface="Outfit SemiBold" pitchFamily="34" charset="-122"/>
                <a:cs typeface="Outfit SemiBold" pitchFamily="34" charset="-120"/>
              </a:rPr>
              <a:t>Definición y Alcance Operativo</a:t>
            </a:r>
            <a:endParaRPr lang="en-US" sz="1550" dirty="0"/>
          </a:p>
        </p:txBody>
      </p:sp>
      <p:sp>
        <p:nvSpPr>
          <p:cNvPr id="8" name="Text 5"/>
          <p:cNvSpPr txBox="1"/>
          <p:nvPr/>
        </p:nvSpPr>
        <p:spPr>
          <a:xfrm>
            <a:off x="868680" y="2743200"/>
            <a:ext cx="4709160" cy="3108960"/>
          </a:xfrm>
          <a:prstGeom prst="rect">
            <a:avLst/>
          </a:prstGeom>
          <a:noFill/>
          <a:ln/>
        </p:spPr>
        <p:txBody>
          <a:bodyPr wrap="square" lIns="0" tIns="0" rIns="0" bIns="0" rtlCol="0" anchor="ctr"/>
          <a:lstStyle/>
          <a:p>
            <a:pPr marL="203200" indent="-203200">
              <a:lnSpc>
                <a:spcPts val="1550"/>
              </a:lnSpc>
              <a:spcAft>
                <a:spcPts val="1000"/>
              </a:spcAft>
              <a:buSzPct val="100000"/>
              <a:buChar char="•"/>
            </a:pPr>
            <a:r>
              <a:rPr lang="en-US" sz="1200" dirty="0">
                <a:solidFill>
                  <a:srgbClr val="6B7280"/>
                </a:solidFill>
                <a:latin typeface="Outfit Medium" pitchFamily="34" charset="0"/>
                <a:ea typeface="Outfit Medium" pitchFamily="34" charset="-122"/>
                <a:cs typeface="Outfit Medium" pitchFamily="34" charset="-120"/>
              </a:rPr>
              <a:t>Son las metas intermedias, desagregadas y secuenciales necesarias para lograr de forma estructural el cumplimiento del objetivo general.</a:t>
            </a:r>
            <a:endParaRPr lang="en-US" sz="1200" dirty="0"/>
          </a:p>
          <a:p>
            <a:pPr marL="203200" indent="-203200">
              <a:lnSpc>
                <a:spcPts val="1550"/>
              </a:lnSpc>
              <a:spcAft>
                <a:spcPts val="1000"/>
              </a:spcAft>
              <a:buSzPct val="100000"/>
              <a:buChar char="•"/>
            </a:pPr>
            <a:r>
              <a:rPr lang="en-US" sz="1200" dirty="0">
                <a:solidFill>
                  <a:srgbClr val="6B7280"/>
                </a:solidFill>
                <a:latin typeface="Outfit Medium" pitchFamily="34" charset="0"/>
                <a:ea typeface="Outfit Medium" pitchFamily="34" charset="-122"/>
                <a:cs typeface="Outfit Medium" pitchFamily="34" charset="-120"/>
              </a:rPr>
              <a:t>Descomponen la complejidad del proyecto en etapas concretas, medibles y verificables.</a:t>
            </a:r>
            <a:endParaRPr lang="en-US" sz="1200" dirty="0"/>
          </a:p>
        </p:txBody>
      </p:sp>
      <p:sp>
        <p:nvSpPr>
          <p:cNvPr id="9" name="Shape 6"/>
          <p:cNvSpPr/>
          <p:nvPr/>
        </p:nvSpPr>
        <p:spPr>
          <a:xfrm>
            <a:off x="6263640" y="1600200"/>
            <a:ext cx="5349240" cy="4480560"/>
          </a:xfrm>
          <a:prstGeom prst="roundRect">
            <a:avLst>
              <a:gd name="adj" fmla="val 2041"/>
            </a:avLst>
          </a:prstGeom>
          <a:solidFill>
            <a:srgbClr val="FFFFFF"/>
          </a:solidFill>
          <a:ln w="12700">
            <a:solidFill>
              <a:srgbClr val="D1D5DB"/>
            </a:solidFill>
            <a:prstDash val="solid"/>
          </a:ln>
          <a:effectLst>
            <a:outerShdw sx="100000" sy="100000" kx="0" ky="0" algn="bl" rotWithShape="0" blurRad="101600" dist="25400" dir="5400000">
              <a:srgbClr val="1A1A2E">
                <a:alpha val="10000"/>
              </a:srgbClr>
            </a:outerShdw>
          </a:effectLst>
        </p:spPr>
      </p:sp>
      <p:sp>
        <p:nvSpPr>
          <p:cNvPr id="10" name="Shape 7"/>
          <p:cNvSpPr/>
          <p:nvPr/>
        </p:nvSpPr>
        <p:spPr>
          <a:xfrm>
            <a:off x="6583680" y="1920240"/>
            <a:ext cx="594360" cy="594360"/>
          </a:xfrm>
          <a:prstGeom prst="ellipse">
            <a:avLst/>
          </a:prstGeom>
          <a:solidFill>
            <a:srgbClr val="2E7D57"/>
          </a:solidFill>
          <a:ln/>
        </p:spPr>
      </p:sp>
      <p:pic>
        <p:nvPicPr>
          <p:cNvPr id="11" name="Image 1" descr="/home/claude/eq4/icons/listchecks.png">    </p:cNvPr>
          <p:cNvPicPr>
            <a:picLocks noChangeAspect="1"/>
          </p:cNvPicPr>
          <p:nvPr/>
        </p:nvPicPr>
        <p:blipFill>
          <a:blip r:embed="rId2"/>
          <a:stretch>
            <a:fillRect/>
          </a:stretch>
        </p:blipFill>
        <p:spPr>
          <a:xfrm>
            <a:off x="6666890" y="2003450"/>
            <a:ext cx="427939" cy="427939"/>
          </a:xfrm>
          <a:prstGeom prst="rect">
            <a:avLst/>
          </a:prstGeom>
        </p:spPr>
      </p:pic>
      <p:sp>
        <p:nvSpPr>
          <p:cNvPr id="12" name="Text 8"/>
          <p:cNvSpPr txBox="1"/>
          <p:nvPr/>
        </p:nvSpPr>
        <p:spPr>
          <a:xfrm>
            <a:off x="7315200" y="1984248"/>
            <a:ext cx="4069080" cy="457200"/>
          </a:xfrm>
          <a:prstGeom prst="rect">
            <a:avLst/>
          </a:prstGeom>
          <a:noFill/>
          <a:ln/>
        </p:spPr>
        <p:txBody>
          <a:bodyPr wrap="square" lIns="0" tIns="0" rIns="0" bIns="0" rtlCol="0" anchor="ctr"/>
          <a:lstStyle/>
          <a:p>
            <a:pPr indent="0" marL="0">
              <a:buNone/>
            </a:pPr>
            <a:r>
              <a:rPr lang="en-US" sz="1550" dirty="0">
                <a:solidFill>
                  <a:srgbClr val="1A1A2E"/>
                </a:solidFill>
                <a:latin typeface="Outfit SemiBold" pitchFamily="34" charset="0"/>
                <a:ea typeface="Outfit SemiBold" pitchFamily="34" charset="-122"/>
                <a:cs typeface="Outfit SemiBold" pitchFamily="34" charset="-120"/>
              </a:rPr>
              <a:t>Características Metodológicas</a:t>
            </a:r>
            <a:endParaRPr lang="en-US" sz="1550" dirty="0"/>
          </a:p>
        </p:txBody>
      </p:sp>
      <p:sp>
        <p:nvSpPr>
          <p:cNvPr id="13" name="Text 9"/>
          <p:cNvSpPr txBox="1"/>
          <p:nvPr/>
        </p:nvSpPr>
        <p:spPr>
          <a:xfrm>
            <a:off x="6583680" y="2743200"/>
            <a:ext cx="4709160" cy="3108960"/>
          </a:xfrm>
          <a:prstGeom prst="rect">
            <a:avLst/>
          </a:prstGeom>
          <a:noFill/>
          <a:ln/>
        </p:spPr>
        <p:txBody>
          <a:bodyPr wrap="square" lIns="0" tIns="0" rIns="0" bIns="0" rtlCol="0" anchor="ctr"/>
          <a:lstStyle/>
          <a:p>
            <a:pPr marL="203200" indent="-203200">
              <a:lnSpc>
                <a:spcPts val="1550"/>
              </a:lnSpc>
              <a:spcAft>
                <a:spcPts val="1000"/>
              </a:spcAft>
              <a:buSzPct val="100000"/>
              <a:buChar char="•"/>
            </a:pPr>
            <a:r>
              <a:rPr lang="en-US" sz="1100" dirty="0">
                <a:solidFill>
                  <a:srgbClr val="6B7280"/>
                </a:solidFill>
                <a:latin typeface="Outfit Medium" pitchFamily="34" charset="0"/>
                <a:ea typeface="Outfit Medium" pitchFamily="34" charset="-122"/>
                <a:cs typeface="Outfit Medium" pitchFamily="34" charset="-120"/>
              </a:rPr>
              <a:t>Responden a la pregunta: ¿Cómo y a través de qué pasos ordenados se alcanzará la meta global?</a:t>
            </a:r>
            <a:endParaRPr lang="en-US" sz="1100" dirty="0"/>
          </a:p>
          <a:p>
            <a:pPr marL="203200" indent="-203200">
              <a:lnSpc>
                <a:spcPts val="1550"/>
              </a:lnSpc>
              <a:spcAft>
                <a:spcPts val="1000"/>
              </a:spcAft>
              <a:buSzPct val="100000"/>
              <a:buChar char="•"/>
            </a:pPr>
            <a:r>
              <a:rPr lang="en-US" sz="1100" dirty="0">
                <a:solidFill>
                  <a:srgbClr val="6B7280"/>
                </a:solidFill>
                <a:latin typeface="Outfit Medium" pitchFamily="34" charset="0"/>
                <a:ea typeface="Outfit Medium" pitchFamily="34" charset="-122"/>
                <a:cs typeface="Outfit Medium" pitchFamily="34" charset="-120"/>
              </a:rPr>
              <a:t>Delimitan los alcances parciales en fases típicas: diagnóstico inicial, diseño o construcción de la solución, y validación o evaluación de impacto.</a:t>
            </a:r>
            <a:endParaRPr lang="en-US" sz="1100" dirty="0"/>
          </a:p>
          <a:p>
            <a:pPr marL="203200" indent="-203200">
              <a:lnSpc>
                <a:spcPts val="1550"/>
              </a:lnSpc>
              <a:spcAft>
                <a:spcPts val="1000"/>
              </a:spcAft>
              <a:buSzPct val="100000"/>
              <a:buChar char="•"/>
            </a:pPr>
            <a:r>
              <a:rPr lang="en-US" sz="1100" dirty="0">
                <a:solidFill>
                  <a:srgbClr val="6B7280"/>
                </a:solidFill>
                <a:latin typeface="Outfit Medium" pitchFamily="34" charset="0"/>
                <a:ea typeface="Outfit Medium" pitchFamily="34" charset="-122"/>
                <a:cs typeface="Outfit Medium" pitchFamily="34" charset="-120"/>
              </a:rPr>
              <a:t>Emplean verbos en infinitivo de corte operativo y ejecutable (ej. Diagnosticar, Analizar, Cuantificar, Determinar, Validar).</a:t>
            </a:r>
            <a:endParaRPr lang="en-US" sz="1100" dirty="0"/>
          </a:p>
          <a:p>
            <a:pPr marL="203200" indent="-203200">
              <a:lnSpc>
                <a:spcPts val="1550"/>
              </a:lnSpc>
              <a:spcAft>
                <a:spcPts val="1000"/>
              </a:spcAft>
              <a:buSzPct val="100000"/>
              <a:buChar char="•"/>
            </a:pPr>
            <a:r>
              <a:rPr lang="en-US" sz="1100" dirty="0">
                <a:solidFill>
                  <a:srgbClr val="6B7280"/>
                </a:solidFill>
                <a:latin typeface="Outfit Medium" pitchFamily="34" charset="0"/>
                <a:ea typeface="Outfit Medium" pitchFamily="34" charset="-122"/>
                <a:cs typeface="Outfit Medium" pitchFamily="34" charset="-120"/>
              </a:rPr>
              <a:t>Mantienen un estricto orden lógico y cronológico entre sí.</a:t>
            </a:r>
            <a:endParaRPr lang="en-US" sz="1100" dirty="0"/>
          </a:p>
        </p:txBody>
      </p:sp>
      <p:pic>
        <p:nvPicPr>
          <p:cNvPr id="14" name="Image 2" descr="/home/claude/eq4/brand/sigre-logo.png">    </p:cNvPr>
          <p:cNvPicPr>
            <a:picLocks noChangeAspect="1"/>
          </p:cNvPicPr>
          <p:nvPr/>
        </p:nvPicPr>
        <p:blipFill>
          <a:blip r:embed="rId3"/>
          <a:stretch>
            <a:fillRect/>
          </a:stretch>
        </p:blipFill>
        <p:spPr>
          <a:xfrm>
            <a:off x="548640" y="6510528"/>
            <a:ext cx="566928" cy="182880"/>
          </a:xfrm>
          <a:prstGeom prst="rect">
            <a:avLst/>
          </a:prstGeom>
        </p:spPr>
      </p:pic>
      <p:sp>
        <p:nvSpPr>
          <p:cNvPr id="15" name="Text 10"/>
          <p:cNvSpPr txBox="1"/>
          <p:nvPr/>
        </p:nvSpPr>
        <p:spPr>
          <a:xfrm>
            <a:off x="1234440" y="6492240"/>
            <a:ext cx="5486400" cy="256032"/>
          </a:xfrm>
          <a:prstGeom prst="rect">
            <a:avLst/>
          </a:prstGeom>
          <a:noFill/>
          <a:ln/>
        </p:spPr>
        <p:txBody>
          <a:bodyPr wrap="square" lIns="0" tIns="0" rIns="0" bIns="0" rtlCol="0" anchor="ctr"/>
          <a:lstStyle/>
          <a:p>
            <a:pPr indent="0" marL="0">
              <a:buNone/>
            </a:pPr>
            <a:r>
              <a:rPr lang="en-US" sz="850" dirty="0">
                <a:solidFill>
                  <a:srgbClr val="6B7280"/>
                </a:solidFill>
                <a:latin typeface="Outfit Medium" pitchFamily="34" charset="0"/>
                <a:ea typeface="Outfit Medium" pitchFamily="34" charset="-122"/>
                <a:cs typeface="Outfit Medium" pitchFamily="34" charset="-120"/>
              </a:rPr>
              <a:t>Equipo 4  ·  Formulación y Evaluación de Proyectos</a:t>
            </a:r>
            <a:endParaRPr lang="en-US" sz="850" dirty="0"/>
          </a:p>
        </p:txBody>
      </p:sp>
      <p:sp>
        <p:nvSpPr>
          <p:cNvPr id="16" name="Text 11"/>
          <p:cNvSpPr txBox="1"/>
          <p:nvPr/>
        </p:nvSpPr>
        <p:spPr>
          <a:xfrm>
            <a:off x="11183112" y="6492240"/>
            <a:ext cx="548640" cy="256032"/>
          </a:xfrm>
          <a:prstGeom prst="rect">
            <a:avLst/>
          </a:prstGeom>
          <a:noFill/>
          <a:ln/>
        </p:spPr>
        <p:txBody>
          <a:bodyPr wrap="square" lIns="0" tIns="0" rIns="0" bIns="0" rtlCol="0" anchor="ctr"/>
          <a:lstStyle/>
          <a:p>
            <a:pPr algn="r" indent="0" marL="0">
              <a:buNone/>
            </a:pPr>
            <a:r>
              <a:rPr lang="en-US" sz="850" dirty="0">
                <a:solidFill>
                  <a:srgbClr val="6B7280"/>
                </a:solidFill>
                <a:latin typeface="Outfit Medium" pitchFamily="34" charset="0"/>
                <a:ea typeface="Outfit Medium" pitchFamily="34" charset="-122"/>
                <a:cs typeface="Outfit Medium" pitchFamily="34" charset="-120"/>
              </a:rPr>
              <a:t>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8EFF5"/>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256032"/>
          </a:xfrm>
          <a:prstGeom prst="rect">
            <a:avLst/>
          </a:prstGeom>
          <a:noFill/>
          <a:ln/>
        </p:spPr>
        <p:txBody>
          <a:bodyPr wrap="square" lIns="0" tIns="0" rIns="0" bIns="0" rtlCol="0" anchor="ctr"/>
          <a:lstStyle/>
          <a:p>
            <a:pPr algn="l" indent="0" marL="0">
              <a:buNone/>
            </a:pPr>
            <a:r>
              <a:rPr lang="en-US" sz="1050" spc="180" kern="0" dirty="0">
                <a:solidFill>
                  <a:srgbClr val="2E7D57"/>
                </a:solidFill>
                <a:latin typeface="Outfit SemiBold" pitchFamily="34" charset="0"/>
                <a:ea typeface="Outfit SemiBold" pitchFamily="34" charset="-122"/>
                <a:cs typeface="Outfit SemiBold" pitchFamily="34" charset="-120"/>
              </a:rPr>
              <a:t>EQUIPO 4 · FORMULACIÓN Y EVALUACIÓN DE PROYECTOS</a:t>
            </a:r>
            <a:endParaRPr lang="en-US" sz="1050" dirty="0"/>
          </a:p>
        </p:txBody>
      </p:sp>
      <p:sp>
        <p:nvSpPr>
          <p:cNvPr id="3" name="Text 1"/>
          <p:cNvSpPr txBox="1"/>
          <p:nvPr/>
        </p:nvSpPr>
        <p:spPr>
          <a:xfrm>
            <a:off x="548640" y="603504"/>
            <a:ext cx="11064240" cy="640080"/>
          </a:xfrm>
          <a:prstGeom prst="rect">
            <a:avLst/>
          </a:prstGeom>
          <a:noFill/>
          <a:ln/>
        </p:spPr>
        <p:txBody>
          <a:bodyPr wrap="square" lIns="0" tIns="0" rIns="0" bIns="0" rtlCol="0" anchor="ctr"/>
          <a:lstStyle/>
          <a:p>
            <a:pPr algn="l" indent="0" marL="0">
              <a:buNone/>
            </a:pPr>
            <a:r>
              <a:rPr lang="en-US" sz="2700" b="1" dirty="0">
                <a:solidFill>
                  <a:srgbClr val="002B49"/>
                </a:solidFill>
                <a:latin typeface="Outfit" pitchFamily="34" charset="0"/>
                <a:ea typeface="Outfit" pitchFamily="34" charset="-122"/>
                <a:cs typeface="Outfit" pitchFamily="34" charset="-120"/>
              </a:rPr>
              <a:t>¿Cuál es el Criterio para Formular los Objetivos?</a:t>
            </a:r>
            <a:endParaRPr lang="en-US" sz="2700" dirty="0"/>
          </a:p>
        </p:txBody>
      </p:sp>
      <p:sp>
        <p:nvSpPr>
          <p:cNvPr id="4" name="Shape 2"/>
          <p:cNvSpPr/>
          <p:nvPr/>
        </p:nvSpPr>
        <p:spPr>
          <a:xfrm>
            <a:off x="548640" y="1554480"/>
            <a:ext cx="11091672" cy="1051560"/>
          </a:xfrm>
          <a:prstGeom prst="roundRect">
            <a:avLst>
              <a:gd name="adj" fmla="val 8696"/>
            </a:avLst>
          </a:prstGeom>
          <a:solidFill>
            <a:srgbClr val="FFFFFF"/>
          </a:solidFill>
          <a:ln w="12700">
            <a:solidFill>
              <a:srgbClr val="D1D5DB"/>
            </a:solidFill>
            <a:prstDash val="solid"/>
          </a:ln>
          <a:effectLst>
            <a:outerShdw sx="100000" sy="100000" kx="0" ky="0" algn="bl" rotWithShape="0" blurRad="101600" dist="25400" dir="5400000">
              <a:srgbClr val="1A1A2E">
                <a:alpha val="10000"/>
              </a:srgbClr>
            </a:outerShdw>
          </a:effectLst>
        </p:spPr>
      </p:sp>
      <p:sp>
        <p:nvSpPr>
          <p:cNvPr id="5" name="Shape 3"/>
          <p:cNvSpPr/>
          <p:nvPr/>
        </p:nvSpPr>
        <p:spPr>
          <a:xfrm>
            <a:off x="822960" y="1783080"/>
            <a:ext cx="548640" cy="548640"/>
          </a:xfrm>
          <a:prstGeom prst="ellipse">
            <a:avLst/>
          </a:prstGeom>
          <a:solidFill>
            <a:srgbClr val="002B49"/>
          </a:solidFill>
          <a:ln/>
        </p:spPr>
      </p:sp>
      <p:pic>
        <p:nvPicPr>
          <p:cNvPr id="6" name="Image 0" descr="/home/claude/eq4/icons/bookopen.png">    </p:cNvPr>
          <p:cNvPicPr>
            <a:picLocks noChangeAspect="1"/>
          </p:cNvPicPr>
          <p:nvPr/>
        </p:nvPicPr>
        <p:blipFill>
          <a:blip r:embed="rId1"/>
          <a:stretch>
            <a:fillRect/>
          </a:stretch>
        </p:blipFill>
        <p:spPr>
          <a:xfrm>
            <a:off x="899770" y="1859890"/>
            <a:ext cx="395021" cy="395021"/>
          </a:xfrm>
          <a:prstGeom prst="rect">
            <a:avLst/>
          </a:prstGeom>
        </p:spPr>
      </p:pic>
      <p:sp>
        <p:nvSpPr>
          <p:cNvPr id="7" name="Text 4"/>
          <p:cNvSpPr txBox="1"/>
          <p:nvPr/>
        </p:nvSpPr>
        <p:spPr>
          <a:xfrm>
            <a:off x="1508760" y="1691640"/>
            <a:ext cx="9784080" cy="320040"/>
          </a:xfrm>
          <a:prstGeom prst="rect">
            <a:avLst/>
          </a:prstGeom>
          <a:noFill/>
          <a:ln/>
        </p:spPr>
        <p:txBody>
          <a:bodyPr wrap="square" lIns="0" tIns="0" rIns="0" bIns="0" rtlCol="0" anchor="ctr"/>
          <a:lstStyle/>
          <a:p>
            <a:pPr indent="0" marL="0">
              <a:buNone/>
            </a:pPr>
            <a:r>
              <a:rPr lang="en-US" sz="1350" dirty="0">
                <a:solidFill>
                  <a:srgbClr val="1A1A2E"/>
                </a:solidFill>
                <a:latin typeface="Outfit SemiBold" pitchFamily="34" charset="0"/>
                <a:ea typeface="Outfit SemiBold" pitchFamily="34" charset="-122"/>
                <a:cs typeface="Outfit SemiBold" pitchFamily="34" charset="-120"/>
              </a:rPr>
              <a:t>1 · Verbo en Infinitivo y Taxonomía de Bloom</a:t>
            </a:r>
            <a:endParaRPr lang="en-US" sz="1350" dirty="0"/>
          </a:p>
        </p:txBody>
      </p:sp>
      <p:sp>
        <p:nvSpPr>
          <p:cNvPr id="8" name="Text 5"/>
          <p:cNvSpPr txBox="1"/>
          <p:nvPr/>
        </p:nvSpPr>
        <p:spPr>
          <a:xfrm>
            <a:off x="1508760" y="2011680"/>
            <a:ext cx="9784080" cy="502920"/>
          </a:xfrm>
          <a:prstGeom prst="rect">
            <a:avLst/>
          </a:prstGeom>
          <a:noFill/>
          <a:ln/>
        </p:spPr>
        <p:txBody>
          <a:bodyPr wrap="square" lIns="0" tIns="0" rIns="0" bIns="0" rtlCol="0" anchor="ctr"/>
          <a:lstStyle/>
          <a:p>
            <a:pPr indent="0" marL="0">
              <a:lnSpc>
                <a:spcPts val="1500"/>
              </a:lnSpc>
              <a:buNone/>
            </a:pPr>
            <a:r>
              <a:rPr lang="en-US" sz="1150" dirty="0">
                <a:solidFill>
                  <a:srgbClr val="6B7280"/>
                </a:solidFill>
                <a:latin typeface="Outfit Medium" pitchFamily="34" charset="0"/>
                <a:ea typeface="Outfit Medium" pitchFamily="34" charset="-122"/>
                <a:cs typeface="Outfit Medium" pitchFamily="34" charset="-120"/>
              </a:rPr>
              <a:t>Todo objetivo debe iniciar con una acción observable y evaluable (-ar, -er, -ir). Deben evitarse términos subjetivos o ambiguos como ‘saber’, ‘aprender’ o ‘conocer’.</a:t>
            </a:r>
            <a:endParaRPr lang="en-US" sz="1150" dirty="0"/>
          </a:p>
        </p:txBody>
      </p:sp>
      <p:sp>
        <p:nvSpPr>
          <p:cNvPr id="9" name="Shape 6"/>
          <p:cNvSpPr/>
          <p:nvPr/>
        </p:nvSpPr>
        <p:spPr>
          <a:xfrm>
            <a:off x="548640" y="2788920"/>
            <a:ext cx="11091672" cy="2286000"/>
          </a:xfrm>
          <a:prstGeom prst="roundRect">
            <a:avLst>
              <a:gd name="adj" fmla="val 4000"/>
            </a:avLst>
          </a:prstGeom>
          <a:solidFill>
            <a:srgbClr val="FFFFFF"/>
          </a:solidFill>
          <a:ln w="12700">
            <a:solidFill>
              <a:srgbClr val="D1D5DB"/>
            </a:solidFill>
            <a:prstDash val="solid"/>
          </a:ln>
          <a:effectLst>
            <a:outerShdw sx="100000" sy="100000" kx="0" ky="0" algn="bl" rotWithShape="0" blurRad="101600" dist="25400" dir="5400000">
              <a:srgbClr val="1A1A2E">
                <a:alpha val="10000"/>
              </a:srgbClr>
            </a:outerShdw>
          </a:effectLst>
        </p:spPr>
      </p:sp>
      <p:sp>
        <p:nvSpPr>
          <p:cNvPr id="10" name="Shape 7"/>
          <p:cNvSpPr/>
          <p:nvPr/>
        </p:nvSpPr>
        <p:spPr>
          <a:xfrm>
            <a:off x="822960" y="2990088"/>
            <a:ext cx="502920" cy="502920"/>
          </a:xfrm>
          <a:prstGeom prst="ellipse">
            <a:avLst/>
          </a:prstGeom>
          <a:solidFill>
            <a:srgbClr val="2E7D57"/>
          </a:solidFill>
          <a:ln/>
        </p:spPr>
      </p:sp>
      <p:pic>
        <p:nvPicPr>
          <p:cNvPr id="11" name="Image 1" descr="/home/claude/eq4/icons/target.png">    </p:cNvPr>
          <p:cNvPicPr>
            <a:picLocks noChangeAspect="1"/>
          </p:cNvPicPr>
          <p:nvPr/>
        </p:nvPicPr>
        <p:blipFill>
          <a:blip r:embed="rId2"/>
          <a:stretch>
            <a:fillRect/>
          </a:stretch>
        </p:blipFill>
        <p:spPr>
          <a:xfrm>
            <a:off x="893369" y="3060497"/>
            <a:ext cx="362102" cy="362102"/>
          </a:xfrm>
          <a:prstGeom prst="rect">
            <a:avLst/>
          </a:prstGeom>
        </p:spPr>
      </p:pic>
      <p:sp>
        <p:nvSpPr>
          <p:cNvPr id="12" name="Text 8"/>
          <p:cNvSpPr txBox="1"/>
          <p:nvPr/>
        </p:nvSpPr>
        <p:spPr>
          <a:xfrm>
            <a:off x="1463040" y="2916936"/>
            <a:ext cx="9784080" cy="320040"/>
          </a:xfrm>
          <a:prstGeom prst="rect">
            <a:avLst/>
          </a:prstGeom>
          <a:noFill/>
          <a:ln/>
        </p:spPr>
        <p:txBody>
          <a:bodyPr wrap="square" lIns="0" tIns="0" rIns="0" bIns="0" rtlCol="0" anchor="ctr"/>
          <a:lstStyle/>
          <a:p>
            <a:pPr indent="0" marL="0">
              <a:buNone/>
            </a:pPr>
            <a:r>
              <a:rPr lang="en-US" sz="1350" dirty="0">
                <a:solidFill>
                  <a:srgbClr val="1A1A2E"/>
                </a:solidFill>
                <a:latin typeface="Outfit SemiBold" pitchFamily="34" charset="0"/>
                <a:ea typeface="Outfit SemiBold" pitchFamily="34" charset="-122"/>
                <a:cs typeface="Outfit SemiBold" pitchFamily="34" charset="-120"/>
              </a:rPr>
              <a:t>2 · El Criterio SMART</a:t>
            </a:r>
            <a:endParaRPr lang="en-US" sz="1350" dirty="0"/>
          </a:p>
        </p:txBody>
      </p:sp>
      <p:sp>
        <p:nvSpPr>
          <p:cNvPr id="13" name="Shape 9"/>
          <p:cNvSpPr/>
          <p:nvPr/>
        </p:nvSpPr>
        <p:spPr>
          <a:xfrm>
            <a:off x="822960" y="3657600"/>
            <a:ext cx="365760" cy="365760"/>
          </a:xfrm>
          <a:prstGeom prst="roundRect">
            <a:avLst>
              <a:gd name="adj" fmla="val 50000"/>
            </a:avLst>
          </a:prstGeom>
          <a:solidFill>
            <a:srgbClr val="002B49"/>
          </a:solidFill>
          <a:ln/>
        </p:spPr>
      </p:sp>
      <p:sp>
        <p:nvSpPr>
          <p:cNvPr id="14" name="Text 10"/>
          <p:cNvSpPr txBox="1"/>
          <p:nvPr/>
        </p:nvSpPr>
        <p:spPr>
          <a:xfrm>
            <a:off x="822960" y="3657600"/>
            <a:ext cx="365760" cy="365760"/>
          </a:xfrm>
          <a:prstGeom prst="rect">
            <a:avLst/>
          </a:prstGeom>
          <a:noFill/>
          <a:ln/>
        </p:spPr>
        <p:txBody>
          <a:bodyPr wrap="square" lIns="0" tIns="0" rIns="0" bIns="0" rtlCol="0" anchor="ctr"/>
          <a:lstStyle/>
          <a:p>
            <a:pPr algn="ctr" indent="0" marL="0">
              <a:buNone/>
            </a:pPr>
            <a:r>
              <a:rPr lang="en-US" sz="950" dirty="0">
                <a:solidFill>
                  <a:srgbClr val="FFFFFF"/>
                </a:solidFill>
                <a:latin typeface="Outfit SemiBold" pitchFamily="34" charset="0"/>
                <a:ea typeface="Outfit SemiBold" pitchFamily="34" charset="-122"/>
                <a:cs typeface="Outfit SemiBold" pitchFamily="34" charset="-120"/>
              </a:rPr>
              <a:t>S</a:t>
            </a:r>
            <a:endParaRPr lang="en-US" sz="950" dirty="0"/>
          </a:p>
        </p:txBody>
      </p:sp>
      <p:sp>
        <p:nvSpPr>
          <p:cNvPr id="15" name="Text 11"/>
          <p:cNvSpPr txBox="1"/>
          <p:nvPr/>
        </p:nvSpPr>
        <p:spPr>
          <a:xfrm>
            <a:off x="777240" y="4069080"/>
            <a:ext cx="1971446" cy="256032"/>
          </a:xfrm>
          <a:prstGeom prst="rect">
            <a:avLst/>
          </a:prstGeom>
          <a:noFill/>
          <a:ln/>
        </p:spPr>
        <p:txBody>
          <a:bodyPr wrap="square" lIns="0" tIns="0" rIns="0" bIns="0" rtlCol="0" anchor="ctr"/>
          <a:lstStyle/>
          <a:p>
            <a:pPr indent="0" marL="0">
              <a:buNone/>
            </a:pPr>
            <a:r>
              <a:rPr lang="en-US" sz="1050" dirty="0">
                <a:solidFill>
                  <a:srgbClr val="002B49"/>
                </a:solidFill>
                <a:latin typeface="Outfit SemiBold" pitchFamily="34" charset="0"/>
                <a:ea typeface="Outfit SemiBold" pitchFamily="34" charset="-122"/>
                <a:cs typeface="Outfit SemiBold" pitchFamily="34" charset="-120"/>
              </a:rPr>
              <a:t>Specific</a:t>
            </a:r>
            <a:endParaRPr lang="en-US" sz="1050" dirty="0"/>
          </a:p>
        </p:txBody>
      </p:sp>
      <p:sp>
        <p:nvSpPr>
          <p:cNvPr id="16" name="Text 12"/>
          <p:cNvSpPr txBox="1"/>
          <p:nvPr/>
        </p:nvSpPr>
        <p:spPr>
          <a:xfrm>
            <a:off x="777240" y="4325112"/>
            <a:ext cx="1971446" cy="713232"/>
          </a:xfrm>
          <a:prstGeom prst="rect">
            <a:avLst/>
          </a:prstGeom>
          <a:noFill/>
          <a:ln/>
        </p:spPr>
        <p:txBody>
          <a:bodyPr wrap="square" lIns="0" tIns="0" rIns="0" bIns="0" rtlCol="0" anchor="ctr"/>
          <a:lstStyle/>
          <a:p>
            <a:pPr indent="0" marL="0">
              <a:lnSpc>
                <a:spcPts val="1100"/>
              </a:lnSpc>
              <a:buNone/>
            </a:pPr>
            <a:r>
              <a:rPr lang="en-US" sz="870" dirty="0">
                <a:solidFill>
                  <a:srgbClr val="6B7280"/>
                </a:solidFill>
                <a:latin typeface="Outfit Medium" pitchFamily="34" charset="0"/>
                <a:ea typeface="Outfit Medium" pitchFamily="34" charset="-122"/>
                <a:cs typeface="Outfit Medium" pitchFamily="34" charset="-120"/>
              </a:rPr>
              <a:t>Delimitación clara y precisa sin ambigüedades respecto al entregable o meta.</a:t>
            </a:r>
            <a:endParaRPr lang="en-US" sz="870" dirty="0"/>
          </a:p>
        </p:txBody>
      </p:sp>
      <p:sp>
        <p:nvSpPr>
          <p:cNvPr id="17" name="Shape 13"/>
          <p:cNvSpPr/>
          <p:nvPr/>
        </p:nvSpPr>
        <p:spPr>
          <a:xfrm>
            <a:off x="2931566" y="3657600"/>
            <a:ext cx="365760" cy="365760"/>
          </a:xfrm>
          <a:prstGeom prst="roundRect">
            <a:avLst>
              <a:gd name="adj" fmla="val 50000"/>
            </a:avLst>
          </a:prstGeom>
          <a:solidFill>
            <a:srgbClr val="002B49"/>
          </a:solidFill>
          <a:ln/>
        </p:spPr>
      </p:sp>
      <p:sp>
        <p:nvSpPr>
          <p:cNvPr id="18" name="Text 14"/>
          <p:cNvSpPr txBox="1"/>
          <p:nvPr/>
        </p:nvSpPr>
        <p:spPr>
          <a:xfrm>
            <a:off x="2931566" y="3657600"/>
            <a:ext cx="365760" cy="365760"/>
          </a:xfrm>
          <a:prstGeom prst="rect">
            <a:avLst/>
          </a:prstGeom>
          <a:noFill/>
          <a:ln/>
        </p:spPr>
        <p:txBody>
          <a:bodyPr wrap="square" lIns="0" tIns="0" rIns="0" bIns="0" rtlCol="0" anchor="ctr"/>
          <a:lstStyle/>
          <a:p>
            <a:pPr algn="ctr" indent="0" marL="0">
              <a:buNone/>
            </a:pPr>
            <a:r>
              <a:rPr lang="en-US" sz="950" dirty="0">
                <a:solidFill>
                  <a:srgbClr val="FFFFFF"/>
                </a:solidFill>
                <a:latin typeface="Outfit SemiBold" pitchFamily="34" charset="0"/>
                <a:ea typeface="Outfit SemiBold" pitchFamily="34" charset="-122"/>
                <a:cs typeface="Outfit SemiBold" pitchFamily="34" charset="-120"/>
              </a:rPr>
              <a:t>M</a:t>
            </a:r>
            <a:endParaRPr lang="en-US" sz="950" dirty="0"/>
          </a:p>
        </p:txBody>
      </p:sp>
      <p:sp>
        <p:nvSpPr>
          <p:cNvPr id="19" name="Text 15"/>
          <p:cNvSpPr txBox="1"/>
          <p:nvPr/>
        </p:nvSpPr>
        <p:spPr>
          <a:xfrm>
            <a:off x="2885846" y="4069080"/>
            <a:ext cx="1971446" cy="256032"/>
          </a:xfrm>
          <a:prstGeom prst="rect">
            <a:avLst/>
          </a:prstGeom>
          <a:noFill/>
          <a:ln/>
        </p:spPr>
        <p:txBody>
          <a:bodyPr wrap="square" lIns="0" tIns="0" rIns="0" bIns="0" rtlCol="0" anchor="ctr"/>
          <a:lstStyle/>
          <a:p>
            <a:pPr indent="0" marL="0">
              <a:buNone/>
            </a:pPr>
            <a:r>
              <a:rPr lang="en-US" sz="1050" dirty="0">
                <a:solidFill>
                  <a:srgbClr val="002B49"/>
                </a:solidFill>
                <a:latin typeface="Outfit SemiBold" pitchFamily="34" charset="0"/>
                <a:ea typeface="Outfit SemiBold" pitchFamily="34" charset="-122"/>
                <a:cs typeface="Outfit SemiBold" pitchFamily="34" charset="-120"/>
              </a:rPr>
              <a:t>Measurable</a:t>
            </a:r>
            <a:endParaRPr lang="en-US" sz="1050" dirty="0"/>
          </a:p>
        </p:txBody>
      </p:sp>
      <p:sp>
        <p:nvSpPr>
          <p:cNvPr id="20" name="Text 16"/>
          <p:cNvSpPr txBox="1"/>
          <p:nvPr/>
        </p:nvSpPr>
        <p:spPr>
          <a:xfrm>
            <a:off x="2885846" y="4325112"/>
            <a:ext cx="1971446" cy="713232"/>
          </a:xfrm>
          <a:prstGeom prst="rect">
            <a:avLst/>
          </a:prstGeom>
          <a:noFill/>
          <a:ln/>
        </p:spPr>
        <p:txBody>
          <a:bodyPr wrap="square" lIns="0" tIns="0" rIns="0" bIns="0" rtlCol="0" anchor="ctr"/>
          <a:lstStyle/>
          <a:p>
            <a:pPr indent="0" marL="0">
              <a:lnSpc>
                <a:spcPts val="1100"/>
              </a:lnSpc>
              <a:buNone/>
            </a:pPr>
            <a:r>
              <a:rPr lang="en-US" sz="870" dirty="0">
                <a:solidFill>
                  <a:srgbClr val="6B7280"/>
                </a:solidFill>
                <a:latin typeface="Outfit Medium" pitchFamily="34" charset="0"/>
                <a:ea typeface="Outfit Medium" pitchFamily="34" charset="-122"/>
                <a:cs typeface="Outfit Medium" pitchFamily="34" charset="-120"/>
              </a:rPr>
              <a:t>Capacidad de asociarse a indicadores de avance, éxito o métricas cuantitativas/cualitativas.</a:t>
            </a:r>
            <a:endParaRPr lang="en-US" sz="870" dirty="0"/>
          </a:p>
        </p:txBody>
      </p:sp>
      <p:sp>
        <p:nvSpPr>
          <p:cNvPr id="21" name="Shape 17"/>
          <p:cNvSpPr/>
          <p:nvPr/>
        </p:nvSpPr>
        <p:spPr>
          <a:xfrm>
            <a:off x="5040173" y="3657600"/>
            <a:ext cx="365760" cy="365760"/>
          </a:xfrm>
          <a:prstGeom prst="roundRect">
            <a:avLst>
              <a:gd name="adj" fmla="val 50000"/>
            </a:avLst>
          </a:prstGeom>
          <a:solidFill>
            <a:srgbClr val="002B49"/>
          </a:solidFill>
          <a:ln/>
        </p:spPr>
      </p:sp>
      <p:sp>
        <p:nvSpPr>
          <p:cNvPr id="22" name="Text 18"/>
          <p:cNvSpPr txBox="1"/>
          <p:nvPr/>
        </p:nvSpPr>
        <p:spPr>
          <a:xfrm>
            <a:off x="5040173" y="3657600"/>
            <a:ext cx="365760" cy="365760"/>
          </a:xfrm>
          <a:prstGeom prst="rect">
            <a:avLst/>
          </a:prstGeom>
          <a:noFill/>
          <a:ln/>
        </p:spPr>
        <p:txBody>
          <a:bodyPr wrap="square" lIns="0" tIns="0" rIns="0" bIns="0" rtlCol="0" anchor="ctr"/>
          <a:lstStyle/>
          <a:p>
            <a:pPr algn="ctr" indent="0" marL="0">
              <a:buNone/>
            </a:pPr>
            <a:r>
              <a:rPr lang="en-US" sz="950" dirty="0">
                <a:solidFill>
                  <a:srgbClr val="FFFFFF"/>
                </a:solidFill>
                <a:latin typeface="Outfit SemiBold" pitchFamily="34" charset="0"/>
                <a:ea typeface="Outfit SemiBold" pitchFamily="34" charset="-122"/>
                <a:cs typeface="Outfit SemiBold" pitchFamily="34" charset="-120"/>
              </a:rPr>
              <a:t>A</a:t>
            </a:r>
            <a:endParaRPr lang="en-US" sz="950" dirty="0"/>
          </a:p>
        </p:txBody>
      </p:sp>
      <p:sp>
        <p:nvSpPr>
          <p:cNvPr id="23" name="Text 19"/>
          <p:cNvSpPr txBox="1"/>
          <p:nvPr/>
        </p:nvSpPr>
        <p:spPr>
          <a:xfrm>
            <a:off x="4994453" y="4069080"/>
            <a:ext cx="1971446" cy="256032"/>
          </a:xfrm>
          <a:prstGeom prst="rect">
            <a:avLst/>
          </a:prstGeom>
          <a:noFill/>
          <a:ln/>
        </p:spPr>
        <p:txBody>
          <a:bodyPr wrap="square" lIns="0" tIns="0" rIns="0" bIns="0" rtlCol="0" anchor="ctr"/>
          <a:lstStyle/>
          <a:p>
            <a:pPr indent="0" marL="0">
              <a:buNone/>
            </a:pPr>
            <a:r>
              <a:rPr lang="en-US" sz="1050" dirty="0">
                <a:solidFill>
                  <a:srgbClr val="002B49"/>
                </a:solidFill>
                <a:latin typeface="Outfit SemiBold" pitchFamily="34" charset="0"/>
                <a:ea typeface="Outfit SemiBold" pitchFamily="34" charset="-122"/>
                <a:cs typeface="Outfit SemiBold" pitchFamily="34" charset="-120"/>
              </a:rPr>
              <a:t>Achievable</a:t>
            </a:r>
            <a:endParaRPr lang="en-US" sz="1050" dirty="0"/>
          </a:p>
        </p:txBody>
      </p:sp>
      <p:sp>
        <p:nvSpPr>
          <p:cNvPr id="24" name="Text 20"/>
          <p:cNvSpPr txBox="1"/>
          <p:nvPr/>
        </p:nvSpPr>
        <p:spPr>
          <a:xfrm>
            <a:off x="4994453" y="4325112"/>
            <a:ext cx="1971446" cy="713232"/>
          </a:xfrm>
          <a:prstGeom prst="rect">
            <a:avLst/>
          </a:prstGeom>
          <a:noFill/>
          <a:ln/>
        </p:spPr>
        <p:txBody>
          <a:bodyPr wrap="square" lIns="0" tIns="0" rIns="0" bIns="0" rtlCol="0" anchor="ctr"/>
          <a:lstStyle/>
          <a:p>
            <a:pPr indent="0" marL="0">
              <a:lnSpc>
                <a:spcPts val="1100"/>
              </a:lnSpc>
              <a:buNone/>
            </a:pPr>
            <a:r>
              <a:rPr lang="en-US" sz="870" dirty="0">
                <a:solidFill>
                  <a:srgbClr val="6B7280"/>
                </a:solidFill>
                <a:latin typeface="Outfit Medium" pitchFamily="34" charset="0"/>
                <a:ea typeface="Outfit Medium" pitchFamily="34" charset="-122"/>
                <a:cs typeface="Outfit Medium" pitchFamily="34" charset="-120"/>
              </a:rPr>
              <a:t>Realista en función de los recursos técnicos, financieros, temporales y humanos disponibles.</a:t>
            </a:r>
            <a:endParaRPr lang="en-US" sz="870" dirty="0"/>
          </a:p>
        </p:txBody>
      </p:sp>
      <p:sp>
        <p:nvSpPr>
          <p:cNvPr id="25" name="Shape 21"/>
          <p:cNvSpPr/>
          <p:nvPr/>
        </p:nvSpPr>
        <p:spPr>
          <a:xfrm>
            <a:off x="7148779" y="3657600"/>
            <a:ext cx="365760" cy="365760"/>
          </a:xfrm>
          <a:prstGeom prst="roundRect">
            <a:avLst>
              <a:gd name="adj" fmla="val 50000"/>
            </a:avLst>
          </a:prstGeom>
          <a:solidFill>
            <a:srgbClr val="002B49"/>
          </a:solidFill>
          <a:ln/>
        </p:spPr>
      </p:sp>
      <p:sp>
        <p:nvSpPr>
          <p:cNvPr id="26" name="Text 22"/>
          <p:cNvSpPr txBox="1"/>
          <p:nvPr/>
        </p:nvSpPr>
        <p:spPr>
          <a:xfrm>
            <a:off x="7148779" y="3657600"/>
            <a:ext cx="365760" cy="365760"/>
          </a:xfrm>
          <a:prstGeom prst="rect">
            <a:avLst/>
          </a:prstGeom>
          <a:noFill/>
          <a:ln/>
        </p:spPr>
        <p:txBody>
          <a:bodyPr wrap="square" lIns="0" tIns="0" rIns="0" bIns="0" rtlCol="0" anchor="ctr"/>
          <a:lstStyle/>
          <a:p>
            <a:pPr algn="ctr" indent="0" marL="0">
              <a:buNone/>
            </a:pPr>
            <a:r>
              <a:rPr lang="en-US" sz="950" dirty="0">
                <a:solidFill>
                  <a:srgbClr val="FFFFFF"/>
                </a:solidFill>
                <a:latin typeface="Outfit SemiBold" pitchFamily="34" charset="0"/>
                <a:ea typeface="Outfit SemiBold" pitchFamily="34" charset="-122"/>
                <a:cs typeface="Outfit SemiBold" pitchFamily="34" charset="-120"/>
              </a:rPr>
              <a:t>R</a:t>
            </a:r>
            <a:endParaRPr lang="en-US" sz="950" dirty="0"/>
          </a:p>
        </p:txBody>
      </p:sp>
      <p:sp>
        <p:nvSpPr>
          <p:cNvPr id="27" name="Text 23"/>
          <p:cNvSpPr txBox="1"/>
          <p:nvPr/>
        </p:nvSpPr>
        <p:spPr>
          <a:xfrm>
            <a:off x="7103059" y="4069080"/>
            <a:ext cx="1971446" cy="256032"/>
          </a:xfrm>
          <a:prstGeom prst="rect">
            <a:avLst/>
          </a:prstGeom>
          <a:noFill/>
          <a:ln/>
        </p:spPr>
        <p:txBody>
          <a:bodyPr wrap="square" lIns="0" tIns="0" rIns="0" bIns="0" rtlCol="0" anchor="ctr"/>
          <a:lstStyle/>
          <a:p>
            <a:pPr indent="0" marL="0">
              <a:buNone/>
            </a:pPr>
            <a:r>
              <a:rPr lang="en-US" sz="1050" dirty="0">
                <a:solidFill>
                  <a:srgbClr val="002B49"/>
                </a:solidFill>
                <a:latin typeface="Outfit SemiBold" pitchFamily="34" charset="0"/>
                <a:ea typeface="Outfit SemiBold" pitchFamily="34" charset="-122"/>
                <a:cs typeface="Outfit SemiBold" pitchFamily="34" charset="-120"/>
              </a:rPr>
              <a:t>Relevant</a:t>
            </a:r>
            <a:endParaRPr lang="en-US" sz="1050" dirty="0"/>
          </a:p>
        </p:txBody>
      </p:sp>
      <p:sp>
        <p:nvSpPr>
          <p:cNvPr id="28" name="Text 24"/>
          <p:cNvSpPr txBox="1"/>
          <p:nvPr/>
        </p:nvSpPr>
        <p:spPr>
          <a:xfrm>
            <a:off x="7103059" y="4325112"/>
            <a:ext cx="1971446" cy="713232"/>
          </a:xfrm>
          <a:prstGeom prst="rect">
            <a:avLst/>
          </a:prstGeom>
          <a:noFill/>
          <a:ln/>
        </p:spPr>
        <p:txBody>
          <a:bodyPr wrap="square" lIns="0" tIns="0" rIns="0" bIns="0" rtlCol="0" anchor="ctr"/>
          <a:lstStyle/>
          <a:p>
            <a:pPr indent="0" marL="0">
              <a:lnSpc>
                <a:spcPts val="1100"/>
              </a:lnSpc>
              <a:buNone/>
            </a:pPr>
            <a:r>
              <a:rPr lang="en-US" sz="870" dirty="0">
                <a:solidFill>
                  <a:srgbClr val="6B7280"/>
                </a:solidFill>
                <a:latin typeface="Outfit Medium" pitchFamily="34" charset="0"/>
                <a:ea typeface="Outfit Medium" pitchFamily="34" charset="-122"/>
                <a:cs typeface="Outfit Medium" pitchFamily="34" charset="-120"/>
              </a:rPr>
              <a:t>Congruente con la solución directa del problema central del proyecto.</a:t>
            </a:r>
            <a:endParaRPr lang="en-US" sz="870" dirty="0"/>
          </a:p>
        </p:txBody>
      </p:sp>
      <p:sp>
        <p:nvSpPr>
          <p:cNvPr id="29" name="Shape 25"/>
          <p:cNvSpPr/>
          <p:nvPr/>
        </p:nvSpPr>
        <p:spPr>
          <a:xfrm>
            <a:off x="9257386" y="3657600"/>
            <a:ext cx="365760" cy="365760"/>
          </a:xfrm>
          <a:prstGeom prst="roundRect">
            <a:avLst>
              <a:gd name="adj" fmla="val 50000"/>
            </a:avLst>
          </a:prstGeom>
          <a:solidFill>
            <a:srgbClr val="002B49"/>
          </a:solidFill>
          <a:ln/>
        </p:spPr>
      </p:sp>
      <p:sp>
        <p:nvSpPr>
          <p:cNvPr id="30" name="Text 26"/>
          <p:cNvSpPr txBox="1"/>
          <p:nvPr/>
        </p:nvSpPr>
        <p:spPr>
          <a:xfrm>
            <a:off x="9257386" y="3657600"/>
            <a:ext cx="365760" cy="365760"/>
          </a:xfrm>
          <a:prstGeom prst="rect">
            <a:avLst/>
          </a:prstGeom>
          <a:noFill/>
          <a:ln/>
        </p:spPr>
        <p:txBody>
          <a:bodyPr wrap="square" lIns="0" tIns="0" rIns="0" bIns="0" rtlCol="0" anchor="ctr"/>
          <a:lstStyle/>
          <a:p>
            <a:pPr algn="ctr" indent="0" marL="0">
              <a:buNone/>
            </a:pPr>
            <a:r>
              <a:rPr lang="en-US" sz="950" dirty="0">
                <a:solidFill>
                  <a:srgbClr val="FFFFFF"/>
                </a:solidFill>
                <a:latin typeface="Outfit SemiBold" pitchFamily="34" charset="0"/>
                <a:ea typeface="Outfit SemiBold" pitchFamily="34" charset="-122"/>
                <a:cs typeface="Outfit SemiBold" pitchFamily="34" charset="-120"/>
              </a:rPr>
              <a:t>T</a:t>
            </a:r>
            <a:endParaRPr lang="en-US" sz="950" dirty="0"/>
          </a:p>
        </p:txBody>
      </p:sp>
      <p:sp>
        <p:nvSpPr>
          <p:cNvPr id="31" name="Text 27"/>
          <p:cNvSpPr txBox="1"/>
          <p:nvPr/>
        </p:nvSpPr>
        <p:spPr>
          <a:xfrm>
            <a:off x="9211666" y="4069080"/>
            <a:ext cx="1971446" cy="256032"/>
          </a:xfrm>
          <a:prstGeom prst="rect">
            <a:avLst/>
          </a:prstGeom>
          <a:noFill/>
          <a:ln/>
        </p:spPr>
        <p:txBody>
          <a:bodyPr wrap="square" lIns="0" tIns="0" rIns="0" bIns="0" rtlCol="0" anchor="ctr"/>
          <a:lstStyle/>
          <a:p>
            <a:pPr indent="0" marL="0">
              <a:buNone/>
            </a:pPr>
            <a:r>
              <a:rPr lang="en-US" sz="1050" dirty="0">
                <a:solidFill>
                  <a:srgbClr val="002B49"/>
                </a:solidFill>
                <a:latin typeface="Outfit SemiBold" pitchFamily="34" charset="0"/>
                <a:ea typeface="Outfit SemiBold" pitchFamily="34" charset="-122"/>
                <a:cs typeface="Outfit SemiBold" pitchFamily="34" charset="-120"/>
              </a:rPr>
              <a:t>Time-bound</a:t>
            </a:r>
            <a:endParaRPr lang="en-US" sz="1050" dirty="0"/>
          </a:p>
        </p:txBody>
      </p:sp>
      <p:sp>
        <p:nvSpPr>
          <p:cNvPr id="32" name="Text 28"/>
          <p:cNvSpPr txBox="1"/>
          <p:nvPr/>
        </p:nvSpPr>
        <p:spPr>
          <a:xfrm>
            <a:off x="9211666" y="4325112"/>
            <a:ext cx="1971446" cy="713232"/>
          </a:xfrm>
          <a:prstGeom prst="rect">
            <a:avLst/>
          </a:prstGeom>
          <a:noFill/>
          <a:ln/>
        </p:spPr>
        <p:txBody>
          <a:bodyPr wrap="square" lIns="0" tIns="0" rIns="0" bIns="0" rtlCol="0" anchor="ctr"/>
          <a:lstStyle/>
          <a:p>
            <a:pPr indent="0" marL="0">
              <a:lnSpc>
                <a:spcPts val="1100"/>
              </a:lnSpc>
              <a:buNone/>
            </a:pPr>
            <a:r>
              <a:rPr lang="en-US" sz="870" dirty="0">
                <a:solidFill>
                  <a:srgbClr val="6B7280"/>
                </a:solidFill>
                <a:latin typeface="Outfit Medium" pitchFamily="34" charset="0"/>
                <a:ea typeface="Outfit Medium" pitchFamily="34" charset="-122"/>
                <a:cs typeface="Outfit Medium" pitchFamily="34" charset="-120"/>
              </a:rPr>
              <a:t>Acotado dentro de un marco temporal o cronograma de ejecución determinado.</a:t>
            </a:r>
            <a:endParaRPr lang="en-US" sz="870" dirty="0"/>
          </a:p>
        </p:txBody>
      </p:sp>
      <p:sp>
        <p:nvSpPr>
          <p:cNvPr id="33" name="Shape 29"/>
          <p:cNvSpPr/>
          <p:nvPr/>
        </p:nvSpPr>
        <p:spPr>
          <a:xfrm>
            <a:off x="548640" y="5257800"/>
            <a:ext cx="11091672" cy="868680"/>
          </a:xfrm>
          <a:prstGeom prst="roundRect">
            <a:avLst>
              <a:gd name="adj" fmla="val 10526"/>
            </a:avLst>
          </a:prstGeom>
          <a:solidFill>
            <a:srgbClr val="FFFFFF"/>
          </a:solidFill>
          <a:ln w="12700">
            <a:solidFill>
              <a:srgbClr val="D1D5DB"/>
            </a:solidFill>
            <a:prstDash val="solid"/>
          </a:ln>
          <a:effectLst>
            <a:outerShdw sx="100000" sy="100000" kx="0" ky="0" algn="bl" rotWithShape="0" blurRad="101600" dist="25400" dir="5400000">
              <a:srgbClr val="1A1A2E">
                <a:alpha val="10000"/>
              </a:srgbClr>
            </a:outerShdw>
          </a:effectLst>
        </p:spPr>
      </p:sp>
      <p:sp>
        <p:nvSpPr>
          <p:cNvPr id="34" name="Shape 30"/>
          <p:cNvSpPr/>
          <p:nvPr/>
        </p:nvSpPr>
        <p:spPr>
          <a:xfrm>
            <a:off x="822960" y="5422392"/>
            <a:ext cx="548640" cy="548640"/>
          </a:xfrm>
          <a:prstGeom prst="ellipse">
            <a:avLst/>
          </a:prstGeom>
          <a:solidFill>
            <a:srgbClr val="003D66"/>
          </a:solidFill>
          <a:ln/>
        </p:spPr>
      </p:sp>
      <p:pic>
        <p:nvPicPr>
          <p:cNvPr id="35" name="Image 2" descr="/home/claude/eq4/icons/network.png">    </p:cNvPr>
          <p:cNvPicPr>
            <a:picLocks noChangeAspect="1"/>
          </p:cNvPicPr>
          <p:nvPr/>
        </p:nvPicPr>
        <p:blipFill>
          <a:blip r:embed="rId3"/>
          <a:stretch>
            <a:fillRect/>
          </a:stretch>
        </p:blipFill>
        <p:spPr>
          <a:xfrm>
            <a:off x="899770" y="5499202"/>
            <a:ext cx="395021" cy="395021"/>
          </a:xfrm>
          <a:prstGeom prst="rect">
            <a:avLst/>
          </a:prstGeom>
        </p:spPr>
      </p:pic>
      <p:sp>
        <p:nvSpPr>
          <p:cNvPr id="36" name="Text 31"/>
          <p:cNvSpPr txBox="1"/>
          <p:nvPr/>
        </p:nvSpPr>
        <p:spPr>
          <a:xfrm>
            <a:off x="1508760" y="5349240"/>
            <a:ext cx="9784080" cy="292608"/>
          </a:xfrm>
          <a:prstGeom prst="rect">
            <a:avLst/>
          </a:prstGeom>
          <a:noFill/>
          <a:ln/>
        </p:spPr>
        <p:txBody>
          <a:bodyPr wrap="square" lIns="0" tIns="0" rIns="0" bIns="0" rtlCol="0" anchor="ctr"/>
          <a:lstStyle/>
          <a:p>
            <a:pPr indent="0" marL="0">
              <a:buNone/>
            </a:pPr>
            <a:r>
              <a:rPr lang="en-US" sz="1350" dirty="0">
                <a:solidFill>
                  <a:srgbClr val="1A1A2E"/>
                </a:solidFill>
                <a:latin typeface="Outfit SemiBold" pitchFamily="34" charset="0"/>
                <a:ea typeface="Outfit SemiBold" pitchFamily="34" charset="-122"/>
                <a:cs typeface="Outfit SemiBold" pitchFamily="34" charset="-120"/>
              </a:rPr>
              <a:t>3 · Coherencia y Jerarquía Metodológica</a:t>
            </a:r>
            <a:endParaRPr lang="en-US" sz="1350" dirty="0"/>
          </a:p>
        </p:txBody>
      </p:sp>
      <p:sp>
        <p:nvSpPr>
          <p:cNvPr id="37" name="Text 32"/>
          <p:cNvSpPr txBox="1"/>
          <p:nvPr/>
        </p:nvSpPr>
        <p:spPr>
          <a:xfrm>
            <a:off x="1508760" y="5660136"/>
            <a:ext cx="9784080" cy="411480"/>
          </a:xfrm>
          <a:prstGeom prst="rect">
            <a:avLst/>
          </a:prstGeom>
          <a:noFill/>
          <a:ln/>
        </p:spPr>
        <p:txBody>
          <a:bodyPr wrap="square" lIns="0" tIns="0" rIns="0" bIns="0" rtlCol="0" anchor="ctr"/>
          <a:lstStyle/>
          <a:p>
            <a:pPr indent="0" marL="0">
              <a:lnSpc>
                <a:spcPts val="1500"/>
              </a:lnSpc>
              <a:buNone/>
            </a:pPr>
            <a:r>
              <a:rPr lang="en-US" sz="1150" dirty="0">
                <a:solidFill>
                  <a:srgbClr val="6B7280"/>
                </a:solidFill>
                <a:latin typeface="Outfit Medium" pitchFamily="34" charset="0"/>
                <a:ea typeface="Outfit Medium" pitchFamily="34" charset="-122"/>
                <a:cs typeface="Outfit Medium" pitchFamily="34" charset="-120"/>
              </a:rPr>
              <a:t>Subordinación: la consecución de todos los objetivos específicos debe ser necesaria y suficiente para satisfacer el objetivo general.</a:t>
            </a:r>
            <a:endParaRPr lang="en-US" sz="1150" dirty="0"/>
          </a:p>
        </p:txBody>
      </p:sp>
      <p:pic>
        <p:nvPicPr>
          <p:cNvPr id="38" name="Image 3" descr="/home/claude/eq4/brand/sigre-logo.png">    </p:cNvPr>
          <p:cNvPicPr>
            <a:picLocks noChangeAspect="1"/>
          </p:cNvPicPr>
          <p:nvPr/>
        </p:nvPicPr>
        <p:blipFill>
          <a:blip r:embed="rId4"/>
          <a:stretch>
            <a:fillRect/>
          </a:stretch>
        </p:blipFill>
        <p:spPr>
          <a:xfrm>
            <a:off x="548640" y="6510528"/>
            <a:ext cx="566928" cy="182880"/>
          </a:xfrm>
          <a:prstGeom prst="rect">
            <a:avLst/>
          </a:prstGeom>
        </p:spPr>
      </p:pic>
      <p:sp>
        <p:nvSpPr>
          <p:cNvPr id="39" name="Text 33"/>
          <p:cNvSpPr txBox="1"/>
          <p:nvPr/>
        </p:nvSpPr>
        <p:spPr>
          <a:xfrm>
            <a:off x="1234440" y="6492240"/>
            <a:ext cx="5486400" cy="256032"/>
          </a:xfrm>
          <a:prstGeom prst="rect">
            <a:avLst/>
          </a:prstGeom>
          <a:noFill/>
          <a:ln/>
        </p:spPr>
        <p:txBody>
          <a:bodyPr wrap="square" lIns="0" tIns="0" rIns="0" bIns="0" rtlCol="0" anchor="ctr"/>
          <a:lstStyle/>
          <a:p>
            <a:pPr indent="0" marL="0">
              <a:buNone/>
            </a:pPr>
            <a:r>
              <a:rPr lang="en-US" sz="850" dirty="0">
                <a:solidFill>
                  <a:srgbClr val="6B7280"/>
                </a:solidFill>
                <a:latin typeface="Outfit Medium" pitchFamily="34" charset="0"/>
                <a:ea typeface="Outfit Medium" pitchFamily="34" charset="-122"/>
                <a:cs typeface="Outfit Medium" pitchFamily="34" charset="-120"/>
              </a:rPr>
              <a:t>Equipo 4  ·  Formulación y Evaluación de Proyectos</a:t>
            </a:r>
            <a:endParaRPr lang="en-US" sz="850" dirty="0"/>
          </a:p>
        </p:txBody>
      </p:sp>
      <p:sp>
        <p:nvSpPr>
          <p:cNvPr id="40" name="Text 34"/>
          <p:cNvSpPr txBox="1"/>
          <p:nvPr/>
        </p:nvSpPr>
        <p:spPr>
          <a:xfrm>
            <a:off x="11183112" y="6492240"/>
            <a:ext cx="548640" cy="256032"/>
          </a:xfrm>
          <a:prstGeom prst="rect">
            <a:avLst/>
          </a:prstGeom>
          <a:noFill/>
          <a:ln/>
        </p:spPr>
        <p:txBody>
          <a:bodyPr wrap="square" lIns="0" tIns="0" rIns="0" bIns="0" rtlCol="0" anchor="ctr"/>
          <a:lstStyle/>
          <a:p>
            <a:pPr algn="r" indent="0" marL="0">
              <a:buNone/>
            </a:pPr>
            <a:r>
              <a:rPr lang="en-US" sz="850" dirty="0">
                <a:solidFill>
                  <a:srgbClr val="6B7280"/>
                </a:solidFill>
                <a:latin typeface="Outfit Medium" pitchFamily="34" charset="0"/>
                <a:ea typeface="Outfit Medium" pitchFamily="34" charset="-122"/>
                <a:cs typeface="Outfit Medium" pitchFamily="34" charset="-120"/>
              </a:rPr>
              <a:t>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EFF5"/>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256032"/>
          </a:xfrm>
          <a:prstGeom prst="rect">
            <a:avLst/>
          </a:prstGeom>
          <a:noFill/>
          <a:ln/>
        </p:spPr>
        <p:txBody>
          <a:bodyPr wrap="square" lIns="0" tIns="0" rIns="0" bIns="0" rtlCol="0" anchor="ctr"/>
          <a:lstStyle/>
          <a:p>
            <a:pPr algn="l" indent="0" marL="0">
              <a:buNone/>
            </a:pPr>
            <a:r>
              <a:rPr lang="en-US" sz="1050" spc="180" kern="0" dirty="0">
                <a:solidFill>
                  <a:srgbClr val="2E7D57"/>
                </a:solidFill>
                <a:latin typeface="Outfit SemiBold" pitchFamily="34" charset="0"/>
                <a:ea typeface="Outfit SemiBold" pitchFamily="34" charset="-122"/>
                <a:cs typeface="Outfit SemiBold" pitchFamily="34" charset="-120"/>
              </a:rPr>
              <a:t>EQUIPO 4 · FORMULACIÓN Y EVALUACIÓN DE PROYECTOS</a:t>
            </a:r>
            <a:endParaRPr lang="en-US" sz="1050" dirty="0"/>
          </a:p>
        </p:txBody>
      </p:sp>
      <p:sp>
        <p:nvSpPr>
          <p:cNvPr id="3" name="Text 1"/>
          <p:cNvSpPr txBox="1"/>
          <p:nvPr/>
        </p:nvSpPr>
        <p:spPr>
          <a:xfrm>
            <a:off x="548640" y="603504"/>
            <a:ext cx="11064240" cy="640080"/>
          </a:xfrm>
          <a:prstGeom prst="rect">
            <a:avLst/>
          </a:prstGeom>
          <a:noFill/>
          <a:ln/>
        </p:spPr>
        <p:txBody>
          <a:bodyPr wrap="square" lIns="0" tIns="0" rIns="0" bIns="0" rtlCol="0" anchor="ctr"/>
          <a:lstStyle/>
          <a:p>
            <a:pPr algn="l" indent="0" marL="0">
              <a:buNone/>
            </a:pPr>
            <a:r>
              <a:rPr lang="en-US" sz="2700" b="1" dirty="0">
                <a:solidFill>
                  <a:srgbClr val="002B49"/>
                </a:solidFill>
                <a:latin typeface="Outfit" pitchFamily="34" charset="0"/>
                <a:ea typeface="Outfit" pitchFamily="34" charset="-122"/>
                <a:cs typeface="Outfit" pitchFamily="34" charset="-120"/>
              </a:rPr>
              <a:t>Pasos para Formular los Objetivos Generales y Específicos</a:t>
            </a:r>
            <a:endParaRPr lang="en-US" sz="2700" dirty="0"/>
          </a:p>
        </p:txBody>
      </p:sp>
      <p:sp>
        <p:nvSpPr>
          <p:cNvPr id="4" name="Shape 2"/>
          <p:cNvSpPr/>
          <p:nvPr/>
        </p:nvSpPr>
        <p:spPr>
          <a:xfrm>
            <a:off x="548640" y="1554480"/>
            <a:ext cx="11091672" cy="4709160"/>
          </a:xfrm>
          <a:prstGeom prst="roundRect">
            <a:avLst>
              <a:gd name="adj" fmla="val 1942"/>
            </a:avLst>
          </a:prstGeom>
          <a:solidFill>
            <a:srgbClr val="FFFFFF"/>
          </a:solidFill>
          <a:ln w="12700">
            <a:solidFill>
              <a:srgbClr val="D1D5DB"/>
            </a:solidFill>
            <a:prstDash val="solid"/>
          </a:ln>
          <a:effectLst>
            <a:outerShdw sx="100000" sy="100000" kx="0" ky="0" algn="bl" rotWithShape="0" blurRad="101600" dist="25400" dir="5400000">
              <a:srgbClr val="1A1A2E">
                <a:alpha val="10000"/>
              </a:srgbClr>
            </a:outerShdw>
          </a:effectLst>
        </p:spPr>
      </p:sp>
      <p:sp>
        <p:nvSpPr>
          <p:cNvPr id="5" name="Text 3"/>
          <p:cNvSpPr txBox="1"/>
          <p:nvPr/>
        </p:nvSpPr>
        <p:spPr>
          <a:xfrm>
            <a:off x="822960" y="1737360"/>
            <a:ext cx="10515600" cy="274320"/>
          </a:xfrm>
          <a:prstGeom prst="rect">
            <a:avLst/>
          </a:prstGeom>
          <a:noFill/>
          <a:ln/>
        </p:spPr>
        <p:txBody>
          <a:bodyPr wrap="square" lIns="0" tIns="0" rIns="0" bIns="0" rtlCol="0" anchor="ctr"/>
          <a:lstStyle/>
          <a:p>
            <a:pPr indent="0" marL="0">
              <a:buNone/>
            </a:pPr>
            <a:r>
              <a:rPr lang="en-US" sz="1100" spc="120" kern="0" dirty="0">
                <a:solidFill>
                  <a:srgbClr val="2E7D57"/>
                </a:solidFill>
                <a:latin typeface="Outfit SemiBold" pitchFamily="34" charset="0"/>
                <a:ea typeface="Outfit SemiBold" pitchFamily="34" charset="-122"/>
                <a:cs typeface="Outfit SemiBold" pitchFamily="34" charset="-120"/>
              </a:rPr>
              <a:t>FASE DE ESTRUCTURACIÓN Y REDACCIÓN PASO A PASO</a:t>
            </a:r>
            <a:endParaRPr lang="en-US" sz="1100" dirty="0"/>
          </a:p>
        </p:txBody>
      </p:sp>
      <p:sp>
        <p:nvSpPr>
          <p:cNvPr id="6" name="Shape 4"/>
          <p:cNvSpPr/>
          <p:nvPr/>
        </p:nvSpPr>
        <p:spPr>
          <a:xfrm>
            <a:off x="1078992" y="2532888"/>
            <a:ext cx="18288" cy="749808"/>
          </a:xfrm>
          <a:prstGeom prst="rect">
            <a:avLst/>
          </a:prstGeom>
          <a:solidFill>
            <a:srgbClr val="D1D5DB"/>
          </a:solidFill>
          <a:ln/>
        </p:spPr>
      </p:sp>
      <p:sp>
        <p:nvSpPr>
          <p:cNvPr id="7" name="Shape 5"/>
          <p:cNvSpPr/>
          <p:nvPr/>
        </p:nvSpPr>
        <p:spPr>
          <a:xfrm>
            <a:off x="822960" y="2148840"/>
            <a:ext cx="512064" cy="512064"/>
          </a:xfrm>
          <a:prstGeom prst="ellipse">
            <a:avLst/>
          </a:prstGeom>
          <a:solidFill>
            <a:srgbClr val="002B49"/>
          </a:solidFill>
          <a:ln/>
        </p:spPr>
      </p:sp>
      <p:sp>
        <p:nvSpPr>
          <p:cNvPr id="8" name="Text 6"/>
          <p:cNvSpPr txBox="1"/>
          <p:nvPr/>
        </p:nvSpPr>
        <p:spPr>
          <a:xfrm>
            <a:off x="822960" y="2148840"/>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Outfit" pitchFamily="34" charset="0"/>
                <a:ea typeface="Outfit" pitchFamily="34" charset="-122"/>
                <a:cs typeface="Outfit" pitchFamily="34" charset="-120"/>
              </a:rPr>
              <a:t>1</a:t>
            </a:r>
            <a:endParaRPr lang="en-US" sz="1800" dirty="0"/>
          </a:p>
        </p:txBody>
      </p:sp>
      <p:sp>
        <p:nvSpPr>
          <p:cNvPr id="9" name="Text 7"/>
          <p:cNvSpPr txBox="1"/>
          <p:nvPr/>
        </p:nvSpPr>
        <p:spPr>
          <a:xfrm>
            <a:off x="1600200" y="2130552"/>
            <a:ext cx="9784080" cy="292608"/>
          </a:xfrm>
          <a:prstGeom prst="rect">
            <a:avLst/>
          </a:prstGeom>
          <a:noFill/>
          <a:ln/>
        </p:spPr>
        <p:txBody>
          <a:bodyPr wrap="square" lIns="0" tIns="0" rIns="0" bIns="0" rtlCol="0" anchor="ctr"/>
          <a:lstStyle/>
          <a:p>
            <a:pPr indent="0" marL="0">
              <a:buNone/>
            </a:pPr>
            <a:r>
              <a:rPr lang="en-US" sz="1300" dirty="0">
                <a:solidFill>
                  <a:srgbClr val="1A1A2E"/>
                </a:solidFill>
                <a:latin typeface="Outfit SemiBold" pitchFamily="34" charset="0"/>
                <a:ea typeface="Outfit SemiBold" pitchFamily="34" charset="-122"/>
                <a:cs typeface="Outfit SemiBold" pitchFamily="34" charset="-120"/>
              </a:rPr>
              <a:t>Delimitar el problema central y la población objetivo</a:t>
            </a:r>
            <a:endParaRPr lang="en-US" sz="1300" dirty="0"/>
          </a:p>
        </p:txBody>
      </p:sp>
      <p:sp>
        <p:nvSpPr>
          <p:cNvPr id="10" name="Text 8"/>
          <p:cNvSpPr txBox="1"/>
          <p:nvPr/>
        </p:nvSpPr>
        <p:spPr>
          <a:xfrm>
            <a:off x="1600200" y="2423160"/>
            <a:ext cx="9784080" cy="502920"/>
          </a:xfrm>
          <a:prstGeom prst="rect">
            <a:avLst/>
          </a:prstGeom>
          <a:noFill/>
          <a:ln/>
        </p:spPr>
        <p:txBody>
          <a:bodyPr wrap="square" lIns="0" tIns="0" rIns="0" bIns="0" rtlCol="0" anchor="ctr"/>
          <a:lstStyle/>
          <a:p>
            <a:pPr indent="0" marL="0">
              <a:lnSpc>
                <a:spcPts val="1400"/>
              </a:lnSpc>
              <a:buNone/>
            </a:pPr>
            <a:r>
              <a:rPr lang="en-US" sz="1070" dirty="0">
                <a:solidFill>
                  <a:srgbClr val="6B7280"/>
                </a:solidFill>
                <a:latin typeface="Outfit Medium" pitchFamily="34" charset="0"/>
                <a:ea typeface="Outfit Medium" pitchFamily="34" charset="-122"/>
                <a:cs typeface="Outfit Medium" pitchFamily="34" charset="-120"/>
              </a:rPr>
              <a:t>Realizar el diagnóstico de la necesidad no satisfecha o brecha a resolver mediante árbol de problemas.</a:t>
            </a:r>
            <a:endParaRPr lang="en-US" sz="1070" dirty="0"/>
          </a:p>
        </p:txBody>
      </p:sp>
      <p:sp>
        <p:nvSpPr>
          <p:cNvPr id="11" name="Shape 9"/>
          <p:cNvSpPr/>
          <p:nvPr/>
        </p:nvSpPr>
        <p:spPr>
          <a:xfrm>
            <a:off x="1078992" y="3374136"/>
            <a:ext cx="18288" cy="749808"/>
          </a:xfrm>
          <a:prstGeom prst="rect">
            <a:avLst/>
          </a:prstGeom>
          <a:solidFill>
            <a:srgbClr val="D1D5DB"/>
          </a:solidFill>
          <a:ln/>
        </p:spPr>
      </p:sp>
      <p:sp>
        <p:nvSpPr>
          <p:cNvPr id="12" name="Shape 10"/>
          <p:cNvSpPr/>
          <p:nvPr/>
        </p:nvSpPr>
        <p:spPr>
          <a:xfrm>
            <a:off x="822960" y="2990088"/>
            <a:ext cx="512064" cy="512064"/>
          </a:xfrm>
          <a:prstGeom prst="ellipse">
            <a:avLst/>
          </a:prstGeom>
          <a:solidFill>
            <a:srgbClr val="002B49"/>
          </a:solidFill>
          <a:ln/>
        </p:spPr>
      </p:sp>
      <p:sp>
        <p:nvSpPr>
          <p:cNvPr id="13" name="Text 11"/>
          <p:cNvSpPr txBox="1"/>
          <p:nvPr/>
        </p:nvSpPr>
        <p:spPr>
          <a:xfrm>
            <a:off x="822960" y="2990088"/>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Outfit" pitchFamily="34" charset="0"/>
                <a:ea typeface="Outfit" pitchFamily="34" charset="-122"/>
                <a:cs typeface="Outfit" pitchFamily="34" charset="-120"/>
              </a:rPr>
              <a:t>2</a:t>
            </a:r>
            <a:endParaRPr lang="en-US" sz="1800" dirty="0"/>
          </a:p>
        </p:txBody>
      </p:sp>
      <p:sp>
        <p:nvSpPr>
          <p:cNvPr id="14" name="Text 12"/>
          <p:cNvSpPr txBox="1"/>
          <p:nvPr/>
        </p:nvSpPr>
        <p:spPr>
          <a:xfrm>
            <a:off x="1600200" y="2971800"/>
            <a:ext cx="9784080" cy="292608"/>
          </a:xfrm>
          <a:prstGeom prst="rect">
            <a:avLst/>
          </a:prstGeom>
          <a:noFill/>
          <a:ln/>
        </p:spPr>
        <p:txBody>
          <a:bodyPr wrap="square" lIns="0" tIns="0" rIns="0" bIns="0" rtlCol="0" anchor="ctr"/>
          <a:lstStyle/>
          <a:p>
            <a:pPr indent="0" marL="0">
              <a:buNone/>
            </a:pPr>
            <a:r>
              <a:rPr lang="en-US" sz="1300" dirty="0">
                <a:solidFill>
                  <a:srgbClr val="1A1A2E"/>
                </a:solidFill>
                <a:latin typeface="Outfit SemiBold" pitchFamily="34" charset="0"/>
                <a:ea typeface="Outfit SemiBold" pitchFamily="34" charset="-122"/>
                <a:cs typeface="Outfit SemiBold" pitchFamily="34" charset="-120"/>
              </a:rPr>
              <a:t>Transformar el problema en positivo (Objetivo General)</a:t>
            </a:r>
            <a:endParaRPr lang="en-US" sz="1300" dirty="0"/>
          </a:p>
        </p:txBody>
      </p:sp>
      <p:sp>
        <p:nvSpPr>
          <p:cNvPr id="15" name="Text 13"/>
          <p:cNvSpPr txBox="1"/>
          <p:nvPr/>
        </p:nvSpPr>
        <p:spPr>
          <a:xfrm>
            <a:off x="1600200" y="3264408"/>
            <a:ext cx="9784080" cy="502920"/>
          </a:xfrm>
          <a:prstGeom prst="rect">
            <a:avLst/>
          </a:prstGeom>
          <a:noFill/>
          <a:ln/>
        </p:spPr>
        <p:txBody>
          <a:bodyPr wrap="square" lIns="0" tIns="0" rIns="0" bIns="0" rtlCol="0" anchor="ctr"/>
          <a:lstStyle/>
          <a:p>
            <a:pPr indent="0" marL="0">
              <a:lnSpc>
                <a:spcPts val="1400"/>
              </a:lnSpc>
              <a:buNone/>
            </a:pPr>
            <a:r>
              <a:rPr lang="en-US" sz="1070" dirty="0">
                <a:solidFill>
                  <a:srgbClr val="6B7280"/>
                </a:solidFill>
                <a:latin typeface="Outfit Medium" pitchFamily="34" charset="0"/>
                <a:ea typeface="Outfit Medium" pitchFamily="34" charset="-122"/>
                <a:cs typeface="Outfit Medium" pitchFamily="34" charset="-120"/>
              </a:rPr>
              <a:t>Convertir la problemática central en una meta afirmativa aplicando la fórmula [Verbo infinitivo] + [Objeto/Solución] + [Finalidad/Para qué] + [Contexto/Delimitación].</a:t>
            </a:r>
            <a:endParaRPr lang="en-US" sz="1070" dirty="0"/>
          </a:p>
        </p:txBody>
      </p:sp>
      <p:sp>
        <p:nvSpPr>
          <p:cNvPr id="16" name="Shape 14"/>
          <p:cNvSpPr/>
          <p:nvPr/>
        </p:nvSpPr>
        <p:spPr>
          <a:xfrm>
            <a:off x="1078992" y="4215384"/>
            <a:ext cx="18288" cy="749808"/>
          </a:xfrm>
          <a:prstGeom prst="rect">
            <a:avLst/>
          </a:prstGeom>
          <a:solidFill>
            <a:srgbClr val="D1D5DB"/>
          </a:solidFill>
          <a:ln/>
        </p:spPr>
      </p:sp>
      <p:sp>
        <p:nvSpPr>
          <p:cNvPr id="17" name="Shape 15"/>
          <p:cNvSpPr/>
          <p:nvPr/>
        </p:nvSpPr>
        <p:spPr>
          <a:xfrm>
            <a:off x="822960" y="3831336"/>
            <a:ext cx="512064" cy="512064"/>
          </a:xfrm>
          <a:prstGeom prst="ellipse">
            <a:avLst/>
          </a:prstGeom>
          <a:solidFill>
            <a:srgbClr val="002B49"/>
          </a:solidFill>
          <a:ln/>
        </p:spPr>
      </p:sp>
      <p:sp>
        <p:nvSpPr>
          <p:cNvPr id="18" name="Text 16"/>
          <p:cNvSpPr txBox="1"/>
          <p:nvPr/>
        </p:nvSpPr>
        <p:spPr>
          <a:xfrm>
            <a:off x="822960" y="3831336"/>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Outfit" pitchFamily="34" charset="0"/>
                <a:ea typeface="Outfit" pitchFamily="34" charset="-122"/>
                <a:cs typeface="Outfit" pitchFamily="34" charset="-120"/>
              </a:rPr>
              <a:t>3</a:t>
            </a:r>
            <a:endParaRPr lang="en-US" sz="1800" dirty="0"/>
          </a:p>
        </p:txBody>
      </p:sp>
      <p:sp>
        <p:nvSpPr>
          <p:cNvPr id="19" name="Text 17"/>
          <p:cNvSpPr txBox="1"/>
          <p:nvPr/>
        </p:nvSpPr>
        <p:spPr>
          <a:xfrm>
            <a:off x="1600200" y="3813048"/>
            <a:ext cx="9784080" cy="292608"/>
          </a:xfrm>
          <a:prstGeom prst="rect">
            <a:avLst/>
          </a:prstGeom>
          <a:noFill/>
          <a:ln/>
        </p:spPr>
        <p:txBody>
          <a:bodyPr wrap="square" lIns="0" tIns="0" rIns="0" bIns="0" rtlCol="0" anchor="ctr"/>
          <a:lstStyle/>
          <a:p>
            <a:pPr indent="0" marL="0">
              <a:buNone/>
            </a:pPr>
            <a:r>
              <a:rPr lang="en-US" sz="1300" dirty="0">
                <a:solidFill>
                  <a:srgbClr val="1A1A2E"/>
                </a:solidFill>
                <a:latin typeface="Outfit SemiBold" pitchFamily="34" charset="0"/>
                <a:ea typeface="Outfit SemiBold" pitchFamily="34" charset="-122"/>
                <a:cs typeface="Outfit SemiBold" pitchFamily="34" charset="-120"/>
              </a:rPr>
              <a:t>Identificar las etapas indispensables del proyecto</a:t>
            </a:r>
            <a:endParaRPr lang="en-US" sz="1300" dirty="0"/>
          </a:p>
        </p:txBody>
      </p:sp>
      <p:sp>
        <p:nvSpPr>
          <p:cNvPr id="20" name="Text 18"/>
          <p:cNvSpPr txBox="1"/>
          <p:nvPr/>
        </p:nvSpPr>
        <p:spPr>
          <a:xfrm>
            <a:off x="1600200" y="4105656"/>
            <a:ext cx="9784080" cy="502920"/>
          </a:xfrm>
          <a:prstGeom prst="rect">
            <a:avLst/>
          </a:prstGeom>
          <a:noFill/>
          <a:ln/>
        </p:spPr>
        <p:txBody>
          <a:bodyPr wrap="square" lIns="0" tIns="0" rIns="0" bIns="0" rtlCol="0" anchor="ctr"/>
          <a:lstStyle/>
          <a:p>
            <a:pPr indent="0" marL="0">
              <a:lnSpc>
                <a:spcPts val="1400"/>
              </a:lnSpc>
              <a:buNone/>
            </a:pPr>
            <a:r>
              <a:rPr lang="en-US" sz="1070" dirty="0">
                <a:solidFill>
                  <a:srgbClr val="6B7280"/>
                </a:solidFill>
                <a:latin typeface="Outfit Medium" pitchFamily="34" charset="0"/>
                <a:ea typeface="Outfit Medium" pitchFamily="34" charset="-122"/>
                <a:cs typeface="Outfit Medium" pitchFamily="34" charset="-120"/>
              </a:rPr>
              <a:t>Desglosar el ciclo en diagnóstico de requerimientos, diseño/construcción técnica y validación/evaluación.</a:t>
            </a:r>
            <a:endParaRPr lang="en-US" sz="1070" dirty="0"/>
          </a:p>
        </p:txBody>
      </p:sp>
      <p:sp>
        <p:nvSpPr>
          <p:cNvPr id="21" name="Shape 19"/>
          <p:cNvSpPr/>
          <p:nvPr/>
        </p:nvSpPr>
        <p:spPr>
          <a:xfrm>
            <a:off x="1078992" y="5056632"/>
            <a:ext cx="18288" cy="749808"/>
          </a:xfrm>
          <a:prstGeom prst="rect">
            <a:avLst/>
          </a:prstGeom>
          <a:solidFill>
            <a:srgbClr val="D1D5DB"/>
          </a:solidFill>
          <a:ln/>
        </p:spPr>
      </p:sp>
      <p:sp>
        <p:nvSpPr>
          <p:cNvPr id="22" name="Shape 20"/>
          <p:cNvSpPr/>
          <p:nvPr/>
        </p:nvSpPr>
        <p:spPr>
          <a:xfrm>
            <a:off x="822960" y="4672584"/>
            <a:ext cx="512064" cy="512064"/>
          </a:xfrm>
          <a:prstGeom prst="ellipse">
            <a:avLst/>
          </a:prstGeom>
          <a:solidFill>
            <a:srgbClr val="002B49"/>
          </a:solidFill>
          <a:ln/>
        </p:spPr>
      </p:sp>
      <p:sp>
        <p:nvSpPr>
          <p:cNvPr id="23" name="Text 21"/>
          <p:cNvSpPr txBox="1"/>
          <p:nvPr/>
        </p:nvSpPr>
        <p:spPr>
          <a:xfrm>
            <a:off x="822960" y="4672584"/>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Outfit" pitchFamily="34" charset="0"/>
                <a:ea typeface="Outfit" pitchFamily="34" charset="-122"/>
                <a:cs typeface="Outfit" pitchFamily="34" charset="-120"/>
              </a:rPr>
              <a:t>4</a:t>
            </a:r>
            <a:endParaRPr lang="en-US" sz="1800" dirty="0"/>
          </a:p>
        </p:txBody>
      </p:sp>
      <p:sp>
        <p:nvSpPr>
          <p:cNvPr id="24" name="Text 22"/>
          <p:cNvSpPr txBox="1"/>
          <p:nvPr/>
        </p:nvSpPr>
        <p:spPr>
          <a:xfrm>
            <a:off x="1600200" y="4654296"/>
            <a:ext cx="9784080" cy="292608"/>
          </a:xfrm>
          <a:prstGeom prst="rect">
            <a:avLst/>
          </a:prstGeom>
          <a:noFill/>
          <a:ln/>
        </p:spPr>
        <p:txBody>
          <a:bodyPr wrap="square" lIns="0" tIns="0" rIns="0" bIns="0" rtlCol="0" anchor="ctr"/>
          <a:lstStyle/>
          <a:p>
            <a:pPr indent="0" marL="0">
              <a:buNone/>
            </a:pPr>
            <a:r>
              <a:rPr lang="en-US" sz="1300" dirty="0">
                <a:solidFill>
                  <a:srgbClr val="1A1A2E"/>
                </a:solidFill>
                <a:latin typeface="Outfit SemiBold" pitchFamily="34" charset="0"/>
                <a:ea typeface="Outfit SemiBold" pitchFamily="34" charset="-122"/>
                <a:cs typeface="Outfit SemiBold" pitchFamily="34" charset="-120"/>
              </a:rPr>
              <a:t>Redactar los Objetivos Específicos por etapa</a:t>
            </a:r>
            <a:endParaRPr lang="en-US" sz="1300" dirty="0"/>
          </a:p>
        </p:txBody>
      </p:sp>
      <p:sp>
        <p:nvSpPr>
          <p:cNvPr id="25" name="Text 23"/>
          <p:cNvSpPr txBox="1"/>
          <p:nvPr/>
        </p:nvSpPr>
        <p:spPr>
          <a:xfrm>
            <a:off x="1600200" y="4946904"/>
            <a:ext cx="9784080" cy="502920"/>
          </a:xfrm>
          <a:prstGeom prst="rect">
            <a:avLst/>
          </a:prstGeom>
          <a:noFill/>
          <a:ln/>
        </p:spPr>
        <p:txBody>
          <a:bodyPr wrap="square" lIns="0" tIns="0" rIns="0" bIns="0" rtlCol="0" anchor="ctr"/>
          <a:lstStyle/>
          <a:p>
            <a:pPr indent="0" marL="0">
              <a:lnSpc>
                <a:spcPts val="1400"/>
              </a:lnSpc>
              <a:buNone/>
            </a:pPr>
            <a:r>
              <a:rPr lang="en-US" sz="1070" dirty="0">
                <a:solidFill>
                  <a:srgbClr val="6B7280"/>
                </a:solidFill>
                <a:latin typeface="Outfit Medium" pitchFamily="34" charset="0"/>
                <a:ea typeface="Outfit Medium" pitchFamily="34" charset="-122"/>
                <a:cs typeface="Outfit Medium" pitchFamily="34" charset="-120"/>
              </a:rPr>
              <a:t>Formular enunciados operativos con verbos jerárquicamente subordinados al objetivo general.</a:t>
            </a:r>
            <a:endParaRPr lang="en-US" sz="1070" dirty="0"/>
          </a:p>
        </p:txBody>
      </p:sp>
      <p:sp>
        <p:nvSpPr>
          <p:cNvPr id="26" name="Shape 24"/>
          <p:cNvSpPr/>
          <p:nvPr/>
        </p:nvSpPr>
        <p:spPr>
          <a:xfrm>
            <a:off x="822960" y="5513832"/>
            <a:ext cx="512064" cy="512064"/>
          </a:xfrm>
          <a:prstGeom prst="ellipse">
            <a:avLst/>
          </a:prstGeom>
          <a:solidFill>
            <a:srgbClr val="2E7D57"/>
          </a:solidFill>
          <a:ln/>
        </p:spPr>
      </p:sp>
      <p:sp>
        <p:nvSpPr>
          <p:cNvPr id="27" name="Text 25"/>
          <p:cNvSpPr txBox="1"/>
          <p:nvPr/>
        </p:nvSpPr>
        <p:spPr>
          <a:xfrm>
            <a:off x="822960" y="5513832"/>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Outfit" pitchFamily="34" charset="0"/>
                <a:ea typeface="Outfit" pitchFamily="34" charset="-122"/>
                <a:cs typeface="Outfit" pitchFamily="34" charset="-120"/>
              </a:rPr>
              <a:t>5</a:t>
            </a:r>
            <a:endParaRPr lang="en-US" sz="1800" dirty="0"/>
          </a:p>
        </p:txBody>
      </p:sp>
      <p:sp>
        <p:nvSpPr>
          <p:cNvPr id="28" name="Text 26"/>
          <p:cNvSpPr txBox="1"/>
          <p:nvPr/>
        </p:nvSpPr>
        <p:spPr>
          <a:xfrm>
            <a:off x="1600200" y="5495544"/>
            <a:ext cx="9784080" cy="292608"/>
          </a:xfrm>
          <a:prstGeom prst="rect">
            <a:avLst/>
          </a:prstGeom>
          <a:noFill/>
          <a:ln/>
        </p:spPr>
        <p:txBody>
          <a:bodyPr wrap="square" lIns="0" tIns="0" rIns="0" bIns="0" rtlCol="0" anchor="ctr"/>
          <a:lstStyle/>
          <a:p>
            <a:pPr indent="0" marL="0">
              <a:buNone/>
            </a:pPr>
            <a:r>
              <a:rPr lang="en-US" sz="1300" dirty="0">
                <a:solidFill>
                  <a:srgbClr val="1A1A2E"/>
                </a:solidFill>
                <a:latin typeface="Outfit SemiBold" pitchFamily="34" charset="0"/>
                <a:ea typeface="Outfit SemiBold" pitchFamily="34" charset="-122"/>
                <a:cs typeface="Outfit SemiBold" pitchFamily="34" charset="-120"/>
              </a:rPr>
              <a:t>Validación metodológica de no duplicidad y mensurabilidad</a:t>
            </a:r>
            <a:endParaRPr lang="en-US" sz="1300" dirty="0"/>
          </a:p>
        </p:txBody>
      </p:sp>
      <p:sp>
        <p:nvSpPr>
          <p:cNvPr id="29" name="Text 27"/>
          <p:cNvSpPr txBox="1"/>
          <p:nvPr/>
        </p:nvSpPr>
        <p:spPr>
          <a:xfrm>
            <a:off x="1600200" y="5788152"/>
            <a:ext cx="9784080" cy="502920"/>
          </a:xfrm>
          <a:prstGeom prst="rect">
            <a:avLst/>
          </a:prstGeom>
          <a:noFill/>
          <a:ln/>
        </p:spPr>
        <p:txBody>
          <a:bodyPr wrap="square" lIns="0" tIns="0" rIns="0" bIns="0" rtlCol="0" anchor="ctr"/>
          <a:lstStyle/>
          <a:p>
            <a:pPr indent="0" marL="0">
              <a:lnSpc>
                <a:spcPts val="1400"/>
              </a:lnSpc>
              <a:buNone/>
            </a:pPr>
            <a:r>
              <a:rPr lang="en-US" sz="1070" dirty="0">
                <a:solidFill>
                  <a:srgbClr val="6B7280"/>
                </a:solidFill>
                <a:latin typeface="Outfit Medium" pitchFamily="34" charset="0"/>
                <a:ea typeface="Outfit Medium" pitchFamily="34" charset="-122"/>
                <a:cs typeface="Outfit Medium" pitchFamily="34" charset="-120"/>
              </a:rPr>
              <a:t>Asegurar que no se confundan actividades operativas simples (ej. ‘hacer encuestas’) con verdaderos objetivos de proyecto (ej. ‘determinar la demanda potencial’).</a:t>
            </a:r>
            <a:endParaRPr lang="en-US" sz="1070" dirty="0"/>
          </a:p>
        </p:txBody>
      </p:sp>
      <p:pic>
        <p:nvPicPr>
          <p:cNvPr id="30" name="Image 0" descr="/home/claude/eq4/brand/sigre-logo.png">    </p:cNvPr>
          <p:cNvPicPr>
            <a:picLocks noChangeAspect="1"/>
          </p:cNvPicPr>
          <p:nvPr/>
        </p:nvPicPr>
        <p:blipFill>
          <a:blip r:embed="rId1"/>
          <a:stretch>
            <a:fillRect/>
          </a:stretch>
        </p:blipFill>
        <p:spPr>
          <a:xfrm>
            <a:off x="548640" y="6510528"/>
            <a:ext cx="566928" cy="182880"/>
          </a:xfrm>
          <a:prstGeom prst="rect">
            <a:avLst/>
          </a:prstGeom>
        </p:spPr>
      </p:pic>
      <p:sp>
        <p:nvSpPr>
          <p:cNvPr id="31" name="Text 28"/>
          <p:cNvSpPr txBox="1"/>
          <p:nvPr/>
        </p:nvSpPr>
        <p:spPr>
          <a:xfrm>
            <a:off x="1234440" y="6492240"/>
            <a:ext cx="5486400" cy="256032"/>
          </a:xfrm>
          <a:prstGeom prst="rect">
            <a:avLst/>
          </a:prstGeom>
          <a:noFill/>
          <a:ln/>
        </p:spPr>
        <p:txBody>
          <a:bodyPr wrap="square" lIns="0" tIns="0" rIns="0" bIns="0" rtlCol="0" anchor="ctr"/>
          <a:lstStyle/>
          <a:p>
            <a:pPr indent="0" marL="0">
              <a:buNone/>
            </a:pPr>
            <a:r>
              <a:rPr lang="en-US" sz="850" dirty="0">
                <a:solidFill>
                  <a:srgbClr val="6B7280"/>
                </a:solidFill>
                <a:latin typeface="Outfit Medium" pitchFamily="34" charset="0"/>
                <a:ea typeface="Outfit Medium" pitchFamily="34" charset="-122"/>
                <a:cs typeface="Outfit Medium" pitchFamily="34" charset="-120"/>
              </a:rPr>
              <a:t>Equipo 4  ·  Formulación y Evaluación de Proyectos</a:t>
            </a:r>
            <a:endParaRPr lang="en-US" sz="850" dirty="0"/>
          </a:p>
        </p:txBody>
      </p:sp>
      <p:sp>
        <p:nvSpPr>
          <p:cNvPr id="32" name="Text 29"/>
          <p:cNvSpPr txBox="1"/>
          <p:nvPr/>
        </p:nvSpPr>
        <p:spPr>
          <a:xfrm>
            <a:off x="11183112" y="6492240"/>
            <a:ext cx="548640" cy="256032"/>
          </a:xfrm>
          <a:prstGeom prst="rect">
            <a:avLst/>
          </a:prstGeom>
          <a:noFill/>
          <a:ln/>
        </p:spPr>
        <p:txBody>
          <a:bodyPr wrap="square" lIns="0" tIns="0" rIns="0" bIns="0" rtlCol="0" anchor="ctr"/>
          <a:lstStyle/>
          <a:p>
            <a:pPr algn="r" indent="0" marL="0">
              <a:buNone/>
            </a:pPr>
            <a:r>
              <a:rPr lang="en-US" sz="850" dirty="0">
                <a:solidFill>
                  <a:srgbClr val="6B7280"/>
                </a:solidFill>
                <a:latin typeface="Outfit Medium" pitchFamily="34" charset="0"/>
                <a:ea typeface="Outfit Medium" pitchFamily="34" charset="-122"/>
                <a:cs typeface="Outfit Medium" pitchFamily="34" charset="-120"/>
              </a:rPr>
              <a:t>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8EFF5"/>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256032"/>
          </a:xfrm>
          <a:prstGeom prst="rect">
            <a:avLst/>
          </a:prstGeom>
          <a:noFill/>
          <a:ln/>
        </p:spPr>
        <p:txBody>
          <a:bodyPr wrap="square" lIns="0" tIns="0" rIns="0" bIns="0" rtlCol="0" anchor="ctr"/>
          <a:lstStyle/>
          <a:p>
            <a:pPr algn="l" indent="0" marL="0">
              <a:buNone/>
            </a:pPr>
            <a:r>
              <a:rPr lang="en-US" sz="1050" spc="180" kern="0" dirty="0">
                <a:solidFill>
                  <a:srgbClr val="2E7D57"/>
                </a:solidFill>
                <a:latin typeface="Outfit SemiBold" pitchFamily="34" charset="0"/>
                <a:ea typeface="Outfit SemiBold" pitchFamily="34" charset="-122"/>
                <a:cs typeface="Outfit SemiBold" pitchFamily="34" charset="-120"/>
              </a:rPr>
              <a:t>EQUIPO 4 · FORMULACIÓN Y EVALUACIÓN DE PROYECTOS</a:t>
            </a:r>
            <a:endParaRPr lang="en-US" sz="1050" dirty="0"/>
          </a:p>
        </p:txBody>
      </p:sp>
      <p:sp>
        <p:nvSpPr>
          <p:cNvPr id="3" name="Text 1"/>
          <p:cNvSpPr txBox="1"/>
          <p:nvPr/>
        </p:nvSpPr>
        <p:spPr>
          <a:xfrm>
            <a:off x="548640" y="603504"/>
            <a:ext cx="11064240" cy="640080"/>
          </a:xfrm>
          <a:prstGeom prst="rect">
            <a:avLst/>
          </a:prstGeom>
          <a:noFill/>
          <a:ln/>
        </p:spPr>
        <p:txBody>
          <a:bodyPr wrap="square" lIns="0" tIns="0" rIns="0" bIns="0" rtlCol="0" anchor="ctr"/>
          <a:lstStyle/>
          <a:p>
            <a:pPr algn="l" indent="0" marL="0">
              <a:buNone/>
            </a:pPr>
            <a:r>
              <a:rPr lang="en-US" sz="2500" b="1" dirty="0">
                <a:solidFill>
                  <a:srgbClr val="002B49"/>
                </a:solidFill>
                <a:latin typeface="Outfit" pitchFamily="34" charset="0"/>
                <a:ea typeface="Outfit" pitchFamily="34" charset="-122"/>
                <a:cs typeface="Outfit" pitchFamily="34" charset="-120"/>
              </a:rPr>
              <a:t>Ejemplo de Formulación: Caso Práctico Proyecto SIGRE</a:t>
            </a:r>
            <a:endParaRPr lang="en-US" sz="2500" dirty="0"/>
          </a:p>
        </p:txBody>
      </p:sp>
      <p:pic>
        <p:nvPicPr>
          <p:cNvPr id="4" name="Image 0" descr="/home/claude/eq4/brand/sigre-logo.png">    </p:cNvPr>
          <p:cNvPicPr>
            <a:picLocks noChangeAspect="1"/>
          </p:cNvPicPr>
          <p:nvPr/>
        </p:nvPicPr>
        <p:blipFill>
          <a:blip r:embed="rId1"/>
          <a:stretch>
            <a:fillRect/>
          </a:stretch>
        </p:blipFill>
        <p:spPr>
          <a:xfrm>
            <a:off x="9235440" y="502920"/>
            <a:ext cx="1828800" cy="589788"/>
          </a:xfrm>
          <a:prstGeom prst="rect">
            <a:avLst/>
          </a:prstGeom>
        </p:spPr>
      </p:pic>
      <p:sp>
        <p:nvSpPr>
          <p:cNvPr id="5" name="Shape 2"/>
          <p:cNvSpPr/>
          <p:nvPr/>
        </p:nvSpPr>
        <p:spPr>
          <a:xfrm>
            <a:off x="548640" y="1508760"/>
            <a:ext cx="11091672" cy="1051560"/>
          </a:xfrm>
          <a:prstGeom prst="roundRect">
            <a:avLst>
              <a:gd name="adj" fmla="val 8696"/>
            </a:avLst>
          </a:prstGeom>
          <a:solidFill>
            <a:srgbClr val="FFFFFF"/>
          </a:solidFill>
          <a:ln w="12700">
            <a:solidFill>
              <a:srgbClr val="D1D5DB"/>
            </a:solidFill>
            <a:prstDash val="solid"/>
          </a:ln>
          <a:effectLst>
            <a:outerShdw sx="100000" sy="100000" kx="0" ky="0" algn="bl" rotWithShape="0" blurRad="101600" dist="25400" dir="5400000">
              <a:srgbClr val="1A1A2E">
                <a:alpha val="10000"/>
              </a:srgbClr>
            </a:outerShdw>
          </a:effectLst>
        </p:spPr>
      </p:sp>
      <p:sp>
        <p:nvSpPr>
          <p:cNvPr id="6" name="Shape 3"/>
          <p:cNvSpPr/>
          <p:nvPr/>
        </p:nvSpPr>
        <p:spPr>
          <a:xfrm>
            <a:off x="822960" y="1764792"/>
            <a:ext cx="502920" cy="502920"/>
          </a:xfrm>
          <a:prstGeom prst="ellipse">
            <a:avLst/>
          </a:prstGeom>
          <a:solidFill>
            <a:srgbClr val="002B49"/>
          </a:solidFill>
          <a:ln/>
        </p:spPr>
      </p:sp>
      <p:pic>
        <p:nvPicPr>
          <p:cNvPr id="7" name="Image 1" descr="/home/claude/eq4/icons/filetext.png">    </p:cNvPr>
          <p:cNvPicPr>
            <a:picLocks noChangeAspect="1"/>
          </p:cNvPicPr>
          <p:nvPr/>
        </p:nvPicPr>
        <p:blipFill>
          <a:blip r:embed="rId2"/>
          <a:stretch>
            <a:fillRect/>
          </a:stretch>
        </p:blipFill>
        <p:spPr>
          <a:xfrm>
            <a:off x="893369" y="1835201"/>
            <a:ext cx="362102" cy="362102"/>
          </a:xfrm>
          <a:prstGeom prst="rect">
            <a:avLst/>
          </a:prstGeom>
        </p:spPr>
      </p:pic>
      <p:sp>
        <p:nvSpPr>
          <p:cNvPr id="8" name="Text 4"/>
          <p:cNvSpPr txBox="1"/>
          <p:nvPr/>
        </p:nvSpPr>
        <p:spPr>
          <a:xfrm>
            <a:off x="1463040" y="1655064"/>
            <a:ext cx="9784080" cy="292608"/>
          </a:xfrm>
          <a:prstGeom prst="rect">
            <a:avLst/>
          </a:prstGeom>
          <a:noFill/>
          <a:ln/>
        </p:spPr>
        <p:txBody>
          <a:bodyPr wrap="square" lIns="0" tIns="0" rIns="0" bIns="0" rtlCol="0" anchor="ctr"/>
          <a:lstStyle/>
          <a:p>
            <a:pPr indent="0" marL="0">
              <a:buNone/>
            </a:pPr>
            <a:r>
              <a:rPr lang="en-US" sz="1350" dirty="0">
                <a:solidFill>
                  <a:srgbClr val="1A1A2E"/>
                </a:solidFill>
                <a:latin typeface="Outfit SemiBold" pitchFamily="34" charset="0"/>
                <a:ea typeface="Outfit SemiBold" pitchFamily="34" charset="-122"/>
                <a:cs typeface="Outfit SemiBold" pitchFamily="34" charset="-120"/>
              </a:rPr>
              <a:t>Contexto y Problemática</a:t>
            </a:r>
            <a:endParaRPr lang="en-US" sz="1350" dirty="0"/>
          </a:p>
        </p:txBody>
      </p:sp>
      <p:sp>
        <p:nvSpPr>
          <p:cNvPr id="9" name="Text 5"/>
          <p:cNvSpPr txBox="1"/>
          <p:nvPr/>
        </p:nvSpPr>
        <p:spPr>
          <a:xfrm>
            <a:off x="1463040" y="1965960"/>
            <a:ext cx="9784080" cy="502920"/>
          </a:xfrm>
          <a:prstGeom prst="rect">
            <a:avLst/>
          </a:prstGeom>
          <a:noFill/>
          <a:ln/>
        </p:spPr>
        <p:txBody>
          <a:bodyPr wrap="square" lIns="0" tIns="0" rIns="0" bIns="0" rtlCol="0" anchor="ctr"/>
          <a:lstStyle/>
          <a:p>
            <a:pPr indent="0" marL="0">
              <a:lnSpc>
                <a:spcPts val="1500"/>
              </a:lnSpc>
              <a:buNone/>
            </a:pPr>
            <a:r>
              <a:rPr lang="en-US" sz="1130" dirty="0">
                <a:solidFill>
                  <a:srgbClr val="6B7280"/>
                </a:solidFill>
                <a:latin typeface="Outfit Medium" pitchFamily="34" charset="0"/>
                <a:ea typeface="Outfit Medium" pitchFamily="34" charset="-122"/>
                <a:cs typeface="Outfit Medium" pitchFamily="34" charset="-120"/>
              </a:rPr>
              <a:t>Falta de trazabilidad, pérdida de tiempo y descontrol administrativo en la asignación de espacios físicos y préstamo de equipo/material en el campus universitario.</a:t>
            </a:r>
            <a:endParaRPr lang="en-US" sz="1130" dirty="0"/>
          </a:p>
        </p:txBody>
      </p:sp>
      <p:sp>
        <p:nvSpPr>
          <p:cNvPr id="10" name="Shape 6"/>
          <p:cNvSpPr/>
          <p:nvPr/>
        </p:nvSpPr>
        <p:spPr>
          <a:xfrm>
            <a:off x="548640" y="2743200"/>
            <a:ext cx="11091672" cy="1143000"/>
          </a:xfrm>
          <a:prstGeom prst="roundRect">
            <a:avLst>
              <a:gd name="adj" fmla="val 8000"/>
            </a:avLst>
          </a:prstGeom>
          <a:solidFill>
            <a:srgbClr val="002B49"/>
          </a:solidFill>
          <a:ln/>
        </p:spPr>
      </p:sp>
      <p:sp>
        <p:nvSpPr>
          <p:cNvPr id="11" name="Shape 7"/>
          <p:cNvSpPr/>
          <p:nvPr/>
        </p:nvSpPr>
        <p:spPr>
          <a:xfrm>
            <a:off x="822960" y="3017520"/>
            <a:ext cx="502920" cy="502920"/>
          </a:xfrm>
          <a:prstGeom prst="ellipse">
            <a:avLst/>
          </a:prstGeom>
          <a:solidFill>
            <a:srgbClr val="2E7D57"/>
          </a:solidFill>
          <a:ln/>
        </p:spPr>
      </p:sp>
      <p:pic>
        <p:nvPicPr>
          <p:cNvPr id="12" name="Image 2" descr="/home/claude/eq4/icons/target.png">    </p:cNvPr>
          <p:cNvPicPr>
            <a:picLocks noChangeAspect="1"/>
          </p:cNvPicPr>
          <p:nvPr/>
        </p:nvPicPr>
        <p:blipFill>
          <a:blip r:embed="rId3"/>
          <a:stretch>
            <a:fillRect/>
          </a:stretch>
        </p:blipFill>
        <p:spPr>
          <a:xfrm>
            <a:off x="893369" y="3087929"/>
            <a:ext cx="362102" cy="362102"/>
          </a:xfrm>
          <a:prstGeom prst="rect">
            <a:avLst/>
          </a:prstGeom>
        </p:spPr>
      </p:pic>
      <p:sp>
        <p:nvSpPr>
          <p:cNvPr id="13" name="Text 8"/>
          <p:cNvSpPr txBox="1"/>
          <p:nvPr/>
        </p:nvSpPr>
        <p:spPr>
          <a:xfrm>
            <a:off x="1463040" y="2907792"/>
            <a:ext cx="9784080" cy="292608"/>
          </a:xfrm>
          <a:prstGeom prst="rect">
            <a:avLst/>
          </a:prstGeom>
          <a:noFill/>
          <a:ln/>
        </p:spPr>
        <p:txBody>
          <a:bodyPr wrap="square" lIns="0" tIns="0" rIns="0" bIns="0" rtlCol="0" anchor="ctr"/>
          <a:lstStyle/>
          <a:p>
            <a:pPr indent="0" marL="0">
              <a:buNone/>
            </a:pPr>
            <a:r>
              <a:rPr lang="en-US" sz="1350" dirty="0">
                <a:solidFill>
                  <a:srgbClr val="4ADE80"/>
                </a:solidFill>
                <a:latin typeface="Outfit SemiBold" pitchFamily="34" charset="0"/>
                <a:ea typeface="Outfit SemiBold" pitchFamily="34" charset="-122"/>
                <a:cs typeface="Outfit SemiBold" pitchFamily="34" charset="-120"/>
              </a:rPr>
              <a:t>Objetivo General Formulado</a:t>
            </a:r>
            <a:endParaRPr lang="en-US" sz="1350" dirty="0"/>
          </a:p>
        </p:txBody>
      </p:sp>
      <p:sp>
        <p:nvSpPr>
          <p:cNvPr id="14" name="Text 9"/>
          <p:cNvSpPr txBox="1"/>
          <p:nvPr/>
        </p:nvSpPr>
        <p:spPr>
          <a:xfrm>
            <a:off x="1463040" y="3218688"/>
            <a:ext cx="9875520" cy="640080"/>
          </a:xfrm>
          <a:prstGeom prst="rect">
            <a:avLst/>
          </a:prstGeom>
          <a:noFill/>
          <a:ln/>
        </p:spPr>
        <p:txBody>
          <a:bodyPr wrap="square" lIns="0" tIns="0" rIns="0" bIns="0" rtlCol="0" anchor="ctr"/>
          <a:lstStyle/>
          <a:p>
            <a:pPr indent="0" marL="0">
              <a:lnSpc>
                <a:spcPts val="1450"/>
              </a:lnSpc>
              <a:buNone/>
            </a:pPr>
            <a:r>
              <a:rPr lang="en-US" sz="1100" i="1" dirty="0">
                <a:solidFill>
                  <a:srgbClr val="E2E8F0"/>
                </a:solidFill>
                <a:latin typeface="Outfit Medium" pitchFamily="34" charset="0"/>
                <a:ea typeface="Outfit Medium" pitchFamily="34" charset="-122"/>
                <a:cs typeface="Outfit Medium" pitchFamily="34" charset="-120"/>
              </a:rPr>
              <a:t>“Desarrollar e implementar un sistema web centralizado (SIGRE) para la gestión y reserva transparente de recursos, equipos y espacios físicos, con el fin de optimizar el aprovechamiento patrimonial y reducir los tiempos de respuesta en la comunidad universitaria de CUTonalá durante el ciclo 2026.”</a:t>
            </a:r>
            <a:endParaRPr lang="en-US" sz="1100" dirty="0"/>
          </a:p>
        </p:txBody>
      </p:sp>
      <p:sp>
        <p:nvSpPr>
          <p:cNvPr id="15" name="Shape 10"/>
          <p:cNvSpPr/>
          <p:nvPr/>
        </p:nvSpPr>
        <p:spPr>
          <a:xfrm>
            <a:off x="548640" y="4069080"/>
            <a:ext cx="11091672" cy="2148840"/>
          </a:xfrm>
          <a:prstGeom prst="roundRect">
            <a:avLst>
              <a:gd name="adj" fmla="val 4255"/>
            </a:avLst>
          </a:prstGeom>
          <a:solidFill>
            <a:srgbClr val="FFFFFF"/>
          </a:solidFill>
          <a:ln w="12700">
            <a:solidFill>
              <a:srgbClr val="D1D5DB"/>
            </a:solidFill>
            <a:prstDash val="solid"/>
          </a:ln>
          <a:effectLst>
            <a:outerShdw sx="100000" sy="100000" kx="0" ky="0" algn="bl" rotWithShape="0" blurRad="101600" dist="25400" dir="5400000">
              <a:srgbClr val="1A1A2E">
                <a:alpha val="10000"/>
              </a:srgbClr>
            </a:outerShdw>
          </a:effectLst>
        </p:spPr>
      </p:sp>
      <p:sp>
        <p:nvSpPr>
          <p:cNvPr id="16" name="Shape 11"/>
          <p:cNvSpPr/>
          <p:nvPr/>
        </p:nvSpPr>
        <p:spPr>
          <a:xfrm>
            <a:off x="822960" y="4297680"/>
            <a:ext cx="502920" cy="502920"/>
          </a:xfrm>
          <a:prstGeom prst="ellipse">
            <a:avLst/>
          </a:prstGeom>
          <a:solidFill>
            <a:srgbClr val="2E7D57"/>
          </a:solidFill>
          <a:ln/>
        </p:spPr>
      </p:sp>
      <p:pic>
        <p:nvPicPr>
          <p:cNvPr id="17" name="Image 3" descr="/home/claude/eq4/icons/listtree.png">    </p:cNvPr>
          <p:cNvPicPr>
            <a:picLocks noChangeAspect="1"/>
          </p:cNvPicPr>
          <p:nvPr/>
        </p:nvPicPr>
        <p:blipFill>
          <a:blip r:embed="rId4"/>
          <a:stretch>
            <a:fillRect/>
          </a:stretch>
        </p:blipFill>
        <p:spPr>
          <a:xfrm>
            <a:off x="893369" y="4368089"/>
            <a:ext cx="362102" cy="362102"/>
          </a:xfrm>
          <a:prstGeom prst="rect">
            <a:avLst/>
          </a:prstGeom>
        </p:spPr>
      </p:pic>
      <p:sp>
        <p:nvSpPr>
          <p:cNvPr id="18" name="Text 12"/>
          <p:cNvSpPr txBox="1"/>
          <p:nvPr/>
        </p:nvSpPr>
        <p:spPr>
          <a:xfrm>
            <a:off x="1463040" y="4187952"/>
            <a:ext cx="9784080" cy="292608"/>
          </a:xfrm>
          <a:prstGeom prst="rect">
            <a:avLst/>
          </a:prstGeom>
          <a:noFill/>
          <a:ln/>
        </p:spPr>
        <p:txBody>
          <a:bodyPr wrap="square" lIns="0" tIns="0" rIns="0" bIns="0" rtlCol="0" anchor="ctr"/>
          <a:lstStyle/>
          <a:p>
            <a:pPr indent="0" marL="0">
              <a:buNone/>
            </a:pPr>
            <a:r>
              <a:rPr lang="en-US" sz="1350" dirty="0">
                <a:solidFill>
                  <a:srgbClr val="1A1A2E"/>
                </a:solidFill>
                <a:latin typeface="Outfit SemiBold" pitchFamily="34" charset="0"/>
                <a:ea typeface="Outfit SemiBold" pitchFamily="34" charset="-122"/>
                <a:cs typeface="Outfit SemiBold" pitchFamily="34" charset="-120"/>
              </a:rPr>
              <a:t>Objetivos Específicos Secuenciales</a:t>
            </a:r>
            <a:endParaRPr lang="en-US" sz="1350" dirty="0"/>
          </a:p>
        </p:txBody>
      </p:sp>
      <p:sp>
        <p:nvSpPr>
          <p:cNvPr id="19" name="Shape 13"/>
          <p:cNvSpPr/>
          <p:nvPr/>
        </p:nvSpPr>
        <p:spPr>
          <a:xfrm>
            <a:off x="822960" y="4636008"/>
            <a:ext cx="292608" cy="292608"/>
          </a:xfrm>
          <a:prstGeom prst="roundRect">
            <a:avLst>
              <a:gd name="adj" fmla="val 50000"/>
            </a:avLst>
          </a:prstGeom>
          <a:solidFill>
            <a:srgbClr val="D4E8DC"/>
          </a:solidFill>
          <a:ln/>
        </p:spPr>
      </p:sp>
      <p:sp>
        <p:nvSpPr>
          <p:cNvPr id="20" name="Text 14"/>
          <p:cNvSpPr txBox="1"/>
          <p:nvPr/>
        </p:nvSpPr>
        <p:spPr>
          <a:xfrm>
            <a:off x="822960" y="4636008"/>
            <a:ext cx="292608" cy="292608"/>
          </a:xfrm>
          <a:prstGeom prst="rect">
            <a:avLst/>
          </a:prstGeom>
          <a:noFill/>
          <a:ln/>
        </p:spPr>
        <p:txBody>
          <a:bodyPr wrap="square" lIns="0" tIns="0" rIns="0" bIns="0" rtlCol="0" anchor="ctr"/>
          <a:lstStyle/>
          <a:p>
            <a:pPr algn="ctr" indent="0" marL="0">
              <a:buNone/>
            </a:pPr>
            <a:r>
              <a:rPr lang="en-US" sz="950" dirty="0">
                <a:solidFill>
                  <a:srgbClr val="1A6B5A"/>
                </a:solidFill>
                <a:latin typeface="Outfit SemiBold" pitchFamily="34" charset="0"/>
                <a:ea typeface="Outfit SemiBold" pitchFamily="34" charset="-122"/>
                <a:cs typeface="Outfit SemiBold" pitchFamily="34" charset="-120"/>
              </a:rPr>
              <a:t>1</a:t>
            </a:r>
            <a:endParaRPr lang="en-US" sz="950" dirty="0"/>
          </a:p>
        </p:txBody>
      </p:sp>
      <p:sp>
        <p:nvSpPr>
          <p:cNvPr id="21" name="Text 15"/>
          <p:cNvSpPr txBox="1"/>
          <p:nvPr/>
        </p:nvSpPr>
        <p:spPr>
          <a:xfrm>
            <a:off x="1261872" y="4581144"/>
            <a:ext cx="10058400" cy="384048"/>
          </a:xfrm>
          <a:prstGeom prst="rect">
            <a:avLst/>
          </a:prstGeom>
          <a:noFill/>
          <a:ln/>
        </p:spPr>
        <p:txBody>
          <a:bodyPr wrap="square" lIns="0" tIns="0" rIns="0" bIns="0" rtlCol="0" anchor="ctr"/>
          <a:lstStyle/>
          <a:p>
            <a:pPr indent="0" marL="0">
              <a:lnSpc>
                <a:spcPts val="1350"/>
              </a:lnSpc>
              <a:buNone/>
            </a:pPr>
            <a:r>
              <a:rPr lang="en-US" sz="1030" dirty="0">
                <a:solidFill>
                  <a:srgbClr val="6B7280"/>
                </a:solidFill>
                <a:latin typeface="Outfit Medium" pitchFamily="34" charset="0"/>
                <a:ea typeface="Outfit Medium" pitchFamily="34" charset="-122"/>
                <a:cs typeface="Outfit Medium" pitchFamily="34" charset="-120"/>
              </a:rPr>
              <a:t>Diagnosticar el flujo actual y los cuellos de botella en la entrega y recepción de materiales y espacios dentro de las áreas operativas del campus.</a:t>
            </a:r>
            <a:endParaRPr lang="en-US" sz="1030" dirty="0"/>
          </a:p>
        </p:txBody>
      </p:sp>
      <p:sp>
        <p:nvSpPr>
          <p:cNvPr id="22" name="Shape 16"/>
          <p:cNvSpPr/>
          <p:nvPr/>
        </p:nvSpPr>
        <p:spPr>
          <a:xfrm>
            <a:off x="822960" y="5020056"/>
            <a:ext cx="292608" cy="292608"/>
          </a:xfrm>
          <a:prstGeom prst="roundRect">
            <a:avLst>
              <a:gd name="adj" fmla="val 50000"/>
            </a:avLst>
          </a:prstGeom>
          <a:solidFill>
            <a:srgbClr val="D4E8DC"/>
          </a:solidFill>
          <a:ln/>
        </p:spPr>
      </p:sp>
      <p:sp>
        <p:nvSpPr>
          <p:cNvPr id="23" name="Text 17"/>
          <p:cNvSpPr txBox="1"/>
          <p:nvPr/>
        </p:nvSpPr>
        <p:spPr>
          <a:xfrm>
            <a:off x="822960" y="5020056"/>
            <a:ext cx="292608" cy="292608"/>
          </a:xfrm>
          <a:prstGeom prst="rect">
            <a:avLst/>
          </a:prstGeom>
          <a:noFill/>
          <a:ln/>
        </p:spPr>
        <p:txBody>
          <a:bodyPr wrap="square" lIns="0" tIns="0" rIns="0" bIns="0" rtlCol="0" anchor="ctr"/>
          <a:lstStyle/>
          <a:p>
            <a:pPr algn="ctr" indent="0" marL="0">
              <a:buNone/>
            </a:pPr>
            <a:r>
              <a:rPr lang="en-US" sz="950" dirty="0">
                <a:solidFill>
                  <a:srgbClr val="1A6B5A"/>
                </a:solidFill>
                <a:latin typeface="Outfit SemiBold" pitchFamily="34" charset="0"/>
                <a:ea typeface="Outfit SemiBold" pitchFamily="34" charset="-122"/>
                <a:cs typeface="Outfit SemiBold" pitchFamily="34" charset="-120"/>
              </a:rPr>
              <a:t>2</a:t>
            </a:r>
            <a:endParaRPr lang="en-US" sz="950" dirty="0"/>
          </a:p>
        </p:txBody>
      </p:sp>
      <p:sp>
        <p:nvSpPr>
          <p:cNvPr id="24" name="Text 18"/>
          <p:cNvSpPr txBox="1"/>
          <p:nvPr/>
        </p:nvSpPr>
        <p:spPr>
          <a:xfrm>
            <a:off x="1261872" y="4965192"/>
            <a:ext cx="10058400" cy="384048"/>
          </a:xfrm>
          <a:prstGeom prst="rect">
            <a:avLst/>
          </a:prstGeom>
          <a:noFill/>
          <a:ln/>
        </p:spPr>
        <p:txBody>
          <a:bodyPr wrap="square" lIns="0" tIns="0" rIns="0" bIns="0" rtlCol="0" anchor="ctr"/>
          <a:lstStyle/>
          <a:p>
            <a:pPr indent="0" marL="0">
              <a:lnSpc>
                <a:spcPts val="1350"/>
              </a:lnSpc>
              <a:buNone/>
            </a:pPr>
            <a:r>
              <a:rPr lang="en-US" sz="1030" dirty="0">
                <a:solidFill>
                  <a:srgbClr val="6B7280"/>
                </a:solidFill>
                <a:latin typeface="Outfit Medium" pitchFamily="34" charset="0"/>
                <a:ea typeface="Outfit Medium" pitchFamily="34" charset="-122"/>
                <a:cs typeface="Outfit Medium" pitchFamily="34" charset="-120"/>
              </a:rPr>
              <a:t>Diseñar una arquitectura modular con autenticación institucional y módulo de checklist digital con responsivas y firmas electrónicas.</a:t>
            </a:r>
            <a:endParaRPr lang="en-US" sz="1030" dirty="0"/>
          </a:p>
        </p:txBody>
      </p:sp>
      <p:sp>
        <p:nvSpPr>
          <p:cNvPr id="25" name="Shape 19"/>
          <p:cNvSpPr/>
          <p:nvPr/>
        </p:nvSpPr>
        <p:spPr>
          <a:xfrm>
            <a:off x="822960" y="5404104"/>
            <a:ext cx="292608" cy="292608"/>
          </a:xfrm>
          <a:prstGeom prst="roundRect">
            <a:avLst>
              <a:gd name="adj" fmla="val 50000"/>
            </a:avLst>
          </a:prstGeom>
          <a:solidFill>
            <a:srgbClr val="D4E8DC"/>
          </a:solidFill>
          <a:ln/>
        </p:spPr>
      </p:sp>
      <p:sp>
        <p:nvSpPr>
          <p:cNvPr id="26" name="Text 20"/>
          <p:cNvSpPr txBox="1"/>
          <p:nvPr/>
        </p:nvSpPr>
        <p:spPr>
          <a:xfrm>
            <a:off x="822960" y="5404104"/>
            <a:ext cx="292608" cy="292608"/>
          </a:xfrm>
          <a:prstGeom prst="rect">
            <a:avLst/>
          </a:prstGeom>
          <a:noFill/>
          <a:ln/>
        </p:spPr>
        <p:txBody>
          <a:bodyPr wrap="square" lIns="0" tIns="0" rIns="0" bIns="0" rtlCol="0" anchor="ctr"/>
          <a:lstStyle/>
          <a:p>
            <a:pPr algn="ctr" indent="0" marL="0">
              <a:buNone/>
            </a:pPr>
            <a:r>
              <a:rPr lang="en-US" sz="950" dirty="0">
                <a:solidFill>
                  <a:srgbClr val="1A6B5A"/>
                </a:solidFill>
                <a:latin typeface="Outfit SemiBold" pitchFamily="34" charset="0"/>
                <a:ea typeface="Outfit SemiBold" pitchFamily="34" charset="-122"/>
                <a:cs typeface="Outfit SemiBold" pitchFamily="34" charset="-120"/>
              </a:rPr>
              <a:t>3</a:t>
            </a:r>
            <a:endParaRPr lang="en-US" sz="950" dirty="0"/>
          </a:p>
        </p:txBody>
      </p:sp>
      <p:sp>
        <p:nvSpPr>
          <p:cNvPr id="27" name="Text 21"/>
          <p:cNvSpPr txBox="1"/>
          <p:nvPr/>
        </p:nvSpPr>
        <p:spPr>
          <a:xfrm>
            <a:off x="1261872" y="5349240"/>
            <a:ext cx="10058400" cy="384048"/>
          </a:xfrm>
          <a:prstGeom prst="rect">
            <a:avLst/>
          </a:prstGeom>
          <a:noFill/>
          <a:ln/>
        </p:spPr>
        <p:txBody>
          <a:bodyPr wrap="square" lIns="0" tIns="0" rIns="0" bIns="0" rtlCol="0" anchor="ctr"/>
          <a:lstStyle/>
          <a:p>
            <a:pPr indent="0" marL="0">
              <a:lnSpc>
                <a:spcPts val="1350"/>
              </a:lnSpc>
              <a:buNone/>
            </a:pPr>
            <a:r>
              <a:rPr lang="en-US" sz="1030" dirty="0">
                <a:solidFill>
                  <a:srgbClr val="6B7280"/>
                </a:solidFill>
                <a:latin typeface="Outfit Medium" pitchFamily="34" charset="0"/>
                <a:ea typeface="Outfit Medium" pitchFamily="34" charset="-122"/>
                <a:cs typeface="Outfit Medium" pitchFamily="34" charset="-120"/>
              </a:rPr>
              <a:t>Construir los módulos funcionales de reserva flexible, gestión de eventos con código QR dinámico y expediente formal de seguimiento a incidencias.</a:t>
            </a:r>
            <a:endParaRPr lang="en-US" sz="1030" dirty="0"/>
          </a:p>
        </p:txBody>
      </p:sp>
      <p:sp>
        <p:nvSpPr>
          <p:cNvPr id="28" name="Shape 22"/>
          <p:cNvSpPr/>
          <p:nvPr/>
        </p:nvSpPr>
        <p:spPr>
          <a:xfrm>
            <a:off x="822960" y="5788152"/>
            <a:ext cx="292608" cy="292608"/>
          </a:xfrm>
          <a:prstGeom prst="roundRect">
            <a:avLst>
              <a:gd name="adj" fmla="val 50000"/>
            </a:avLst>
          </a:prstGeom>
          <a:solidFill>
            <a:srgbClr val="D4E8DC"/>
          </a:solidFill>
          <a:ln/>
        </p:spPr>
      </p:sp>
      <p:sp>
        <p:nvSpPr>
          <p:cNvPr id="29" name="Text 23"/>
          <p:cNvSpPr txBox="1"/>
          <p:nvPr/>
        </p:nvSpPr>
        <p:spPr>
          <a:xfrm>
            <a:off x="822960" y="5788152"/>
            <a:ext cx="292608" cy="292608"/>
          </a:xfrm>
          <a:prstGeom prst="rect">
            <a:avLst/>
          </a:prstGeom>
          <a:noFill/>
          <a:ln/>
        </p:spPr>
        <p:txBody>
          <a:bodyPr wrap="square" lIns="0" tIns="0" rIns="0" bIns="0" rtlCol="0" anchor="ctr"/>
          <a:lstStyle/>
          <a:p>
            <a:pPr algn="ctr" indent="0" marL="0">
              <a:buNone/>
            </a:pPr>
            <a:r>
              <a:rPr lang="en-US" sz="950" dirty="0">
                <a:solidFill>
                  <a:srgbClr val="1A6B5A"/>
                </a:solidFill>
                <a:latin typeface="Outfit SemiBold" pitchFamily="34" charset="0"/>
                <a:ea typeface="Outfit SemiBold" pitchFamily="34" charset="-122"/>
                <a:cs typeface="Outfit SemiBold" pitchFamily="34" charset="-120"/>
              </a:rPr>
              <a:t>4</a:t>
            </a:r>
            <a:endParaRPr lang="en-US" sz="950" dirty="0"/>
          </a:p>
        </p:txBody>
      </p:sp>
      <p:sp>
        <p:nvSpPr>
          <p:cNvPr id="30" name="Text 24"/>
          <p:cNvSpPr txBox="1"/>
          <p:nvPr/>
        </p:nvSpPr>
        <p:spPr>
          <a:xfrm>
            <a:off x="1261872" y="5733288"/>
            <a:ext cx="10058400" cy="384048"/>
          </a:xfrm>
          <a:prstGeom prst="rect">
            <a:avLst/>
          </a:prstGeom>
          <a:noFill/>
          <a:ln/>
        </p:spPr>
        <p:txBody>
          <a:bodyPr wrap="square" lIns="0" tIns="0" rIns="0" bIns="0" rtlCol="0" anchor="ctr"/>
          <a:lstStyle/>
          <a:p>
            <a:pPr indent="0" marL="0">
              <a:lnSpc>
                <a:spcPts val="1350"/>
              </a:lnSpc>
              <a:buNone/>
            </a:pPr>
            <a:r>
              <a:rPr lang="en-US" sz="1030" dirty="0">
                <a:solidFill>
                  <a:srgbClr val="6B7280"/>
                </a:solidFill>
                <a:latin typeface="Outfit Medium" pitchFamily="34" charset="0"/>
                <a:ea typeface="Outfit Medium" pitchFamily="34" charset="-122"/>
                <a:cs typeface="Outfit Medium" pitchFamily="34" charset="-120"/>
              </a:rPr>
              <a:t>Evaluar la viabilidad operativa y el nivel de satisfacción mediante un piloto de pruebas con estudiantes y profesores del centro universitario.</a:t>
            </a:r>
            <a:endParaRPr lang="en-US" sz="1030" dirty="0"/>
          </a:p>
        </p:txBody>
      </p:sp>
      <p:pic>
        <p:nvPicPr>
          <p:cNvPr id="31" name="Image 4" descr="/home/claude/eq4/brand/sigre-logo.png">    </p:cNvPr>
          <p:cNvPicPr>
            <a:picLocks noChangeAspect="1"/>
          </p:cNvPicPr>
          <p:nvPr/>
        </p:nvPicPr>
        <p:blipFill>
          <a:blip r:embed="rId5"/>
          <a:stretch>
            <a:fillRect/>
          </a:stretch>
        </p:blipFill>
        <p:spPr>
          <a:xfrm>
            <a:off x="548640" y="6510528"/>
            <a:ext cx="566928" cy="182880"/>
          </a:xfrm>
          <a:prstGeom prst="rect">
            <a:avLst/>
          </a:prstGeom>
        </p:spPr>
      </p:pic>
      <p:sp>
        <p:nvSpPr>
          <p:cNvPr id="32" name="Text 25"/>
          <p:cNvSpPr txBox="1"/>
          <p:nvPr/>
        </p:nvSpPr>
        <p:spPr>
          <a:xfrm>
            <a:off x="1234440" y="6492240"/>
            <a:ext cx="5486400" cy="256032"/>
          </a:xfrm>
          <a:prstGeom prst="rect">
            <a:avLst/>
          </a:prstGeom>
          <a:noFill/>
          <a:ln/>
        </p:spPr>
        <p:txBody>
          <a:bodyPr wrap="square" lIns="0" tIns="0" rIns="0" bIns="0" rtlCol="0" anchor="ctr"/>
          <a:lstStyle/>
          <a:p>
            <a:pPr indent="0" marL="0">
              <a:buNone/>
            </a:pPr>
            <a:r>
              <a:rPr lang="en-US" sz="850" dirty="0">
                <a:solidFill>
                  <a:srgbClr val="6B7280"/>
                </a:solidFill>
                <a:latin typeface="Outfit Medium" pitchFamily="34" charset="0"/>
                <a:ea typeface="Outfit Medium" pitchFamily="34" charset="-122"/>
                <a:cs typeface="Outfit Medium" pitchFamily="34" charset="-120"/>
              </a:rPr>
              <a:t>Equipo 4  ·  Formulación y Evaluación de Proyectos</a:t>
            </a:r>
            <a:endParaRPr lang="en-US" sz="850" dirty="0"/>
          </a:p>
        </p:txBody>
      </p:sp>
      <p:sp>
        <p:nvSpPr>
          <p:cNvPr id="33" name="Text 26"/>
          <p:cNvSpPr txBox="1"/>
          <p:nvPr/>
        </p:nvSpPr>
        <p:spPr>
          <a:xfrm>
            <a:off x="11183112" y="6492240"/>
            <a:ext cx="548640" cy="256032"/>
          </a:xfrm>
          <a:prstGeom prst="rect">
            <a:avLst/>
          </a:prstGeom>
          <a:noFill/>
          <a:ln/>
        </p:spPr>
        <p:txBody>
          <a:bodyPr wrap="square" lIns="0" tIns="0" rIns="0" bIns="0" rtlCol="0" anchor="ctr"/>
          <a:lstStyle/>
          <a:p>
            <a:pPr algn="r" indent="0" marL="0">
              <a:buNone/>
            </a:pPr>
            <a:r>
              <a:rPr lang="en-US" sz="850" dirty="0">
                <a:solidFill>
                  <a:srgbClr val="6B7280"/>
                </a:solidFill>
                <a:latin typeface="Outfit Medium" pitchFamily="34" charset="0"/>
                <a:ea typeface="Outfit Medium" pitchFamily="34" charset="-122"/>
                <a:cs typeface="Outfit Medium" pitchFamily="34" charset="-120"/>
              </a:rPr>
              <a:t>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8EFF5"/>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256032"/>
          </a:xfrm>
          <a:prstGeom prst="rect">
            <a:avLst/>
          </a:prstGeom>
          <a:noFill/>
          <a:ln/>
        </p:spPr>
        <p:txBody>
          <a:bodyPr wrap="square" lIns="0" tIns="0" rIns="0" bIns="0" rtlCol="0" anchor="ctr"/>
          <a:lstStyle/>
          <a:p>
            <a:pPr algn="l" indent="0" marL="0">
              <a:buNone/>
            </a:pPr>
            <a:r>
              <a:rPr lang="en-US" sz="1050" spc="180" kern="0" dirty="0">
                <a:solidFill>
                  <a:srgbClr val="2E7D57"/>
                </a:solidFill>
                <a:latin typeface="Outfit SemiBold" pitchFamily="34" charset="0"/>
                <a:ea typeface="Outfit SemiBold" pitchFamily="34" charset="-122"/>
                <a:cs typeface="Outfit SemiBold" pitchFamily="34" charset="-120"/>
              </a:rPr>
              <a:t>EQUIPO 4 · FORMULACIÓN Y EVALUACIÓN DE PROYECTOS</a:t>
            </a:r>
            <a:endParaRPr lang="en-US" sz="1050" dirty="0"/>
          </a:p>
        </p:txBody>
      </p:sp>
      <p:sp>
        <p:nvSpPr>
          <p:cNvPr id="3" name="Text 1"/>
          <p:cNvSpPr txBox="1"/>
          <p:nvPr/>
        </p:nvSpPr>
        <p:spPr>
          <a:xfrm>
            <a:off x="548640" y="603504"/>
            <a:ext cx="11064240" cy="640080"/>
          </a:xfrm>
          <a:prstGeom prst="rect">
            <a:avLst/>
          </a:prstGeom>
          <a:noFill/>
          <a:ln/>
        </p:spPr>
        <p:txBody>
          <a:bodyPr wrap="square" lIns="0" tIns="0" rIns="0" bIns="0" rtlCol="0" anchor="ctr"/>
          <a:lstStyle/>
          <a:p>
            <a:pPr algn="l" indent="0" marL="0">
              <a:buNone/>
            </a:pPr>
            <a:r>
              <a:rPr lang="en-US" sz="2700" b="1" dirty="0">
                <a:solidFill>
                  <a:srgbClr val="002B49"/>
                </a:solidFill>
                <a:latin typeface="Outfit" pitchFamily="34" charset="0"/>
                <a:ea typeface="Outfit" pitchFamily="34" charset="-122"/>
                <a:cs typeface="Outfit" pitchFamily="34" charset="-120"/>
              </a:rPr>
              <a:t>Conclusiones Personales del Equipo</a:t>
            </a:r>
            <a:endParaRPr lang="en-US" sz="2700" dirty="0"/>
          </a:p>
        </p:txBody>
      </p:sp>
      <p:sp>
        <p:nvSpPr>
          <p:cNvPr id="4" name="Shape 2"/>
          <p:cNvSpPr/>
          <p:nvPr/>
        </p:nvSpPr>
        <p:spPr>
          <a:xfrm>
            <a:off x="548640" y="1600200"/>
            <a:ext cx="3520440" cy="4617720"/>
          </a:xfrm>
          <a:prstGeom prst="roundRect">
            <a:avLst>
              <a:gd name="adj" fmla="val 2597"/>
            </a:avLst>
          </a:prstGeom>
          <a:solidFill>
            <a:srgbClr val="FFFFFF"/>
          </a:solidFill>
          <a:ln w="12700">
            <a:solidFill>
              <a:srgbClr val="D1D5DB"/>
            </a:solidFill>
            <a:prstDash val="solid"/>
          </a:ln>
          <a:effectLst>
            <a:outerShdw sx="100000" sy="100000" kx="0" ky="0" algn="bl" rotWithShape="0" blurRad="101600" dist="25400" dir="5400000">
              <a:srgbClr val="1A1A2E">
                <a:alpha val="10000"/>
              </a:srgbClr>
            </a:outerShdw>
          </a:effectLst>
        </p:spPr>
      </p:sp>
      <p:sp>
        <p:nvSpPr>
          <p:cNvPr id="5" name="Shape 3"/>
          <p:cNvSpPr/>
          <p:nvPr/>
        </p:nvSpPr>
        <p:spPr>
          <a:xfrm>
            <a:off x="777240" y="1828800"/>
            <a:ext cx="502920" cy="502920"/>
          </a:xfrm>
          <a:prstGeom prst="ellipse">
            <a:avLst/>
          </a:prstGeom>
          <a:solidFill>
            <a:srgbClr val="002B49"/>
          </a:solidFill>
          <a:ln/>
        </p:spPr>
      </p:sp>
      <p:pic>
        <p:nvPicPr>
          <p:cNvPr id="6" name="Image 0" descr="/home/claude/eq4/icons/user.png">    </p:cNvPr>
          <p:cNvPicPr>
            <a:picLocks noChangeAspect="1"/>
          </p:cNvPicPr>
          <p:nvPr/>
        </p:nvPicPr>
        <p:blipFill>
          <a:blip r:embed="rId1"/>
          <a:stretch>
            <a:fillRect/>
          </a:stretch>
        </p:blipFill>
        <p:spPr>
          <a:xfrm>
            <a:off x="847649" y="1899209"/>
            <a:ext cx="362102" cy="362102"/>
          </a:xfrm>
          <a:prstGeom prst="rect">
            <a:avLst/>
          </a:prstGeom>
        </p:spPr>
      </p:pic>
      <p:sp>
        <p:nvSpPr>
          <p:cNvPr id="7" name="Text 4"/>
          <p:cNvSpPr txBox="1"/>
          <p:nvPr/>
        </p:nvSpPr>
        <p:spPr>
          <a:xfrm>
            <a:off x="1417320" y="1783080"/>
            <a:ext cx="2423160" cy="548640"/>
          </a:xfrm>
          <a:prstGeom prst="rect">
            <a:avLst/>
          </a:prstGeom>
          <a:noFill/>
          <a:ln/>
        </p:spPr>
        <p:txBody>
          <a:bodyPr wrap="square" lIns="0" tIns="0" rIns="0" bIns="0" rtlCol="0" anchor="ctr"/>
          <a:lstStyle/>
          <a:p>
            <a:pPr indent="0" marL="0">
              <a:lnSpc>
                <a:spcPts val="1500"/>
              </a:lnSpc>
              <a:buNone/>
            </a:pPr>
            <a:r>
              <a:rPr lang="en-US" sz="1250" dirty="0">
                <a:solidFill>
                  <a:srgbClr val="1A1A2E"/>
                </a:solidFill>
                <a:latin typeface="Outfit SemiBold" pitchFamily="34" charset="0"/>
                <a:ea typeface="Outfit SemiBold" pitchFamily="34" charset="-122"/>
                <a:cs typeface="Outfit SemiBold" pitchFamily="34" charset="-120"/>
              </a:rPr>
              <a:t>Carlos Emiliano Barragán Padilla</a:t>
            </a:r>
            <a:endParaRPr lang="en-US" sz="1250" dirty="0"/>
          </a:p>
        </p:txBody>
      </p:sp>
      <p:sp>
        <p:nvSpPr>
          <p:cNvPr id="8" name="Shape 5"/>
          <p:cNvSpPr/>
          <p:nvPr/>
        </p:nvSpPr>
        <p:spPr>
          <a:xfrm>
            <a:off x="777240" y="2514600"/>
            <a:ext cx="3063240" cy="9144"/>
          </a:xfrm>
          <a:prstGeom prst="rect">
            <a:avLst/>
          </a:prstGeom>
          <a:solidFill>
            <a:srgbClr val="D1D5DB"/>
          </a:solidFill>
          <a:ln/>
        </p:spPr>
      </p:sp>
      <p:sp>
        <p:nvSpPr>
          <p:cNvPr id="9" name="Text 6"/>
          <p:cNvSpPr txBox="1"/>
          <p:nvPr/>
        </p:nvSpPr>
        <p:spPr>
          <a:xfrm>
            <a:off x="777240" y="2651760"/>
            <a:ext cx="3063240" cy="3383280"/>
          </a:xfrm>
          <a:prstGeom prst="rect">
            <a:avLst/>
          </a:prstGeom>
          <a:noFill/>
          <a:ln/>
        </p:spPr>
        <p:txBody>
          <a:bodyPr wrap="square" lIns="0" tIns="0" rIns="0" bIns="0" rtlCol="0" anchor="ctr"/>
          <a:lstStyle/>
          <a:p>
            <a:pPr indent="0" marL="0">
              <a:lnSpc>
                <a:spcPts val="1450"/>
              </a:lnSpc>
              <a:buNone/>
            </a:pPr>
            <a:r>
              <a:rPr lang="en-US" sz="1030" dirty="0">
                <a:solidFill>
                  <a:srgbClr val="6B7280"/>
                </a:solidFill>
                <a:latin typeface="Outfit Medium" pitchFamily="34" charset="0"/>
                <a:ea typeface="Outfit Medium" pitchFamily="34" charset="-122"/>
                <a:cs typeface="Outfit Medium" pitchFamily="34" charset="-120"/>
              </a:rPr>
              <a:t>Antes de este trabajo pensaba que ‘objetivo’ y ‘actividad’ eran casi lo mismo. Ya no. Ver cómo un objetivo general mal planteado puede arrastrar todo el presupuesto de un proyecto me hizo entender por qué se le dedica tanto tiempo a esta etapa antes de tocar cualquier otra cosa. Lo que más se me quedó fue el criterio SMART: no porque sea complicado, sino porque obliga a ser honesto sobre si de verdad se puede medir lo que se está prometiendo. Me llevo la idea de que un objetivo específico bien escrito no es burocracia —es la única forma de saber, al final, si el proyecto cumplió o no.</a:t>
            </a:r>
            <a:endParaRPr lang="en-US" sz="1030" dirty="0"/>
          </a:p>
        </p:txBody>
      </p:sp>
      <p:sp>
        <p:nvSpPr>
          <p:cNvPr id="10" name="Shape 7"/>
          <p:cNvSpPr/>
          <p:nvPr/>
        </p:nvSpPr>
        <p:spPr>
          <a:xfrm>
            <a:off x="4343400" y="1600200"/>
            <a:ext cx="3520440" cy="4617720"/>
          </a:xfrm>
          <a:prstGeom prst="roundRect">
            <a:avLst>
              <a:gd name="adj" fmla="val 2597"/>
            </a:avLst>
          </a:prstGeom>
          <a:solidFill>
            <a:srgbClr val="FFFFFF"/>
          </a:solidFill>
          <a:ln w="12700">
            <a:solidFill>
              <a:srgbClr val="D1D5DB"/>
            </a:solidFill>
            <a:prstDash val="solid"/>
          </a:ln>
          <a:effectLst>
            <a:outerShdw sx="100000" sy="100000" kx="0" ky="0" algn="bl" rotWithShape="0" blurRad="101600" dist="25400" dir="5400000">
              <a:srgbClr val="1A1A2E">
                <a:alpha val="10000"/>
              </a:srgbClr>
            </a:outerShdw>
          </a:effectLst>
        </p:spPr>
      </p:sp>
      <p:sp>
        <p:nvSpPr>
          <p:cNvPr id="11" name="Shape 8"/>
          <p:cNvSpPr/>
          <p:nvPr/>
        </p:nvSpPr>
        <p:spPr>
          <a:xfrm>
            <a:off x="4572000" y="1828800"/>
            <a:ext cx="502920" cy="502920"/>
          </a:xfrm>
          <a:prstGeom prst="ellipse">
            <a:avLst/>
          </a:prstGeom>
          <a:solidFill>
            <a:srgbClr val="1A6B5A"/>
          </a:solidFill>
          <a:ln/>
        </p:spPr>
      </p:sp>
      <p:pic>
        <p:nvPicPr>
          <p:cNvPr id="12" name="Image 1" descr="/home/claude/eq4/icons/user.png">    </p:cNvPr>
          <p:cNvPicPr>
            <a:picLocks noChangeAspect="1"/>
          </p:cNvPicPr>
          <p:nvPr/>
        </p:nvPicPr>
        <p:blipFill>
          <a:blip r:embed="rId2"/>
          <a:stretch>
            <a:fillRect/>
          </a:stretch>
        </p:blipFill>
        <p:spPr>
          <a:xfrm>
            <a:off x="4642409" y="1899209"/>
            <a:ext cx="362102" cy="362102"/>
          </a:xfrm>
          <a:prstGeom prst="rect">
            <a:avLst/>
          </a:prstGeom>
        </p:spPr>
      </p:pic>
      <p:sp>
        <p:nvSpPr>
          <p:cNvPr id="13" name="Text 9"/>
          <p:cNvSpPr txBox="1"/>
          <p:nvPr/>
        </p:nvSpPr>
        <p:spPr>
          <a:xfrm>
            <a:off x="5212080" y="1783080"/>
            <a:ext cx="2423160" cy="548640"/>
          </a:xfrm>
          <a:prstGeom prst="rect">
            <a:avLst/>
          </a:prstGeom>
          <a:noFill/>
          <a:ln/>
        </p:spPr>
        <p:txBody>
          <a:bodyPr wrap="square" lIns="0" tIns="0" rIns="0" bIns="0" rtlCol="0" anchor="ctr"/>
          <a:lstStyle/>
          <a:p>
            <a:pPr indent="0" marL="0">
              <a:lnSpc>
                <a:spcPts val="1500"/>
              </a:lnSpc>
              <a:buNone/>
            </a:pPr>
            <a:r>
              <a:rPr lang="en-US" sz="1250" dirty="0">
                <a:solidFill>
                  <a:srgbClr val="1A1A2E"/>
                </a:solidFill>
                <a:latin typeface="Outfit SemiBold" pitchFamily="34" charset="0"/>
                <a:ea typeface="Outfit SemiBold" pitchFamily="34" charset="-122"/>
                <a:cs typeface="Outfit SemiBold" pitchFamily="34" charset="-120"/>
              </a:rPr>
              <a:t>Ernesto Hatuey Fierro Meléndez</a:t>
            </a:r>
            <a:endParaRPr lang="en-US" sz="1250" dirty="0"/>
          </a:p>
        </p:txBody>
      </p:sp>
      <p:sp>
        <p:nvSpPr>
          <p:cNvPr id="14" name="Shape 10"/>
          <p:cNvSpPr/>
          <p:nvPr/>
        </p:nvSpPr>
        <p:spPr>
          <a:xfrm>
            <a:off x="4572000" y="2514600"/>
            <a:ext cx="3063240" cy="9144"/>
          </a:xfrm>
          <a:prstGeom prst="rect">
            <a:avLst/>
          </a:prstGeom>
          <a:solidFill>
            <a:srgbClr val="D1D5DB"/>
          </a:solidFill>
          <a:ln/>
        </p:spPr>
      </p:sp>
      <p:sp>
        <p:nvSpPr>
          <p:cNvPr id="15" name="Text 11"/>
          <p:cNvSpPr txBox="1"/>
          <p:nvPr/>
        </p:nvSpPr>
        <p:spPr>
          <a:xfrm>
            <a:off x="4572000" y="2651760"/>
            <a:ext cx="3063240" cy="3383280"/>
          </a:xfrm>
          <a:prstGeom prst="rect">
            <a:avLst/>
          </a:prstGeom>
          <a:noFill/>
          <a:ln/>
        </p:spPr>
        <p:txBody>
          <a:bodyPr wrap="square" lIns="0" tIns="0" rIns="0" bIns="0" rtlCol="0" anchor="ctr"/>
          <a:lstStyle/>
          <a:p>
            <a:pPr indent="0" marL="0">
              <a:lnSpc>
                <a:spcPts val="1450"/>
              </a:lnSpc>
              <a:buNone/>
            </a:pPr>
            <a:r>
              <a:rPr lang="en-US" sz="1030" dirty="0">
                <a:solidFill>
                  <a:srgbClr val="6B7280"/>
                </a:solidFill>
                <a:latin typeface="Outfit Medium" pitchFamily="34" charset="0"/>
                <a:ea typeface="Outfit Medium" pitchFamily="34" charset="-122"/>
                <a:cs typeface="Outfit Medium" pitchFamily="34" charset="-120"/>
              </a:rPr>
              <a:t>Trabajar el ejemplo de SIGRE para esta actividad me sirvió para ver mi propio proyecto desde otro ángulo: ya no como ‘la plataforma que quiero hacer’, sino como una cadena de objetivos que tienen que amarrarse entre sí. Separar el objetivo general (qué se quiere lograr) de los específicos (cómo se llega ahí paso a paso) me hizo notar que un par de metas que tenía en mente eran, en realidad, actividades operativas y no objetivos de verdad. Esa distinción, aunque suena sutil, cambia por completo cómo se planea y se evalúa un proyecto.</a:t>
            </a:r>
            <a:endParaRPr lang="en-US" sz="1030" dirty="0"/>
          </a:p>
        </p:txBody>
      </p:sp>
      <p:sp>
        <p:nvSpPr>
          <p:cNvPr id="16" name="Shape 12"/>
          <p:cNvSpPr/>
          <p:nvPr/>
        </p:nvSpPr>
        <p:spPr>
          <a:xfrm>
            <a:off x="8138160" y="1600200"/>
            <a:ext cx="3520440" cy="4617720"/>
          </a:xfrm>
          <a:prstGeom prst="roundRect">
            <a:avLst>
              <a:gd name="adj" fmla="val 2597"/>
            </a:avLst>
          </a:prstGeom>
          <a:solidFill>
            <a:srgbClr val="FFFFFF"/>
          </a:solidFill>
          <a:ln w="12700">
            <a:solidFill>
              <a:srgbClr val="D1D5DB"/>
            </a:solidFill>
            <a:prstDash val="solid"/>
          </a:ln>
          <a:effectLst>
            <a:outerShdw sx="100000" sy="100000" kx="0" ky="0" algn="bl" rotWithShape="0" blurRad="101600" dist="25400" dir="5400000">
              <a:srgbClr val="1A1A2E">
                <a:alpha val="10000"/>
              </a:srgbClr>
            </a:outerShdw>
          </a:effectLst>
        </p:spPr>
      </p:sp>
      <p:sp>
        <p:nvSpPr>
          <p:cNvPr id="17" name="Shape 13"/>
          <p:cNvSpPr/>
          <p:nvPr/>
        </p:nvSpPr>
        <p:spPr>
          <a:xfrm>
            <a:off x="8366760" y="1828800"/>
            <a:ext cx="502920" cy="502920"/>
          </a:xfrm>
          <a:prstGeom prst="ellipse">
            <a:avLst/>
          </a:prstGeom>
          <a:solidFill>
            <a:srgbClr val="0D6E52"/>
          </a:solidFill>
          <a:ln/>
        </p:spPr>
      </p:sp>
      <p:pic>
        <p:nvPicPr>
          <p:cNvPr id="18" name="Image 2" descr="/home/claude/eq4/icons/user.png">    </p:cNvPr>
          <p:cNvPicPr>
            <a:picLocks noChangeAspect="1"/>
          </p:cNvPicPr>
          <p:nvPr/>
        </p:nvPicPr>
        <p:blipFill>
          <a:blip r:embed="rId3"/>
          <a:stretch>
            <a:fillRect/>
          </a:stretch>
        </p:blipFill>
        <p:spPr>
          <a:xfrm>
            <a:off x="8437169" y="1899209"/>
            <a:ext cx="362102" cy="362102"/>
          </a:xfrm>
          <a:prstGeom prst="rect">
            <a:avLst/>
          </a:prstGeom>
        </p:spPr>
      </p:pic>
      <p:sp>
        <p:nvSpPr>
          <p:cNvPr id="19" name="Text 14"/>
          <p:cNvSpPr txBox="1"/>
          <p:nvPr/>
        </p:nvSpPr>
        <p:spPr>
          <a:xfrm>
            <a:off x="9006840" y="1783080"/>
            <a:ext cx="2423160" cy="548640"/>
          </a:xfrm>
          <a:prstGeom prst="rect">
            <a:avLst/>
          </a:prstGeom>
          <a:noFill/>
          <a:ln/>
        </p:spPr>
        <p:txBody>
          <a:bodyPr wrap="square" lIns="0" tIns="0" rIns="0" bIns="0" rtlCol="0" anchor="ctr"/>
          <a:lstStyle/>
          <a:p>
            <a:pPr indent="0" marL="0">
              <a:lnSpc>
                <a:spcPts val="1500"/>
              </a:lnSpc>
              <a:buNone/>
            </a:pPr>
            <a:r>
              <a:rPr lang="en-US" sz="1250" dirty="0">
                <a:solidFill>
                  <a:srgbClr val="1A1A2E"/>
                </a:solidFill>
                <a:latin typeface="Outfit SemiBold" pitchFamily="34" charset="0"/>
                <a:ea typeface="Outfit SemiBold" pitchFamily="34" charset="-122"/>
                <a:cs typeface="Outfit SemiBold" pitchFamily="34" charset="-120"/>
              </a:rPr>
              <a:t>Josue Wenceslao Padilla Casillas</a:t>
            </a:r>
            <a:endParaRPr lang="en-US" sz="1250" dirty="0"/>
          </a:p>
        </p:txBody>
      </p:sp>
      <p:sp>
        <p:nvSpPr>
          <p:cNvPr id="20" name="Shape 15"/>
          <p:cNvSpPr/>
          <p:nvPr/>
        </p:nvSpPr>
        <p:spPr>
          <a:xfrm>
            <a:off x="8366760" y="2514600"/>
            <a:ext cx="3063240" cy="9144"/>
          </a:xfrm>
          <a:prstGeom prst="rect">
            <a:avLst/>
          </a:prstGeom>
          <a:solidFill>
            <a:srgbClr val="D1D5DB"/>
          </a:solidFill>
          <a:ln/>
        </p:spPr>
      </p:sp>
      <p:sp>
        <p:nvSpPr>
          <p:cNvPr id="21" name="Text 16"/>
          <p:cNvSpPr txBox="1"/>
          <p:nvPr/>
        </p:nvSpPr>
        <p:spPr>
          <a:xfrm>
            <a:off x="8366760" y="2651760"/>
            <a:ext cx="3063240" cy="3383280"/>
          </a:xfrm>
          <a:prstGeom prst="rect">
            <a:avLst/>
          </a:prstGeom>
          <a:noFill/>
          <a:ln/>
        </p:spPr>
        <p:txBody>
          <a:bodyPr wrap="square" lIns="0" tIns="0" rIns="0" bIns="0" rtlCol="0" anchor="ctr"/>
          <a:lstStyle/>
          <a:p>
            <a:pPr indent="0" marL="0">
              <a:lnSpc>
                <a:spcPts val="1450"/>
              </a:lnSpc>
              <a:buNone/>
            </a:pPr>
            <a:r>
              <a:rPr lang="en-US" sz="1030" dirty="0">
                <a:solidFill>
                  <a:srgbClr val="6B7280"/>
                </a:solidFill>
                <a:latin typeface="Outfit Medium" pitchFamily="34" charset="0"/>
                <a:ea typeface="Outfit Medium" pitchFamily="34" charset="-122"/>
                <a:cs typeface="Outfit Medium" pitchFamily="34" charset="-120"/>
              </a:rPr>
              <a:t>Para mí lo valioso no fue solo aprender la teoría, sino discutirla en equipo y notar que cada quien entendía ‘objetivo específico’ de forma distinta hasta que lo comparamos con el mismo ejemplo. Eso me dejó claro que formular objetivos también es un ejercicio de comunicación: si el equipo no coincide en qué se va a medir y cómo, el proyecto empieza torcido desde el diagnóstico. Me quedo con la costumbre de escribir primero el objetivo general en una sola frase clara antes de desglosarlo —si no cabe en una frase, probablemente todavía no está lo bastante definido.</a:t>
            </a:r>
            <a:endParaRPr lang="en-US" sz="1030" dirty="0"/>
          </a:p>
        </p:txBody>
      </p:sp>
      <p:pic>
        <p:nvPicPr>
          <p:cNvPr id="22" name="Image 3" descr="/home/claude/eq4/brand/sigre-logo.png">    </p:cNvPr>
          <p:cNvPicPr>
            <a:picLocks noChangeAspect="1"/>
          </p:cNvPicPr>
          <p:nvPr/>
        </p:nvPicPr>
        <p:blipFill>
          <a:blip r:embed="rId4"/>
          <a:stretch>
            <a:fillRect/>
          </a:stretch>
        </p:blipFill>
        <p:spPr>
          <a:xfrm>
            <a:off x="548640" y="6510528"/>
            <a:ext cx="566928" cy="182880"/>
          </a:xfrm>
          <a:prstGeom prst="rect">
            <a:avLst/>
          </a:prstGeom>
        </p:spPr>
      </p:pic>
      <p:sp>
        <p:nvSpPr>
          <p:cNvPr id="23" name="Text 17"/>
          <p:cNvSpPr txBox="1"/>
          <p:nvPr/>
        </p:nvSpPr>
        <p:spPr>
          <a:xfrm>
            <a:off x="1234440" y="6492240"/>
            <a:ext cx="5486400" cy="256032"/>
          </a:xfrm>
          <a:prstGeom prst="rect">
            <a:avLst/>
          </a:prstGeom>
          <a:noFill/>
          <a:ln/>
        </p:spPr>
        <p:txBody>
          <a:bodyPr wrap="square" lIns="0" tIns="0" rIns="0" bIns="0" rtlCol="0" anchor="ctr"/>
          <a:lstStyle/>
          <a:p>
            <a:pPr indent="0" marL="0">
              <a:buNone/>
            </a:pPr>
            <a:r>
              <a:rPr lang="en-US" sz="850" dirty="0">
                <a:solidFill>
                  <a:srgbClr val="6B7280"/>
                </a:solidFill>
                <a:latin typeface="Outfit Medium" pitchFamily="34" charset="0"/>
                <a:ea typeface="Outfit Medium" pitchFamily="34" charset="-122"/>
                <a:cs typeface="Outfit Medium" pitchFamily="34" charset="-120"/>
              </a:rPr>
              <a:t>Equipo 4  ·  Formulación y Evaluación de Proyectos</a:t>
            </a:r>
            <a:endParaRPr lang="en-US" sz="850" dirty="0"/>
          </a:p>
        </p:txBody>
      </p:sp>
      <p:sp>
        <p:nvSpPr>
          <p:cNvPr id="24" name="Text 18"/>
          <p:cNvSpPr txBox="1"/>
          <p:nvPr/>
        </p:nvSpPr>
        <p:spPr>
          <a:xfrm>
            <a:off x="11183112" y="6492240"/>
            <a:ext cx="548640" cy="256032"/>
          </a:xfrm>
          <a:prstGeom prst="rect">
            <a:avLst/>
          </a:prstGeom>
          <a:noFill/>
          <a:ln/>
        </p:spPr>
        <p:txBody>
          <a:bodyPr wrap="square" lIns="0" tIns="0" rIns="0" bIns="0" rtlCol="0" anchor="ctr"/>
          <a:lstStyle/>
          <a:p>
            <a:pPr algn="r" indent="0" marL="0">
              <a:buNone/>
            </a:pPr>
            <a:r>
              <a:rPr lang="en-US" sz="850" dirty="0">
                <a:solidFill>
                  <a:srgbClr val="6B7280"/>
                </a:solidFill>
                <a:latin typeface="Outfit Medium" pitchFamily="34" charset="0"/>
                <a:ea typeface="Outfit Medium" pitchFamily="34" charset="-122"/>
                <a:cs typeface="Outfit Medium" pitchFamily="34" charset="-120"/>
              </a:rPr>
              <a:t>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8EFF5"/>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256032"/>
          </a:xfrm>
          <a:prstGeom prst="rect">
            <a:avLst/>
          </a:prstGeom>
          <a:noFill/>
          <a:ln/>
        </p:spPr>
        <p:txBody>
          <a:bodyPr wrap="square" lIns="0" tIns="0" rIns="0" bIns="0" rtlCol="0" anchor="ctr"/>
          <a:lstStyle/>
          <a:p>
            <a:pPr algn="l" indent="0" marL="0">
              <a:buNone/>
            </a:pPr>
            <a:r>
              <a:rPr lang="en-US" sz="1050" spc="180" kern="0" dirty="0">
                <a:solidFill>
                  <a:srgbClr val="2E7D57"/>
                </a:solidFill>
                <a:latin typeface="Outfit SemiBold" pitchFamily="34" charset="0"/>
                <a:ea typeface="Outfit SemiBold" pitchFamily="34" charset="-122"/>
                <a:cs typeface="Outfit SemiBold" pitchFamily="34" charset="-120"/>
              </a:rPr>
              <a:t>EQUIPO 4 · FORMULACIÓN Y EVALUACIÓN DE PROYECTOS</a:t>
            </a:r>
            <a:endParaRPr lang="en-US" sz="1050" dirty="0"/>
          </a:p>
        </p:txBody>
      </p:sp>
      <p:sp>
        <p:nvSpPr>
          <p:cNvPr id="3" name="Text 1"/>
          <p:cNvSpPr txBox="1"/>
          <p:nvPr/>
        </p:nvSpPr>
        <p:spPr>
          <a:xfrm>
            <a:off x="548640" y="603504"/>
            <a:ext cx="11064240" cy="640080"/>
          </a:xfrm>
          <a:prstGeom prst="rect">
            <a:avLst/>
          </a:prstGeom>
          <a:noFill/>
          <a:ln/>
        </p:spPr>
        <p:txBody>
          <a:bodyPr wrap="square" lIns="0" tIns="0" rIns="0" bIns="0" rtlCol="0" anchor="ctr"/>
          <a:lstStyle/>
          <a:p>
            <a:pPr algn="l" indent="0" marL="0">
              <a:buNone/>
            </a:pPr>
            <a:r>
              <a:rPr lang="en-US" sz="2700" b="1" dirty="0">
                <a:solidFill>
                  <a:srgbClr val="002B49"/>
                </a:solidFill>
                <a:latin typeface="Outfit" pitchFamily="34" charset="0"/>
                <a:ea typeface="Outfit" pitchFamily="34" charset="-122"/>
                <a:cs typeface="Outfit" pitchFamily="34" charset="-120"/>
              </a:rPr>
              <a:t>Fuentes de Consulta (Normas APA 7.ª Edición)</a:t>
            </a:r>
            <a:endParaRPr lang="en-US" sz="2700" dirty="0"/>
          </a:p>
        </p:txBody>
      </p:sp>
      <p:sp>
        <p:nvSpPr>
          <p:cNvPr id="4" name="Shape 2"/>
          <p:cNvSpPr/>
          <p:nvPr/>
        </p:nvSpPr>
        <p:spPr>
          <a:xfrm>
            <a:off x="548640" y="1600200"/>
            <a:ext cx="11091672" cy="3840480"/>
          </a:xfrm>
          <a:prstGeom prst="roundRect">
            <a:avLst>
              <a:gd name="adj" fmla="val 2381"/>
            </a:avLst>
          </a:prstGeom>
          <a:solidFill>
            <a:srgbClr val="FFFFFF"/>
          </a:solidFill>
          <a:ln w="12700">
            <a:solidFill>
              <a:srgbClr val="D1D5DB"/>
            </a:solidFill>
            <a:prstDash val="solid"/>
          </a:ln>
          <a:effectLst>
            <a:outerShdw sx="100000" sy="100000" kx="0" ky="0" algn="bl" rotWithShape="0" blurRad="101600" dist="25400" dir="5400000">
              <a:srgbClr val="1A1A2E">
                <a:alpha val="10000"/>
              </a:srgbClr>
            </a:outerShdw>
          </a:effectLst>
        </p:spPr>
      </p:sp>
      <p:sp>
        <p:nvSpPr>
          <p:cNvPr id="5" name="Shape 3"/>
          <p:cNvSpPr/>
          <p:nvPr/>
        </p:nvSpPr>
        <p:spPr>
          <a:xfrm>
            <a:off x="822960" y="1828800"/>
            <a:ext cx="502920" cy="502920"/>
          </a:xfrm>
          <a:prstGeom prst="ellipse">
            <a:avLst/>
          </a:prstGeom>
          <a:solidFill>
            <a:srgbClr val="002B49"/>
          </a:solidFill>
          <a:ln/>
        </p:spPr>
      </p:sp>
      <p:pic>
        <p:nvPicPr>
          <p:cNvPr id="6" name="Image 0" descr="/home/claude/eq4/icons/bookmarked.png">    </p:cNvPr>
          <p:cNvPicPr>
            <a:picLocks noChangeAspect="1"/>
          </p:cNvPicPr>
          <p:nvPr/>
        </p:nvPicPr>
        <p:blipFill>
          <a:blip r:embed="rId1"/>
          <a:stretch>
            <a:fillRect/>
          </a:stretch>
        </p:blipFill>
        <p:spPr>
          <a:xfrm>
            <a:off x="893369" y="1899209"/>
            <a:ext cx="362102" cy="362102"/>
          </a:xfrm>
          <a:prstGeom prst="rect">
            <a:avLst/>
          </a:prstGeom>
        </p:spPr>
      </p:pic>
      <p:sp>
        <p:nvSpPr>
          <p:cNvPr id="7" name="Text 4"/>
          <p:cNvSpPr txBox="1"/>
          <p:nvPr/>
        </p:nvSpPr>
        <p:spPr>
          <a:xfrm>
            <a:off x="1463040" y="1737360"/>
            <a:ext cx="9601200" cy="320040"/>
          </a:xfrm>
          <a:prstGeom prst="rect">
            <a:avLst/>
          </a:prstGeom>
          <a:noFill/>
          <a:ln/>
        </p:spPr>
        <p:txBody>
          <a:bodyPr wrap="square" lIns="0" tIns="0" rIns="0" bIns="0" rtlCol="0" anchor="ctr"/>
          <a:lstStyle/>
          <a:p>
            <a:pPr indent="0" marL="0">
              <a:buNone/>
            </a:pPr>
            <a:r>
              <a:rPr lang="en-US" sz="1400" dirty="0">
                <a:solidFill>
                  <a:srgbClr val="1A1A2E"/>
                </a:solidFill>
                <a:latin typeface="Outfit SemiBold" pitchFamily="34" charset="0"/>
                <a:ea typeface="Outfit SemiBold" pitchFamily="34" charset="-122"/>
                <a:cs typeface="Outfit SemiBold" pitchFamily="34" charset="-120"/>
              </a:rPr>
              <a:t>Bibliografía y Referencias Metodológicas</a:t>
            </a:r>
            <a:endParaRPr lang="en-US" sz="1400" dirty="0"/>
          </a:p>
        </p:txBody>
      </p:sp>
      <p:sp>
        <p:nvSpPr>
          <p:cNvPr id="8" name="Shape 5"/>
          <p:cNvSpPr/>
          <p:nvPr/>
        </p:nvSpPr>
        <p:spPr>
          <a:xfrm>
            <a:off x="868680" y="2496312"/>
            <a:ext cx="64008" cy="64008"/>
          </a:xfrm>
          <a:prstGeom prst="ellipse">
            <a:avLst/>
          </a:prstGeom>
          <a:solidFill>
            <a:srgbClr val="2E7D57"/>
          </a:solidFill>
          <a:ln/>
        </p:spPr>
      </p:sp>
      <p:sp>
        <p:nvSpPr>
          <p:cNvPr id="9" name="Text 6"/>
          <p:cNvSpPr txBox="1"/>
          <p:nvPr/>
        </p:nvSpPr>
        <p:spPr>
          <a:xfrm>
            <a:off x="1097280" y="2423160"/>
            <a:ext cx="10241280" cy="548640"/>
          </a:xfrm>
          <a:prstGeom prst="rect">
            <a:avLst/>
          </a:prstGeom>
          <a:noFill/>
          <a:ln/>
        </p:spPr>
        <p:txBody>
          <a:bodyPr wrap="square" lIns="0" tIns="0" rIns="0" bIns="0" rtlCol="0" anchor="ctr"/>
          <a:lstStyle/>
          <a:p>
            <a:pPr indent="0" marL="0">
              <a:lnSpc>
                <a:spcPts val="1550"/>
              </a:lnSpc>
              <a:buNone/>
            </a:pPr>
            <a:r>
              <a:rPr lang="en-US" sz="1130" dirty="0">
                <a:solidFill>
                  <a:srgbClr val="6B7280"/>
                </a:solidFill>
                <a:latin typeface="Outfit Medium" pitchFamily="34" charset="0"/>
                <a:ea typeface="Outfit Medium" pitchFamily="34" charset="-122"/>
                <a:cs typeface="Outfit Medium" pitchFamily="34" charset="-120"/>
              </a:rPr>
              <a:t>Bernal, C. A. (2016). Metodología de la investigación: administración, economía, humanidades y ciencias sociales (4.ª ed.). Pearson Educación.</a:t>
            </a:r>
            <a:endParaRPr lang="en-US" sz="1130" dirty="0"/>
          </a:p>
        </p:txBody>
      </p:sp>
      <p:sp>
        <p:nvSpPr>
          <p:cNvPr id="10" name="Shape 7"/>
          <p:cNvSpPr/>
          <p:nvPr/>
        </p:nvSpPr>
        <p:spPr>
          <a:xfrm>
            <a:off x="868680" y="3118104"/>
            <a:ext cx="64008" cy="64008"/>
          </a:xfrm>
          <a:prstGeom prst="ellipse">
            <a:avLst/>
          </a:prstGeom>
          <a:solidFill>
            <a:srgbClr val="2E7D57"/>
          </a:solidFill>
          <a:ln/>
        </p:spPr>
      </p:sp>
      <p:sp>
        <p:nvSpPr>
          <p:cNvPr id="11" name="Text 8"/>
          <p:cNvSpPr txBox="1"/>
          <p:nvPr/>
        </p:nvSpPr>
        <p:spPr>
          <a:xfrm>
            <a:off x="1097280" y="3044952"/>
            <a:ext cx="10241280" cy="548640"/>
          </a:xfrm>
          <a:prstGeom prst="rect">
            <a:avLst/>
          </a:prstGeom>
          <a:noFill/>
          <a:ln/>
        </p:spPr>
        <p:txBody>
          <a:bodyPr wrap="square" lIns="0" tIns="0" rIns="0" bIns="0" rtlCol="0" anchor="ctr"/>
          <a:lstStyle/>
          <a:p>
            <a:pPr indent="0" marL="0">
              <a:lnSpc>
                <a:spcPts val="1550"/>
              </a:lnSpc>
              <a:buNone/>
            </a:pPr>
            <a:r>
              <a:rPr lang="en-US" sz="1130" dirty="0">
                <a:solidFill>
                  <a:srgbClr val="6B7280"/>
                </a:solidFill>
                <a:latin typeface="Outfit Medium" pitchFamily="34" charset="0"/>
                <a:ea typeface="Outfit Medium" pitchFamily="34" charset="-122"/>
                <a:cs typeface="Outfit Medium" pitchFamily="34" charset="-120"/>
              </a:rPr>
              <a:t>Córdoba Padilla, M. (2011). Formulación y evaluación de proyectos (1.ª ed.). Ecoe Ediciones.</a:t>
            </a:r>
            <a:endParaRPr lang="en-US" sz="1130" dirty="0"/>
          </a:p>
        </p:txBody>
      </p:sp>
      <p:sp>
        <p:nvSpPr>
          <p:cNvPr id="12" name="Shape 9"/>
          <p:cNvSpPr/>
          <p:nvPr/>
        </p:nvSpPr>
        <p:spPr>
          <a:xfrm>
            <a:off x="868680" y="3739896"/>
            <a:ext cx="64008" cy="64008"/>
          </a:xfrm>
          <a:prstGeom prst="ellipse">
            <a:avLst/>
          </a:prstGeom>
          <a:solidFill>
            <a:srgbClr val="2E7D57"/>
          </a:solidFill>
          <a:ln/>
        </p:spPr>
      </p:sp>
      <p:sp>
        <p:nvSpPr>
          <p:cNvPr id="13" name="Text 10"/>
          <p:cNvSpPr txBox="1"/>
          <p:nvPr/>
        </p:nvSpPr>
        <p:spPr>
          <a:xfrm>
            <a:off x="1097280" y="3666744"/>
            <a:ext cx="10241280" cy="548640"/>
          </a:xfrm>
          <a:prstGeom prst="rect">
            <a:avLst/>
          </a:prstGeom>
          <a:noFill/>
          <a:ln/>
        </p:spPr>
        <p:txBody>
          <a:bodyPr wrap="square" lIns="0" tIns="0" rIns="0" bIns="0" rtlCol="0" anchor="ctr"/>
          <a:lstStyle/>
          <a:p>
            <a:pPr indent="0" marL="0">
              <a:lnSpc>
                <a:spcPts val="1550"/>
              </a:lnSpc>
              <a:buNone/>
            </a:pPr>
            <a:r>
              <a:rPr lang="en-US" sz="1130" dirty="0">
                <a:solidFill>
                  <a:srgbClr val="6B7280"/>
                </a:solidFill>
                <a:latin typeface="Outfit Medium" pitchFamily="34" charset="0"/>
                <a:ea typeface="Outfit Medium" pitchFamily="34" charset="-122"/>
                <a:cs typeface="Outfit Medium" pitchFamily="34" charset="-120"/>
              </a:rPr>
              <a:t>Hernández-Sampieri, R., &amp; Mendoza Torres, C. P. (2018). Metodología de la investigación: las rutas cuantitativa, cualitativa y mixta. McGraw-Hill Education.</a:t>
            </a:r>
            <a:endParaRPr lang="en-US" sz="1130" dirty="0"/>
          </a:p>
        </p:txBody>
      </p:sp>
      <p:sp>
        <p:nvSpPr>
          <p:cNvPr id="14" name="Shape 11"/>
          <p:cNvSpPr/>
          <p:nvPr/>
        </p:nvSpPr>
        <p:spPr>
          <a:xfrm>
            <a:off x="868680" y="4361688"/>
            <a:ext cx="64008" cy="64008"/>
          </a:xfrm>
          <a:prstGeom prst="ellipse">
            <a:avLst/>
          </a:prstGeom>
          <a:solidFill>
            <a:srgbClr val="2E7D57"/>
          </a:solidFill>
          <a:ln/>
        </p:spPr>
      </p:sp>
      <p:sp>
        <p:nvSpPr>
          <p:cNvPr id="15" name="Text 12"/>
          <p:cNvSpPr txBox="1"/>
          <p:nvPr/>
        </p:nvSpPr>
        <p:spPr>
          <a:xfrm>
            <a:off x="1097280" y="4288536"/>
            <a:ext cx="10241280" cy="548640"/>
          </a:xfrm>
          <a:prstGeom prst="rect">
            <a:avLst/>
          </a:prstGeom>
          <a:noFill/>
          <a:ln/>
        </p:spPr>
        <p:txBody>
          <a:bodyPr wrap="square" lIns="0" tIns="0" rIns="0" bIns="0" rtlCol="0" anchor="ctr"/>
          <a:lstStyle/>
          <a:p>
            <a:pPr indent="0" marL="0">
              <a:lnSpc>
                <a:spcPts val="1550"/>
              </a:lnSpc>
              <a:buNone/>
            </a:pPr>
            <a:r>
              <a:rPr lang="en-US" sz="1130" dirty="0">
                <a:solidFill>
                  <a:srgbClr val="6B7280"/>
                </a:solidFill>
                <a:latin typeface="Outfit Medium" pitchFamily="34" charset="0"/>
                <a:ea typeface="Outfit Medium" pitchFamily="34" charset="-122"/>
                <a:cs typeface="Outfit Medium" pitchFamily="34" charset="-120"/>
              </a:rPr>
              <a:t>Miranda Miranda, J. J. (2012). Gestión de proyectos: identificación, formulación, evaluación financiera, económica, social, ambiental (7.ª ed.). MM Editores.</a:t>
            </a:r>
            <a:endParaRPr lang="en-US" sz="1130" dirty="0"/>
          </a:p>
        </p:txBody>
      </p:sp>
      <p:sp>
        <p:nvSpPr>
          <p:cNvPr id="16" name="Shape 13"/>
          <p:cNvSpPr/>
          <p:nvPr/>
        </p:nvSpPr>
        <p:spPr>
          <a:xfrm>
            <a:off x="868680" y="4983480"/>
            <a:ext cx="64008" cy="64008"/>
          </a:xfrm>
          <a:prstGeom prst="ellipse">
            <a:avLst/>
          </a:prstGeom>
          <a:solidFill>
            <a:srgbClr val="2E7D57"/>
          </a:solidFill>
          <a:ln/>
        </p:spPr>
      </p:sp>
      <p:sp>
        <p:nvSpPr>
          <p:cNvPr id="17" name="Text 14"/>
          <p:cNvSpPr txBox="1"/>
          <p:nvPr/>
        </p:nvSpPr>
        <p:spPr>
          <a:xfrm>
            <a:off x="1097280" y="4910328"/>
            <a:ext cx="10241280" cy="548640"/>
          </a:xfrm>
          <a:prstGeom prst="rect">
            <a:avLst/>
          </a:prstGeom>
          <a:noFill/>
          <a:ln/>
        </p:spPr>
        <p:txBody>
          <a:bodyPr wrap="square" lIns="0" tIns="0" rIns="0" bIns="0" rtlCol="0" anchor="ctr"/>
          <a:lstStyle/>
          <a:p>
            <a:pPr indent="0" marL="0">
              <a:lnSpc>
                <a:spcPts val="1550"/>
              </a:lnSpc>
              <a:buNone/>
            </a:pPr>
            <a:r>
              <a:rPr lang="en-US" sz="1130" dirty="0">
                <a:solidFill>
                  <a:srgbClr val="6B7280"/>
                </a:solidFill>
                <a:latin typeface="Outfit Medium" pitchFamily="34" charset="0"/>
                <a:ea typeface="Outfit Medium" pitchFamily="34" charset="-122"/>
                <a:cs typeface="Outfit Medium" pitchFamily="34" charset="-120"/>
              </a:rPr>
              <a:t>Sapag Chain, N., Sapag Chain, R., &amp; Sapag Puelma, J. M. (2014). Preparación y evaluación de proyectos (6.ª ed.). McGraw-Hill Interamericana.</a:t>
            </a:r>
            <a:endParaRPr lang="en-US" sz="1130" dirty="0"/>
          </a:p>
        </p:txBody>
      </p:sp>
      <p:pic>
        <p:nvPicPr>
          <p:cNvPr id="18" name="Image 1" descr="/home/claude/eq4/brand/sigre-logo.png">    </p:cNvPr>
          <p:cNvPicPr>
            <a:picLocks noChangeAspect="1"/>
          </p:cNvPicPr>
          <p:nvPr/>
        </p:nvPicPr>
        <p:blipFill>
          <a:blip r:embed="rId2"/>
          <a:stretch>
            <a:fillRect/>
          </a:stretch>
        </p:blipFill>
        <p:spPr>
          <a:xfrm>
            <a:off x="548640" y="6510528"/>
            <a:ext cx="566928" cy="182880"/>
          </a:xfrm>
          <a:prstGeom prst="rect">
            <a:avLst/>
          </a:prstGeom>
        </p:spPr>
      </p:pic>
      <p:sp>
        <p:nvSpPr>
          <p:cNvPr id="19" name="Text 15"/>
          <p:cNvSpPr txBox="1"/>
          <p:nvPr/>
        </p:nvSpPr>
        <p:spPr>
          <a:xfrm>
            <a:off x="1234440" y="6492240"/>
            <a:ext cx="5486400" cy="256032"/>
          </a:xfrm>
          <a:prstGeom prst="rect">
            <a:avLst/>
          </a:prstGeom>
          <a:noFill/>
          <a:ln/>
        </p:spPr>
        <p:txBody>
          <a:bodyPr wrap="square" lIns="0" tIns="0" rIns="0" bIns="0" rtlCol="0" anchor="ctr"/>
          <a:lstStyle/>
          <a:p>
            <a:pPr indent="0" marL="0">
              <a:buNone/>
            </a:pPr>
            <a:r>
              <a:rPr lang="en-US" sz="850" dirty="0">
                <a:solidFill>
                  <a:srgbClr val="6B7280"/>
                </a:solidFill>
                <a:latin typeface="Outfit Medium" pitchFamily="34" charset="0"/>
                <a:ea typeface="Outfit Medium" pitchFamily="34" charset="-122"/>
                <a:cs typeface="Outfit Medium" pitchFamily="34" charset="-120"/>
              </a:rPr>
              <a:t>Equipo 4  ·  Formulación y Evaluación de Proyectos</a:t>
            </a:r>
            <a:endParaRPr lang="en-US" sz="850" dirty="0"/>
          </a:p>
        </p:txBody>
      </p:sp>
      <p:sp>
        <p:nvSpPr>
          <p:cNvPr id="20" name="Text 16"/>
          <p:cNvSpPr txBox="1"/>
          <p:nvPr/>
        </p:nvSpPr>
        <p:spPr>
          <a:xfrm>
            <a:off x="11183112" y="6492240"/>
            <a:ext cx="548640" cy="256032"/>
          </a:xfrm>
          <a:prstGeom prst="rect">
            <a:avLst/>
          </a:prstGeom>
          <a:noFill/>
          <a:ln/>
        </p:spPr>
        <p:txBody>
          <a:bodyPr wrap="square" lIns="0" tIns="0" rIns="0" bIns="0" rtlCol="0" anchor="ctr"/>
          <a:lstStyle/>
          <a:p>
            <a:pPr algn="r" indent="0" marL="0">
              <a:buNone/>
            </a:pPr>
            <a:r>
              <a:rPr lang="en-US" sz="850" dirty="0">
                <a:solidFill>
                  <a:srgbClr val="6B7280"/>
                </a:solidFill>
                <a:latin typeface="Outfit Medium" pitchFamily="34" charset="0"/>
                <a:ea typeface="Outfit Medium" pitchFamily="34" charset="-122"/>
                <a:cs typeface="Outfit Medium" pitchFamily="34" charset="-120"/>
              </a:rPr>
              <a:t>8</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2026-09-12T20:16:34Z</dcterms:created>
  <dcterms:modified xsi:type="dcterms:W3CDTF">2026-09-12T20:16:34Z</dcterms:modified>
</cp:coreProperties>
</file>